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handoutMasterIdLst>
    <p:handoutMasterId r:id="rId17"/>
  </p:handoutMasterIdLst>
  <p:sldIdLst>
    <p:sldId id="256" r:id="rId2"/>
    <p:sldId id="282" r:id="rId3"/>
    <p:sldId id="283" r:id="rId4"/>
    <p:sldId id="257" r:id="rId5"/>
    <p:sldId id="275" r:id="rId6"/>
    <p:sldId id="276" r:id="rId7"/>
    <p:sldId id="277" r:id="rId8"/>
    <p:sldId id="278" r:id="rId9"/>
    <p:sldId id="279" r:id="rId10"/>
    <p:sldId id="280" r:id="rId11"/>
    <p:sldId id="274" r:id="rId12"/>
    <p:sldId id="267" r:id="rId13"/>
    <p:sldId id="269" r:id="rId14"/>
    <p:sldId id="271" r:id="rId1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7469" userDrawn="1">
          <p15:clr>
            <a:srgbClr val="A4A3A4"/>
          </p15:clr>
        </p15:guide>
        <p15:guide id="4" pos="21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0C0"/>
    <a:srgbClr val="D1D1D1"/>
    <a:srgbClr val="FFFFFF"/>
    <a:srgbClr val="C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A6B2DBC-9AD9-40B6-955D-C7A2CE96A36A}" v="2" dt="2026-05-08T05:32:39.48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85" autoAdjust="0"/>
    <p:restoredTop sz="74605" autoAdjust="0"/>
  </p:normalViewPr>
  <p:slideViewPr>
    <p:cSldViewPr snapToGrid="0">
      <p:cViewPr varScale="1">
        <p:scale>
          <a:sx n="63" d="100"/>
          <a:sy n="63" d="100"/>
        </p:scale>
        <p:origin x="-1330" y="-72"/>
      </p:cViewPr>
      <p:guideLst>
        <p:guide orient="horz" pos="2160"/>
        <p:guide pos="3840"/>
        <p:guide pos="7469"/>
        <p:guide pos="211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5" d="100"/>
          <a:sy n="85" d="100"/>
        </p:scale>
        <p:origin x="388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김 민성" userId="ab850405-6643-41af-9b64-6ad501c3c4ca" providerId="ADAL" clId="{0B557B05-2D30-4C76-9172-6768DD96015A}"/>
    <pc:docChg chg="custSel modSld">
      <pc:chgData name="김 민성" userId="ab850405-6643-41af-9b64-6ad501c3c4ca" providerId="ADAL" clId="{0B557B05-2D30-4C76-9172-6768DD96015A}" dt="2026-05-08T05:33:54.184" v="62" actId="1076"/>
      <pc:docMkLst>
        <pc:docMk/>
      </pc:docMkLst>
      <pc:sldChg chg="modSp mod">
        <pc:chgData name="김 민성" userId="ab850405-6643-41af-9b64-6ad501c3c4ca" providerId="ADAL" clId="{0B557B05-2D30-4C76-9172-6768DD96015A}" dt="2026-05-08T05:33:54.184" v="62" actId="1076"/>
        <pc:sldMkLst>
          <pc:docMk/>
          <pc:sldMk cId="3583543795" sldId="256"/>
        </pc:sldMkLst>
        <pc:spChg chg="mod">
          <ac:chgData name="김 민성" userId="ab850405-6643-41af-9b64-6ad501c3c4ca" providerId="ADAL" clId="{0B557B05-2D30-4C76-9172-6768DD96015A}" dt="2026-05-08T05:33:51.722" v="61" actId="1076"/>
          <ac:spMkLst>
            <pc:docMk/>
            <pc:sldMk cId="3583543795" sldId="256"/>
            <ac:spMk id="2" creationId="{F4756DE7-A321-E4D4-EAFA-8ECB1E9C8141}"/>
          </ac:spMkLst>
        </pc:spChg>
        <pc:spChg chg="mod">
          <ac:chgData name="김 민성" userId="ab850405-6643-41af-9b64-6ad501c3c4ca" providerId="ADAL" clId="{0B557B05-2D30-4C76-9172-6768DD96015A}" dt="2026-05-08T05:32:39.483" v="10" actId="14100"/>
          <ac:spMkLst>
            <pc:docMk/>
            <pc:sldMk cId="3583543795" sldId="256"/>
            <ac:spMk id="5" creationId="{2155F35F-DEB2-15B5-1A61-D951F9DB00B2}"/>
          </ac:spMkLst>
        </pc:spChg>
        <pc:spChg chg="mod">
          <ac:chgData name="김 민성" userId="ab850405-6643-41af-9b64-6ad501c3c4ca" providerId="ADAL" clId="{0B557B05-2D30-4C76-9172-6768DD96015A}" dt="2026-05-08T05:33:54.184" v="62" actId="1076"/>
          <ac:spMkLst>
            <pc:docMk/>
            <pc:sldMk cId="3583543795" sldId="256"/>
            <ac:spMk id="8" creationId="{3CF590E9-2FD6-35FA-69E1-7DB71086E25D}"/>
          </ac:spMkLst>
        </pc:spChg>
      </pc:sldChg>
      <pc:sldChg chg="modSp mod">
        <pc:chgData name="김 민성" userId="ab850405-6643-41af-9b64-6ad501c3c4ca" providerId="ADAL" clId="{0B557B05-2D30-4C76-9172-6768DD96015A}" dt="2026-05-08T05:33:03.167" v="15" actId="313"/>
        <pc:sldMkLst>
          <pc:docMk/>
          <pc:sldMk cId="975559484" sldId="258"/>
        </pc:sldMkLst>
        <pc:spChg chg="mod">
          <ac:chgData name="김 민성" userId="ab850405-6643-41af-9b64-6ad501c3c4ca" providerId="ADAL" clId="{0B557B05-2D30-4C76-9172-6768DD96015A}" dt="2026-05-08T05:32:51.603" v="12" actId="20577"/>
          <ac:spMkLst>
            <pc:docMk/>
            <pc:sldMk cId="975559484" sldId="258"/>
            <ac:spMk id="19" creationId="{08D8EABA-86C3-2CCB-CD58-AB8F074F40EC}"/>
          </ac:spMkLst>
        </pc:spChg>
        <pc:spChg chg="mod">
          <ac:chgData name="김 민성" userId="ab850405-6643-41af-9b64-6ad501c3c4ca" providerId="ADAL" clId="{0B557B05-2D30-4C76-9172-6768DD96015A}" dt="2026-05-08T05:33:02.236" v="13" actId="313"/>
          <ac:spMkLst>
            <pc:docMk/>
            <pc:sldMk cId="975559484" sldId="258"/>
            <ac:spMk id="23" creationId="{3F845A01-5EE8-76B2-2A7F-13CC86685D1C}"/>
          </ac:spMkLst>
        </pc:spChg>
        <pc:spChg chg="mod">
          <ac:chgData name="김 민성" userId="ab850405-6643-41af-9b64-6ad501c3c4ca" providerId="ADAL" clId="{0B557B05-2D30-4C76-9172-6768DD96015A}" dt="2026-05-08T05:33:02.726" v="14" actId="313"/>
          <ac:spMkLst>
            <pc:docMk/>
            <pc:sldMk cId="975559484" sldId="258"/>
            <ac:spMk id="24" creationId="{BFE43FD5-9EE0-63AC-531F-86F23F6DE7F0}"/>
          </ac:spMkLst>
        </pc:spChg>
        <pc:spChg chg="mod">
          <ac:chgData name="김 민성" userId="ab850405-6643-41af-9b64-6ad501c3c4ca" providerId="ADAL" clId="{0B557B05-2D30-4C76-9172-6768DD96015A}" dt="2026-05-08T05:33:03.167" v="15" actId="313"/>
          <ac:spMkLst>
            <pc:docMk/>
            <pc:sldMk cId="975559484" sldId="258"/>
            <ac:spMk id="25" creationId="{E031232C-C8AE-703C-EF3C-57C986FAE152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xmlns="" id="{F24BEB0E-952D-EEB9-638A-3A054B0BAF9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xmlns="" id="{DA38BE5F-92BC-A436-43F8-EE5642A275F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D80B2C-874D-4602-AC9D-78CFC83E7DC5}" type="datetimeFigureOut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2026-07-07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xmlns="" id="{72037DA0-51D5-12D2-CE1C-C2ED6EC065B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xmlns="" id="{23A6F39D-B53C-9CCF-5F8F-D28CADCDCA4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8050B8-BE8F-4365-B031-A22EA7F8924F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‹#›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9107428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fld id="{AE5246B1-B015-4C77-9E5D-87DF5E7753A5}" type="datetimeFigureOut">
              <a:rPr lang="ko-KR" altLang="en-US" smtClean="0"/>
              <a:pPr/>
              <a:t>2026-07-07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fld id="{E3A65738-811D-4EF7-84D6-3D2F3B9F4AB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722448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나눔고딕" panose="020D0604000000000000" pitchFamily="50" charset="-127"/>
        <a:ea typeface="나눔고딕" panose="020D0604000000000000" pitchFamily="50" charset="-127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나눔고딕" panose="020D0604000000000000" pitchFamily="50" charset="-127"/>
        <a:ea typeface="나눔고딕" panose="020D0604000000000000" pitchFamily="50" charset="-127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나눔고딕" panose="020D0604000000000000" pitchFamily="50" charset="-127"/>
        <a:ea typeface="나눔고딕" panose="020D0604000000000000" pitchFamily="50" charset="-127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나눔고딕" panose="020D0604000000000000" pitchFamily="50" charset="-127"/>
        <a:ea typeface="나눔고딕" panose="020D0604000000000000" pitchFamily="50" charset="-127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나눔고딕" panose="020D0604000000000000" pitchFamily="50" charset="-127"/>
        <a:ea typeface="나눔고딕" panose="020D0604000000000000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b="1" dirty="0" smtClean="0"/>
              <a:t>##</a:t>
            </a:r>
            <a:r>
              <a:rPr lang="ko-KR" altLang="en-US" b="1" dirty="0" err="1" smtClean="0"/>
              <a:t>장표</a:t>
            </a:r>
            <a:r>
              <a:rPr lang="ko-KR" altLang="en-US" b="1" dirty="0" smtClean="0"/>
              <a:t> 목표</a:t>
            </a:r>
            <a:r>
              <a:rPr lang="en-US" altLang="ko-KR" b="1" dirty="0" smtClean="0"/>
              <a:t>##</a:t>
            </a:r>
          </a:p>
          <a:p>
            <a:r>
              <a:rPr lang="ko-KR" altLang="en-US" dirty="0" smtClean="0"/>
              <a:t>오늘 교육의 전체 흐름을 소개</a:t>
            </a:r>
            <a:endParaRPr lang="en-US" altLang="ko-KR" dirty="0" smtClean="0"/>
          </a:p>
          <a:p>
            <a:endParaRPr lang="en-US" altLang="ko-KR" dirty="0" smtClean="0"/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b="1" dirty="0" smtClean="0"/>
              <a:t>##</a:t>
            </a:r>
            <a:r>
              <a:rPr lang="ko-KR" altLang="en-US" b="1" dirty="0" smtClean="0"/>
              <a:t>내용</a:t>
            </a:r>
            <a:r>
              <a:rPr lang="en-US" altLang="ko-KR" b="1" dirty="0" smtClean="0"/>
              <a:t>##</a:t>
            </a:r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b="0" dirty="0" smtClean="0"/>
              <a:t>안녕하세요</a:t>
            </a:r>
            <a:r>
              <a:rPr lang="en-US" altLang="ko-KR" b="0" dirty="0" smtClean="0"/>
              <a:t>.</a:t>
            </a:r>
            <a:r>
              <a:rPr lang="ko-KR" altLang="en-US" b="0" dirty="0" smtClean="0"/>
              <a:t> 오늘 </a:t>
            </a:r>
            <a:r>
              <a:rPr lang="en-US" altLang="ko-KR" b="0" dirty="0" smtClean="0"/>
              <a:t>Agent Orchestration </a:t>
            </a:r>
            <a:r>
              <a:rPr lang="ko-KR" altLang="en-US" b="0" dirty="0" smtClean="0"/>
              <a:t>관련된 주제를 가지고 강의를 진행하게 된 정준호 라고 합니다</a:t>
            </a:r>
            <a:r>
              <a:rPr lang="en-US" altLang="ko-KR" b="0" dirty="0" smtClean="0"/>
              <a:t>.</a:t>
            </a:r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b="0" dirty="0" smtClean="0"/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b="0" dirty="0" smtClean="0"/>
              <a:t>오늘부터 </a:t>
            </a:r>
            <a:r>
              <a:rPr lang="en-US" altLang="ko-KR" b="0" dirty="0" smtClean="0"/>
              <a:t>Agentic AI Workflow Automation</a:t>
            </a:r>
            <a:r>
              <a:rPr lang="ko-KR" altLang="en-US" b="0" dirty="0" smtClean="0"/>
              <a:t>이라는 주제로 총 </a:t>
            </a:r>
            <a:r>
              <a:rPr lang="en-US" altLang="ko-KR" b="0" dirty="0" smtClean="0"/>
              <a:t>3</a:t>
            </a:r>
            <a:r>
              <a:rPr lang="ko-KR" altLang="en-US" b="0" dirty="0" smtClean="0"/>
              <a:t>일간 강의가 진행 될 예정이고</a:t>
            </a:r>
            <a:r>
              <a:rPr lang="en-US" altLang="ko-KR" b="0" dirty="0" smtClean="0"/>
              <a:t>, </a:t>
            </a:r>
            <a:r>
              <a:rPr lang="ko-KR" altLang="en-US" b="0" dirty="0" smtClean="0"/>
              <a:t>총 </a:t>
            </a:r>
            <a:r>
              <a:rPr lang="en-US" altLang="ko-KR" b="0" dirty="0" smtClean="0"/>
              <a:t>3</a:t>
            </a:r>
            <a:r>
              <a:rPr lang="ko-KR" altLang="en-US" b="0" dirty="0" smtClean="0"/>
              <a:t>명의 강사가 </a:t>
            </a:r>
            <a:r>
              <a:rPr lang="ko-KR" altLang="en-US" b="0" dirty="0" err="1" smtClean="0"/>
              <a:t>파트별로</a:t>
            </a:r>
            <a:r>
              <a:rPr lang="ko-KR" altLang="en-US" b="0" dirty="0" smtClean="0"/>
              <a:t> 진행하게</a:t>
            </a:r>
            <a:r>
              <a:rPr lang="ko-KR" altLang="en-US" b="0" baseline="0" dirty="0" smtClean="0"/>
              <a:t> 됩니다</a:t>
            </a:r>
            <a:r>
              <a:rPr lang="en-US" altLang="ko-KR" b="0" baseline="0" dirty="0" smtClean="0"/>
              <a:t>.</a:t>
            </a:r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b="0" baseline="0" dirty="0" smtClean="0"/>
              <a:t>저는 오늘 오전과 마지막 </a:t>
            </a:r>
            <a:r>
              <a:rPr lang="en-US" altLang="ko-KR" b="0" baseline="0" dirty="0" smtClean="0"/>
              <a:t>3</a:t>
            </a:r>
            <a:r>
              <a:rPr lang="ko-KR" altLang="en-US" b="0" baseline="0" dirty="0" smtClean="0"/>
              <a:t>일차 </a:t>
            </a:r>
            <a:r>
              <a:rPr lang="ko-KR" altLang="en-US" b="0" baseline="0" dirty="0" err="1" smtClean="0"/>
              <a:t>하루동안</a:t>
            </a:r>
            <a:r>
              <a:rPr lang="ko-KR" altLang="en-US" b="0" baseline="0" dirty="0" smtClean="0"/>
              <a:t> 강의를 진행을 </a:t>
            </a:r>
            <a:r>
              <a:rPr lang="ko-KR" altLang="en-US" b="0" baseline="0" dirty="0" err="1" smtClean="0"/>
              <a:t>할거구요</a:t>
            </a:r>
            <a:r>
              <a:rPr lang="en-US" altLang="ko-KR" b="0" baseline="0" dirty="0" smtClean="0"/>
              <a:t>, </a:t>
            </a:r>
            <a:r>
              <a:rPr lang="ko-KR" altLang="en-US" b="0" baseline="0" dirty="0" smtClean="0"/>
              <a:t>에이전트 </a:t>
            </a:r>
            <a:r>
              <a:rPr lang="ko-KR" altLang="en-US" b="0" baseline="0" dirty="0" err="1" smtClean="0"/>
              <a:t>오케스트레이션이라는</a:t>
            </a:r>
            <a:r>
              <a:rPr lang="ko-KR" altLang="en-US" b="0" baseline="0" dirty="0" smtClean="0"/>
              <a:t> 주제를 </a:t>
            </a:r>
            <a:r>
              <a:rPr lang="ko-KR" altLang="en-US" b="0" baseline="0" dirty="0" err="1" smtClean="0"/>
              <a:t>메인으로</a:t>
            </a:r>
            <a:r>
              <a:rPr lang="ko-KR" altLang="en-US" b="0" baseline="0" dirty="0" smtClean="0"/>
              <a:t> 진행 하겠습니다</a:t>
            </a:r>
            <a:r>
              <a:rPr lang="en-US" altLang="ko-KR" b="0" baseline="0" dirty="0" smtClean="0"/>
              <a:t>.</a:t>
            </a:r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b="0" baseline="0" dirty="0" smtClean="0"/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b="0" baseline="0" dirty="0" err="1" smtClean="0"/>
              <a:t>오케스트레이션의</a:t>
            </a:r>
            <a:r>
              <a:rPr lang="ko-KR" altLang="en-US" b="0" baseline="0" dirty="0" smtClean="0"/>
              <a:t> 개념은 모듈</a:t>
            </a:r>
            <a:r>
              <a:rPr lang="en-US" altLang="ko-KR" b="0" baseline="0" dirty="0" smtClean="0"/>
              <a:t>7</a:t>
            </a:r>
            <a:r>
              <a:rPr lang="ko-KR" altLang="en-US" b="0" baseline="0" dirty="0" smtClean="0"/>
              <a:t>에서 아마 설명 </a:t>
            </a:r>
            <a:r>
              <a:rPr lang="ko-KR" altLang="en-US" b="0" baseline="0" dirty="0" err="1" smtClean="0"/>
              <a:t>들으셨을거고</a:t>
            </a:r>
            <a:r>
              <a:rPr lang="en-US" altLang="ko-KR" b="0" baseline="0" dirty="0" smtClean="0"/>
              <a:t>, </a:t>
            </a:r>
            <a:r>
              <a:rPr lang="ko-KR" altLang="en-US" b="0" baseline="0" dirty="0" smtClean="0"/>
              <a:t>이번 강의에서는 필요하게 된 배경에 대해서 이해해보는 시간을 가져보도록 하겠습니다</a:t>
            </a:r>
            <a:r>
              <a:rPr lang="en-US" altLang="ko-KR" b="0" baseline="0" dirty="0" smtClean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A65738-811D-4EF7-84D6-3D2F3B9F4AB8}" type="slidenum">
              <a:rPr lang="ko-KR" altLang="en-US" smtClean="0"/>
              <a:pPr/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644048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b="1" dirty="0" smtClean="0"/>
              <a:t>##</a:t>
            </a:r>
            <a:r>
              <a:rPr lang="ko-KR" altLang="en-US" b="1" dirty="0" err="1" smtClean="0"/>
              <a:t>장표</a:t>
            </a:r>
            <a:r>
              <a:rPr lang="ko-KR" altLang="en-US" b="1" dirty="0" smtClean="0"/>
              <a:t> 목표</a:t>
            </a:r>
            <a:r>
              <a:rPr lang="en-US" altLang="ko-KR" b="1" dirty="0" smtClean="0"/>
              <a:t>##</a:t>
            </a:r>
          </a:p>
          <a:p>
            <a:r>
              <a:rPr lang="ko-KR" altLang="en-US" dirty="0" smtClean="0"/>
              <a:t>교육의 전반적인 목표와 기대효과를 이해한다</a:t>
            </a:r>
            <a:r>
              <a:rPr lang="en-US" altLang="ko-KR" dirty="0" smtClean="0"/>
              <a:t>.</a:t>
            </a:r>
          </a:p>
          <a:p>
            <a:endParaRPr lang="en-US" altLang="ko-KR" b="1" dirty="0" smtClean="0"/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b="1" dirty="0" smtClean="0"/>
              <a:t>##</a:t>
            </a:r>
            <a:r>
              <a:rPr lang="ko-KR" altLang="en-US" b="1" dirty="0" smtClean="0"/>
              <a:t>내용</a:t>
            </a:r>
            <a:r>
              <a:rPr lang="en-US" altLang="ko-KR" b="1" dirty="0" smtClean="0"/>
              <a:t>##</a:t>
            </a:r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b="0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A65738-811D-4EF7-84D6-3D2F3B9F4AB8}" type="slidenum">
              <a:rPr lang="ko-KR" altLang="en-US" smtClean="0"/>
              <a:pPr/>
              <a:t>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369052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b="1" dirty="0" smtClean="0"/>
              <a:t>##</a:t>
            </a:r>
            <a:r>
              <a:rPr lang="ko-KR" altLang="en-US" b="1" dirty="0" err="1" smtClean="0"/>
              <a:t>장표</a:t>
            </a:r>
            <a:r>
              <a:rPr lang="ko-KR" altLang="en-US" b="1" dirty="0" smtClean="0"/>
              <a:t> 목표</a:t>
            </a:r>
            <a:r>
              <a:rPr lang="en-US" altLang="ko-KR" b="1" dirty="0" smtClean="0"/>
              <a:t>##</a:t>
            </a:r>
          </a:p>
          <a:p>
            <a:r>
              <a:rPr lang="ko-KR" altLang="en-US" dirty="0" smtClean="0"/>
              <a:t>교육의 전반적인 커리큘럼을 이해</a:t>
            </a:r>
            <a:endParaRPr lang="en-US" altLang="ko-KR" dirty="0" smtClean="0"/>
          </a:p>
          <a:p>
            <a:endParaRPr lang="en-US" altLang="ko-KR" dirty="0" smtClean="0"/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b="1" dirty="0" smtClean="0"/>
              <a:t>##</a:t>
            </a:r>
            <a:r>
              <a:rPr lang="ko-KR" altLang="en-US" b="1" dirty="0" smtClean="0"/>
              <a:t>내용</a:t>
            </a:r>
            <a:r>
              <a:rPr lang="en-US" altLang="ko-KR" b="1" dirty="0" smtClean="0"/>
              <a:t>##</a:t>
            </a:r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 smtClean="0"/>
              <a:t>소개</a:t>
            </a:r>
            <a:endParaRPr lang="en-US" altLang="ko-KR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A65738-811D-4EF7-84D6-3D2F3B9F4AB8}" type="slidenum">
              <a:rPr lang="ko-KR" altLang="en-US" smtClean="0"/>
              <a:pPr/>
              <a:t>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201948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b="1" dirty="0" smtClean="0"/>
              <a:t>##</a:t>
            </a:r>
            <a:r>
              <a:rPr lang="ko-KR" altLang="en-US" b="1" dirty="0" err="1" smtClean="0"/>
              <a:t>장표</a:t>
            </a:r>
            <a:r>
              <a:rPr lang="ko-KR" altLang="en-US" b="1" dirty="0" smtClean="0"/>
              <a:t> 목표</a:t>
            </a:r>
            <a:r>
              <a:rPr lang="en-US" altLang="ko-KR" b="1" dirty="0" smtClean="0"/>
              <a:t>##</a:t>
            </a:r>
          </a:p>
          <a:p>
            <a:r>
              <a:rPr lang="ko-KR" altLang="en-US" b="0" dirty="0" smtClean="0"/>
              <a:t>규칙 기반 → </a:t>
            </a:r>
            <a:r>
              <a:rPr lang="ko-KR" altLang="en-US" b="0" dirty="0" err="1" smtClean="0"/>
              <a:t>생성형</a:t>
            </a:r>
            <a:r>
              <a:rPr lang="ko-KR" altLang="en-US" b="0" dirty="0" smtClean="0"/>
              <a:t> </a:t>
            </a:r>
            <a:r>
              <a:rPr lang="en-US" altLang="ko-KR" b="0" dirty="0" smtClean="0"/>
              <a:t>AI → Agent → Agent Orchestration</a:t>
            </a:r>
            <a:endParaRPr lang="ko-KR" altLang="en-US" b="0" dirty="0" smtClean="0"/>
          </a:p>
          <a:p>
            <a:r>
              <a:rPr lang="ko-KR" altLang="en-US" dirty="0" err="1" smtClean="0"/>
              <a:t>으로</a:t>
            </a:r>
            <a:r>
              <a:rPr lang="ko-KR" altLang="en-US" dirty="0" smtClean="0"/>
              <a:t> 발전하게 된 이유를 이해한다</a:t>
            </a:r>
            <a:r>
              <a:rPr lang="en-US" altLang="ko-KR" dirty="0" smtClean="0"/>
              <a:t>.</a:t>
            </a:r>
          </a:p>
          <a:p>
            <a:endParaRPr lang="en-US" altLang="ko-KR" dirty="0" smtClean="0"/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b="1" dirty="0" smtClean="0"/>
              <a:t>##</a:t>
            </a:r>
            <a:r>
              <a:rPr lang="ko-KR" altLang="en-US" b="1" dirty="0" smtClean="0"/>
              <a:t>내용</a:t>
            </a:r>
            <a:r>
              <a:rPr lang="en-US" altLang="ko-KR" b="1" dirty="0" smtClean="0"/>
              <a:t>##</a:t>
            </a:r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b="0" dirty="0" smtClean="0"/>
              <a:t>먼저 </a:t>
            </a:r>
            <a:r>
              <a:rPr lang="ko-KR" altLang="en-US" b="0" dirty="0" err="1" smtClean="0"/>
              <a:t>오케스트레이션의</a:t>
            </a:r>
            <a:r>
              <a:rPr lang="ko-KR" altLang="en-US" b="0" dirty="0" smtClean="0"/>
              <a:t> 배경을 </a:t>
            </a:r>
            <a:r>
              <a:rPr lang="ko-KR" altLang="en-US" b="0" dirty="0" err="1" smtClean="0"/>
              <a:t>설명드리기에</a:t>
            </a:r>
            <a:r>
              <a:rPr lang="ko-KR" altLang="en-US" b="0" dirty="0" smtClean="0"/>
              <a:t> 앞서</a:t>
            </a:r>
            <a:r>
              <a:rPr lang="en-US" altLang="ko-KR" b="0" dirty="0" smtClean="0"/>
              <a:t>, AI </a:t>
            </a:r>
            <a:r>
              <a:rPr lang="ko-KR" altLang="en-US" b="0" dirty="0" smtClean="0"/>
              <a:t>서비스가 진화한 형태를 보도록 하겠습니다</a:t>
            </a:r>
            <a:r>
              <a:rPr lang="en-US" altLang="ko-KR" b="0" dirty="0" smtClean="0"/>
              <a:t>.</a:t>
            </a:r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b="0" dirty="0" smtClean="0"/>
              <a:t>기술적인 진화 보다는 서비스 측면에서의 진화라고 봐주시면 되겠습니다</a:t>
            </a:r>
            <a:r>
              <a:rPr lang="en-US" altLang="ko-KR" b="0" dirty="0" smtClean="0"/>
              <a:t>.</a:t>
            </a:r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b="0" dirty="0" smtClean="0"/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b="0" dirty="0" smtClean="0"/>
              <a:t>기존에 전통적인 시스템은 거의 대부분은 사용자가 시스템을 직접 이용하는 구조였습니다</a:t>
            </a:r>
            <a:r>
              <a:rPr lang="en-US" altLang="ko-KR" b="0" dirty="0" smtClean="0"/>
              <a:t>.</a:t>
            </a:r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b="0" dirty="0" smtClean="0"/>
              <a:t>여기서 사용자는 기업 혹은 기업의 고객이 </a:t>
            </a:r>
            <a:r>
              <a:rPr lang="ko-KR" altLang="en-US" b="0" dirty="0" err="1" smtClean="0"/>
              <a:t>될수도</a:t>
            </a:r>
            <a:r>
              <a:rPr lang="ko-KR" altLang="en-US" b="0" dirty="0" smtClean="0"/>
              <a:t> 있죠</a:t>
            </a:r>
            <a:r>
              <a:rPr lang="en-US" altLang="ko-KR" b="0" dirty="0" smtClean="0"/>
              <a:t>.</a:t>
            </a:r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b="0" dirty="0" smtClean="0"/>
              <a:t>나에게 필요한 정보를 찾기 위해서</a:t>
            </a:r>
            <a:r>
              <a:rPr lang="en-US" altLang="ko-KR" b="0" dirty="0" smtClean="0"/>
              <a:t>, </a:t>
            </a:r>
            <a:r>
              <a:rPr lang="ko-KR" altLang="en-US" b="0" dirty="0" smtClean="0"/>
              <a:t>직접 내가 시스템에 접근을 하고</a:t>
            </a:r>
            <a:r>
              <a:rPr lang="en-US" altLang="ko-KR" b="0" dirty="0" smtClean="0"/>
              <a:t>, </a:t>
            </a:r>
            <a:r>
              <a:rPr lang="ko-KR" altLang="en-US" b="0" dirty="0" smtClean="0"/>
              <a:t>검색을 하거나 클릭을 해서 정보를 찾아야 하는</a:t>
            </a:r>
            <a:r>
              <a:rPr lang="en-US" altLang="ko-KR" b="0" dirty="0" smtClean="0"/>
              <a:t>,</a:t>
            </a:r>
            <a:r>
              <a:rPr lang="en-US" altLang="ko-KR" b="0" baseline="0" dirty="0" smtClean="0"/>
              <a:t> </a:t>
            </a:r>
            <a:r>
              <a:rPr lang="ko-KR" altLang="en-US" b="0" baseline="0" dirty="0" smtClean="0"/>
              <a:t>정보 조회가 주 목적인 행위들을</a:t>
            </a:r>
            <a:endParaRPr lang="en-US" altLang="ko-KR" b="0" baseline="0" dirty="0" smtClean="0"/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b="0" baseline="0" dirty="0" smtClean="0"/>
              <a:t>시스템 안에서 직접 </a:t>
            </a:r>
            <a:r>
              <a:rPr lang="ko-KR" altLang="en-US" b="0" baseline="0" dirty="0" err="1" smtClean="0"/>
              <a:t>하는거죠</a:t>
            </a:r>
            <a:r>
              <a:rPr lang="en-US" altLang="ko-KR" b="0" baseline="0" dirty="0" smtClean="0"/>
              <a:t>.</a:t>
            </a:r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b="0" dirty="0" smtClean="0"/>
              <a:t>이 시스템 안에는 우리가 이전에 개발했던 </a:t>
            </a:r>
            <a:r>
              <a:rPr lang="ko-KR" altLang="en-US" b="0" dirty="0" err="1" smtClean="0"/>
              <a:t>머신러닝</a:t>
            </a:r>
            <a:r>
              <a:rPr lang="ko-KR" altLang="en-US" b="0" dirty="0" smtClean="0"/>
              <a:t> 혹은 </a:t>
            </a:r>
            <a:r>
              <a:rPr lang="ko-KR" altLang="en-US" b="0" dirty="0" err="1" smtClean="0"/>
              <a:t>딥러닝</a:t>
            </a:r>
            <a:r>
              <a:rPr lang="ko-KR" altLang="en-US" b="0" dirty="0" smtClean="0"/>
              <a:t> 기반의 모델들이 전부 포함된 개념이라고 보시면 됩니다</a:t>
            </a:r>
            <a:r>
              <a:rPr lang="en-US" altLang="ko-KR" b="0" dirty="0" smtClean="0"/>
              <a:t>.</a:t>
            </a:r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b="0" dirty="0" smtClean="0"/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b="0" dirty="0" smtClean="0"/>
              <a:t>예를 들어</a:t>
            </a:r>
            <a:r>
              <a:rPr lang="en-US" altLang="ko-KR" b="0" dirty="0" smtClean="0"/>
              <a:t>, </a:t>
            </a:r>
            <a:r>
              <a:rPr lang="ko-KR" altLang="en-US" b="0" dirty="0" smtClean="0"/>
              <a:t>내가 옷을 사기 위해서 온라인 쇼핑몰에 접속했다고 합니다</a:t>
            </a:r>
            <a:r>
              <a:rPr lang="en-US" altLang="ko-KR" b="0" dirty="0" smtClean="0"/>
              <a:t>.</a:t>
            </a:r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b="0" dirty="0" smtClean="0"/>
              <a:t>내가 로그인 하는 순간</a:t>
            </a:r>
            <a:r>
              <a:rPr lang="en-US" altLang="ko-KR" b="0" dirty="0" smtClean="0"/>
              <a:t>, </a:t>
            </a:r>
            <a:r>
              <a:rPr lang="ko-KR" altLang="en-US" b="0" dirty="0" smtClean="0"/>
              <a:t>내 과거 검색 기록과 구매 이력을 바탕으로 나라는 사람은 어떤 사람인지 바로 구분이 됩니다</a:t>
            </a:r>
            <a:r>
              <a:rPr lang="en-US" altLang="ko-KR" b="0" dirty="0" smtClean="0"/>
              <a:t>.</a:t>
            </a:r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b="0" dirty="0" smtClean="0"/>
              <a:t>고객 성향 분석</a:t>
            </a:r>
            <a:r>
              <a:rPr lang="en-US" altLang="ko-KR" b="0" dirty="0" smtClean="0"/>
              <a:t>, </a:t>
            </a:r>
            <a:r>
              <a:rPr lang="ko-KR" altLang="en-US" b="0" dirty="0" smtClean="0"/>
              <a:t>고객 </a:t>
            </a:r>
            <a:r>
              <a:rPr lang="ko-KR" altLang="en-US" b="0" dirty="0" err="1" smtClean="0"/>
              <a:t>세그멘테이션</a:t>
            </a:r>
            <a:r>
              <a:rPr lang="ko-KR" altLang="en-US" b="0" dirty="0" smtClean="0"/>
              <a:t> 분석 이라고도 하죠</a:t>
            </a:r>
            <a:r>
              <a:rPr lang="en-US" altLang="ko-KR" b="0" dirty="0" smtClean="0"/>
              <a:t>.</a:t>
            </a:r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b="0" dirty="0" smtClean="0"/>
              <a:t>그래서 그걸 바탕으로 나에게 적합한 상품을 추천해주게 됩니다</a:t>
            </a:r>
            <a:r>
              <a:rPr lang="en-US" altLang="ko-KR" b="0" dirty="0" smtClean="0"/>
              <a:t>.</a:t>
            </a:r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b="0" dirty="0" smtClean="0"/>
              <a:t>이런 일련의 과정들이 기존에</a:t>
            </a:r>
            <a:r>
              <a:rPr lang="ko-KR" altLang="en-US" b="0" baseline="0" dirty="0" smtClean="0"/>
              <a:t> 우리가 부르던 </a:t>
            </a:r>
            <a:r>
              <a:rPr lang="en-US" altLang="ko-KR" b="0" baseline="0" dirty="0" smtClean="0"/>
              <a:t>AI</a:t>
            </a:r>
            <a:r>
              <a:rPr lang="ko-KR" altLang="en-US" b="0" baseline="0" dirty="0" smtClean="0"/>
              <a:t>라고 하는</a:t>
            </a:r>
            <a:r>
              <a:rPr lang="en-US" altLang="ko-KR" b="0" baseline="0" dirty="0" smtClean="0"/>
              <a:t> </a:t>
            </a:r>
            <a:r>
              <a:rPr lang="ko-KR" altLang="en-US" b="0" baseline="0" dirty="0" smtClean="0"/>
              <a:t>서비스를 바탕으로 제공되는 것이죠</a:t>
            </a:r>
            <a:r>
              <a:rPr lang="en-US" altLang="ko-KR" b="0" baseline="0" dirty="0" smtClean="0"/>
              <a:t>.</a:t>
            </a:r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b="0" baseline="0" dirty="0" smtClean="0"/>
              <a:t>다만</a:t>
            </a:r>
            <a:r>
              <a:rPr lang="en-US" altLang="ko-KR" b="0" baseline="0" dirty="0" smtClean="0"/>
              <a:t>, </a:t>
            </a:r>
            <a:r>
              <a:rPr lang="ko-KR" altLang="en-US" b="0" baseline="0" dirty="0" smtClean="0"/>
              <a:t>이런 서비스 조차도 당연히 내가 직접 시스템에 접근해야지만 받을 수 있는 서비스였습니다</a:t>
            </a:r>
            <a:r>
              <a:rPr lang="en-US" altLang="ko-KR" b="0" baseline="0" dirty="0" smtClean="0"/>
              <a:t>.</a:t>
            </a:r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b="0" baseline="0" dirty="0" smtClean="0"/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b="0" baseline="0" dirty="0" smtClean="0"/>
              <a:t>그런데 이제는 </a:t>
            </a:r>
            <a:r>
              <a:rPr lang="ko-KR" altLang="en-US" b="0" baseline="0" dirty="0" err="1" smtClean="0"/>
              <a:t>생성형</a:t>
            </a:r>
            <a:r>
              <a:rPr lang="ko-KR" altLang="en-US" b="0" baseline="0" dirty="0" smtClean="0"/>
              <a:t> </a:t>
            </a:r>
            <a:r>
              <a:rPr lang="en-US" altLang="ko-KR" b="0" baseline="0" dirty="0" smtClean="0"/>
              <a:t>AI </a:t>
            </a:r>
            <a:r>
              <a:rPr lang="ko-KR" altLang="en-US" b="0" baseline="0" dirty="0" smtClean="0"/>
              <a:t>시대로 넘어왔죠</a:t>
            </a:r>
            <a:r>
              <a:rPr lang="en-US" altLang="ko-KR" b="0" baseline="0" dirty="0" smtClean="0"/>
              <a:t>.</a:t>
            </a:r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b="0" baseline="0" dirty="0" smtClean="0"/>
              <a:t>2017</a:t>
            </a:r>
            <a:r>
              <a:rPr lang="ko-KR" altLang="en-US" b="0" baseline="0" dirty="0" smtClean="0"/>
              <a:t>년도에 트랜스포머라고 하는 개념이 등장하면서 이후에 </a:t>
            </a:r>
            <a:r>
              <a:rPr lang="en-US" altLang="ko-KR" b="0" baseline="0" dirty="0" smtClean="0"/>
              <a:t>LLM</a:t>
            </a:r>
            <a:r>
              <a:rPr lang="ko-KR" altLang="en-US" b="0" baseline="0" dirty="0" smtClean="0"/>
              <a:t>이 등장하게 되고</a:t>
            </a:r>
            <a:r>
              <a:rPr lang="en-US" altLang="ko-KR" b="0" baseline="0" dirty="0" smtClean="0"/>
              <a:t>, 22</a:t>
            </a:r>
            <a:r>
              <a:rPr lang="ko-KR" altLang="en-US" b="0" baseline="0" dirty="0" smtClean="0"/>
              <a:t>년도부터 </a:t>
            </a:r>
            <a:r>
              <a:rPr lang="en-US" altLang="ko-KR" b="0" baseline="0" dirty="0" smtClean="0"/>
              <a:t>GPT </a:t>
            </a:r>
            <a:r>
              <a:rPr lang="ko-KR" altLang="en-US" b="0" baseline="0" dirty="0" smtClean="0"/>
              <a:t>모델이 본격적으로 상용화 되기 시작했습니다</a:t>
            </a:r>
            <a:r>
              <a:rPr lang="en-US" altLang="ko-KR" b="0" baseline="0" dirty="0" smtClean="0"/>
              <a:t>.</a:t>
            </a:r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b="0" baseline="0" dirty="0" smtClean="0"/>
              <a:t>기존에 룰 기반의 </a:t>
            </a:r>
            <a:r>
              <a:rPr lang="ko-KR" altLang="en-US" b="0" baseline="0" dirty="0" err="1" smtClean="0"/>
              <a:t>챗봇</a:t>
            </a:r>
            <a:r>
              <a:rPr lang="ko-KR" altLang="en-US" b="0" baseline="0" dirty="0" smtClean="0"/>
              <a:t> 형태와는 차원이 다른 성능을 보여주는 모델이 나오면서 굉장히 큰 화두가 됐었습니다</a:t>
            </a:r>
            <a:r>
              <a:rPr lang="en-US" altLang="ko-KR" b="0" baseline="0" dirty="0" smtClean="0"/>
              <a:t>.</a:t>
            </a:r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b="0" baseline="0" dirty="0" err="1" smtClean="0"/>
              <a:t>생성형</a:t>
            </a:r>
            <a:r>
              <a:rPr lang="ko-KR" altLang="en-US" b="0" baseline="0" dirty="0" smtClean="0"/>
              <a:t> </a:t>
            </a:r>
            <a:r>
              <a:rPr lang="en-US" altLang="ko-KR" b="0" baseline="0" dirty="0" smtClean="0"/>
              <a:t>AI </a:t>
            </a:r>
            <a:r>
              <a:rPr lang="ko-KR" altLang="en-US" b="0" baseline="0" dirty="0" smtClean="0"/>
              <a:t>시대가 오면서 기존의 </a:t>
            </a:r>
            <a:r>
              <a:rPr lang="en-US" altLang="ko-KR" b="0" baseline="0" dirty="0" smtClean="0"/>
              <a:t>AI </a:t>
            </a:r>
            <a:r>
              <a:rPr lang="ko-KR" altLang="en-US" b="0" baseline="0" dirty="0" smtClean="0"/>
              <a:t>서비스가 제공되는 형태가 완전히 </a:t>
            </a:r>
            <a:r>
              <a:rPr lang="ko-KR" altLang="en-US" b="0" baseline="0" dirty="0" err="1" smtClean="0"/>
              <a:t>바꼈습니다</a:t>
            </a:r>
            <a:r>
              <a:rPr lang="en-US" altLang="ko-KR" b="0" baseline="0" dirty="0" smtClean="0"/>
              <a:t>.</a:t>
            </a:r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b="0" baseline="0" dirty="0" smtClean="0"/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b="0" baseline="0" dirty="0" smtClean="0"/>
              <a:t>이전처럼 메뉴를 </a:t>
            </a:r>
            <a:r>
              <a:rPr lang="ko-KR" altLang="en-US" b="0" baseline="0" dirty="0" err="1" smtClean="0"/>
              <a:t>찾아다닐</a:t>
            </a:r>
            <a:r>
              <a:rPr lang="ko-KR" altLang="en-US" b="0" baseline="0" dirty="0" smtClean="0"/>
              <a:t> 필요 없이</a:t>
            </a:r>
            <a:r>
              <a:rPr lang="en-US" altLang="ko-KR" b="0" baseline="0" dirty="0" smtClean="0"/>
              <a:t>, </a:t>
            </a:r>
            <a:r>
              <a:rPr lang="ko-KR" altLang="en-US" b="0" baseline="0" dirty="0" smtClean="0"/>
              <a:t>자연어 기반으로 질문을 하게 되면 모든 서비스를 제공 해줍니다</a:t>
            </a:r>
            <a:r>
              <a:rPr lang="en-US" altLang="ko-KR" b="0" baseline="0" dirty="0" smtClean="0"/>
              <a:t>.</a:t>
            </a:r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b="0" baseline="0" dirty="0" smtClean="0"/>
              <a:t>쇼핑몰을 다시 예로 들면</a:t>
            </a:r>
            <a:r>
              <a:rPr lang="en-US" altLang="ko-KR" b="0" baseline="0" dirty="0" smtClean="0"/>
              <a:t>, </a:t>
            </a:r>
            <a:r>
              <a:rPr lang="ko-KR" altLang="en-US" b="0" baseline="0" dirty="0" smtClean="0"/>
              <a:t>내가 제품의 카테고리를 들어가거나 제품 명을 검색 할 필요 없이</a:t>
            </a:r>
            <a:r>
              <a:rPr lang="en-US" altLang="ko-KR" b="0" baseline="0" dirty="0" smtClean="0"/>
              <a:t>,</a:t>
            </a:r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b="0" baseline="0" dirty="0" smtClean="0"/>
              <a:t>내가 갖고 싶은 의류의 색상이나</a:t>
            </a:r>
            <a:r>
              <a:rPr lang="en-US" altLang="ko-KR" b="0" baseline="0" dirty="0" smtClean="0"/>
              <a:t>, </a:t>
            </a:r>
            <a:r>
              <a:rPr lang="ko-KR" altLang="en-US" b="0" baseline="0" dirty="0" smtClean="0"/>
              <a:t>느낌</a:t>
            </a:r>
            <a:r>
              <a:rPr lang="en-US" altLang="ko-KR" b="0" baseline="0" dirty="0" smtClean="0"/>
              <a:t>, </a:t>
            </a:r>
            <a:r>
              <a:rPr lang="ko-KR" altLang="en-US" b="0" baseline="0" dirty="0" smtClean="0"/>
              <a:t>디자인 등을 자연어 기반으로 말하기만 해도 </a:t>
            </a:r>
            <a:r>
              <a:rPr lang="en-US" altLang="ko-KR" b="0" baseline="0" dirty="0" smtClean="0"/>
              <a:t>LLM</a:t>
            </a:r>
            <a:r>
              <a:rPr lang="ko-KR" altLang="en-US" b="0" baseline="0" dirty="0" smtClean="0"/>
              <a:t>이 판단하고 추천을 해주는 개념입니다</a:t>
            </a:r>
            <a:r>
              <a:rPr lang="en-US" altLang="ko-KR" b="0" baseline="0" dirty="0" smtClean="0"/>
              <a:t>.</a:t>
            </a:r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b="0" baseline="0" dirty="0" smtClean="0"/>
              <a:t>이처럼 </a:t>
            </a:r>
            <a:r>
              <a:rPr lang="en-US" altLang="ko-KR" b="0" baseline="0" dirty="0" smtClean="0"/>
              <a:t>AI </a:t>
            </a:r>
            <a:r>
              <a:rPr lang="ko-KR" altLang="en-US" b="0" baseline="0" dirty="0" smtClean="0"/>
              <a:t>서비스가 제공되는 형태 자체가 자연어 기반의 대화 중심으로 </a:t>
            </a:r>
            <a:r>
              <a:rPr lang="ko-KR" altLang="en-US" b="0" baseline="0" dirty="0" err="1" smtClean="0"/>
              <a:t>바꼈다는</a:t>
            </a:r>
            <a:r>
              <a:rPr lang="ko-KR" altLang="en-US" b="0" baseline="0" dirty="0" smtClean="0"/>
              <a:t> 겁니다</a:t>
            </a:r>
            <a:r>
              <a:rPr lang="en-US" altLang="ko-KR" b="0" baseline="0" dirty="0" smtClean="0"/>
              <a:t>.</a:t>
            </a:r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b="0" baseline="0" dirty="0" smtClean="0"/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b="0" baseline="0" dirty="0" smtClean="0"/>
              <a:t>그런데</a:t>
            </a:r>
            <a:r>
              <a:rPr lang="en-US" altLang="ko-KR" b="0" baseline="0" dirty="0" smtClean="0"/>
              <a:t>, </a:t>
            </a:r>
            <a:r>
              <a:rPr lang="ko-KR" altLang="en-US" b="0" baseline="0" dirty="0" smtClean="0"/>
              <a:t>지금은 여기서 한 단계 더 나아가 </a:t>
            </a:r>
            <a:r>
              <a:rPr lang="en-US" altLang="ko-KR" b="0" baseline="0" dirty="0" smtClean="0"/>
              <a:t>AI Agent</a:t>
            </a:r>
            <a:r>
              <a:rPr lang="ko-KR" altLang="en-US" b="0" baseline="0" dirty="0" smtClean="0"/>
              <a:t>라고 하는 개념이 나오게 됩니다</a:t>
            </a:r>
            <a:r>
              <a:rPr lang="en-US" altLang="ko-KR" b="0" baseline="0" dirty="0" smtClean="0"/>
              <a:t>.</a:t>
            </a:r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b="0" baseline="0" dirty="0" smtClean="0"/>
              <a:t>단순히 내가 물어본 질문에 대해 답변만 </a:t>
            </a:r>
            <a:r>
              <a:rPr lang="ko-KR" altLang="en-US" b="0" baseline="0" dirty="0" err="1" smtClean="0"/>
              <a:t>해주는게</a:t>
            </a:r>
            <a:r>
              <a:rPr lang="ko-KR" altLang="en-US" b="0" baseline="0" dirty="0" smtClean="0"/>
              <a:t> 아니고</a:t>
            </a:r>
            <a:r>
              <a:rPr lang="en-US" altLang="ko-KR" b="0" baseline="0" dirty="0" smtClean="0"/>
              <a:t>, </a:t>
            </a:r>
            <a:r>
              <a:rPr lang="ko-KR" altLang="en-US" b="0" baseline="0" dirty="0" smtClean="0"/>
              <a:t>내 의도를 파악해서 </a:t>
            </a:r>
            <a:r>
              <a:rPr lang="ko-KR" altLang="en-US" b="0" baseline="0" dirty="0" err="1" smtClean="0"/>
              <a:t>생성형</a:t>
            </a:r>
            <a:r>
              <a:rPr lang="ko-KR" altLang="en-US" b="0" baseline="0" dirty="0" smtClean="0"/>
              <a:t> </a:t>
            </a:r>
            <a:r>
              <a:rPr lang="en-US" altLang="ko-KR" b="0" baseline="0" dirty="0" smtClean="0"/>
              <a:t>AI</a:t>
            </a:r>
            <a:r>
              <a:rPr lang="ko-KR" altLang="en-US" b="0" baseline="0" dirty="0" smtClean="0"/>
              <a:t>가 직접 업무를 수행하는 영역까지 오게 됩니다</a:t>
            </a:r>
            <a:r>
              <a:rPr lang="en-US" altLang="ko-KR" b="0" baseline="0" dirty="0" smtClean="0"/>
              <a:t>.</a:t>
            </a:r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b="0" baseline="0" dirty="0" smtClean="0"/>
              <a:t>내가 마음에 드는 옷을 제공만 </a:t>
            </a:r>
            <a:r>
              <a:rPr lang="ko-KR" altLang="en-US" b="0" baseline="0" dirty="0" err="1" smtClean="0"/>
              <a:t>해주는게</a:t>
            </a:r>
            <a:r>
              <a:rPr lang="ko-KR" altLang="en-US" b="0" baseline="0" dirty="0" smtClean="0"/>
              <a:t> 아니고</a:t>
            </a:r>
            <a:r>
              <a:rPr lang="en-US" altLang="ko-KR" b="0" baseline="0" dirty="0" smtClean="0"/>
              <a:t>, </a:t>
            </a:r>
            <a:r>
              <a:rPr lang="ko-KR" altLang="en-US" b="0" baseline="0" dirty="0" smtClean="0"/>
              <a:t>직접 구매까지 이루어지는 거죠</a:t>
            </a:r>
            <a:r>
              <a:rPr lang="en-US" altLang="ko-KR" b="0" baseline="0" dirty="0" smtClean="0"/>
              <a:t>.</a:t>
            </a:r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b="0" baseline="0" dirty="0" smtClean="0"/>
              <a:t>이제는 사람이 시스템을 </a:t>
            </a:r>
            <a:r>
              <a:rPr lang="ko-KR" altLang="en-US" b="0" baseline="0" dirty="0" err="1" smtClean="0"/>
              <a:t>사용하는게</a:t>
            </a:r>
            <a:r>
              <a:rPr lang="ko-KR" altLang="en-US" b="0" baseline="0" dirty="0" smtClean="0"/>
              <a:t> 아니고 </a:t>
            </a:r>
            <a:r>
              <a:rPr lang="en-US" altLang="ko-KR" b="0" baseline="0" dirty="0" smtClean="0"/>
              <a:t>AI</a:t>
            </a:r>
            <a:r>
              <a:rPr lang="ko-KR" altLang="en-US" b="0" baseline="0" dirty="0" smtClean="0"/>
              <a:t>가 시스템을 활용해서 작업을 수행하게 </a:t>
            </a:r>
            <a:r>
              <a:rPr lang="ko-KR" altLang="en-US" b="0" baseline="0" dirty="0" err="1" smtClean="0"/>
              <a:t>되는겁니다</a:t>
            </a:r>
            <a:r>
              <a:rPr lang="en-US" altLang="ko-KR" b="0" baseline="0" dirty="0" smtClean="0"/>
              <a:t>.</a:t>
            </a:r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b="0" baseline="0" dirty="0" smtClean="0"/>
              <a:t>굉장히 편리한 세상에서 살 수 있게 </a:t>
            </a:r>
            <a:r>
              <a:rPr lang="ko-KR" altLang="en-US" b="0" baseline="0" dirty="0" err="1" smtClean="0"/>
              <a:t>된거죠</a:t>
            </a:r>
            <a:r>
              <a:rPr lang="en-US" altLang="ko-KR" b="0" baseline="0" dirty="0" smtClean="0"/>
              <a:t>.</a:t>
            </a:r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b="0" baseline="0" dirty="0" smtClean="0"/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b="0" baseline="0" dirty="0" smtClean="0"/>
              <a:t>(</a:t>
            </a:r>
            <a:r>
              <a:rPr lang="ko-KR" altLang="en-US" b="0" baseline="0" dirty="0" smtClean="0"/>
              <a:t>마지막 요약 하면서 마무리</a:t>
            </a:r>
            <a:r>
              <a:rPr lang="en-US" altLang="ko-KR" b="0" baseline="0" dirty="0" smtClean="0"/>
              <a:t>)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A65738-811D-4EF7-84D6-3D2F3B9F4AB8}" type="slidenum">
              <a:rPr lang="ko-KR" altLang="en-US" smtClean="0"/>
              <a:pPr/>
              <a:t>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329548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b="1" dirty="0" smtClean="0"/>
              <a:t>##</a:t>
            </a:r>
            <a:r>
              <a:rPr lang="ko-KR" altLang="en-US" b="1" dirty="0" err="1" smtClean="0"/>
              <a:t>장표</a:t>
            </a:r>
            <a:r>
              <a:rPr lang="ko-KR" altLang="en-US" b="1" dirty="0" smtClean="0"/>
              <a:t> 목표</a:t>
            </a:r>
            <a:r>
              <a:rPr lang="en-US" altLang="ko-KR" b="1" dirty="0" smtClean="0"/>
              <a:t>##</a:t>
            </a:r>
          </a:p>
          <a:p>
            <a:r>
              <a:rPr lang="ko-KR" altLang="en-US" dirty="0" err="1" smtClean="0"/>
              <a:t>생성형</a:t>
            </a:r>
            <a:r>
              <a:rPr lang="ko-KR" altLang="en-US" dirty="0" smtClean="0"/>
              <a:t> </a:t>
            </a:r>
            <a:r>
              <a:rPr lang="en-US" altLang="ko-KR" dirty="0" smtClean="0"/>
              <a:t>AI</a:t>
            </a:r>
            <a:r>
              <a:rPr lang="ko-KR" altLang="en-US" dirty="0" smtClean="0"/>
              <a:t>와 </a:t>
            </a:r>
            <a:r>
              <a:rPr lang="en-US" altLang="ko-KR" dirty="0" smtClean="0"/>
              <a:t>AI Agent</a:t>
            </a:r>
            <a:r>
              <a:rPr lang="ko-KR" altLang="en-US" dirty="0" smtClean="0"/>
              <a:t>의 차이점을 이해한다</a:t>
            </a:r>
            <a:r>
              <a:rPr lang="en-US" altLang="ko-KR" dirty="0" smtClean="0"/>
              <a:t>.</a:t>
            </a:r>
          </a:p>
          <a:p>
            <a:endParaRPr lang="en-US" altLang="ko-KR" dirty="0" smtClean="0"/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b="1" dirty="0" smtClean="0"/>
              <a:t>##</a:t>
            </a:r>
            <a:r>
              <a:rPr lang="ko-KR" altLang="en-US" b="1" dirty="0" smtClean="0"/>
              <a:t>내용</a:t>
            </a:r>
            <a:r>
              <a:rPr lang="en-US" altLang="ko-KR" b="1" dirty="0" smtClean="0"/>
              <a:t>##</a:t>
            </a:r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baseline="0" dirty="0" smtClean="0"/>
              <a:t>제가 앞서서 에이전트라는 말을 했는데</a:t>
            </a:r>
            <a:r>
              <a:rPr lang="en-US" altLang="ko-KR" baseline="0" dirty="0" smtClean="0"/>
              <a:t>, </a:t>
            </a:r>
            <a:r>
              <a:rPr lang="ko-KR" altLang="en-US" baseline="0" dirty="0" smtClean="0"/>
              <a:t>프로젝트를 하다 보면 우리가 흔히 얘기하는 </a:t>
            </a:r>
            <a:r>
              <a:rPr lang="ko-KR" altLang="en-US" baseline="0" dirty="0" err="1" smtClean="0"/>
              <a:t>생성형</a:t>
            </a:r>
            <a:r>
              <a:rPr lang="ko-KR" altLang="en-US" baseline="0" dirty="0" smtClean="0"/>
              <a:t> </a:t>
            </a:r>
            <a:r>
              <a:rPr lang="en-US" altLang="ko-KR" baseline="0" dirty="0" smtClean="0"/>
              <a:t>AI, AI Agent </a:t>
            </a:r>
            <a:r>
              <a:rPr lang="ko-KR" altLang="en-US" baseline="0" dirty="0" smtClean="0"/>
              <a:t>등과 같은 용어들을 혼동해서 사용하는 경우가 많아요</a:t>
            </a:r>
            <a:r>
              <a:rPr lang="en-US" altLang="ko-KR" baseline="0" dirty="0" smtClean="0"/>
              <a:t>.</a:t>
            </a:r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baseline="0" dirty="0" smtClean="0"/>
              <a:t>그래서 두 개의 차이가 뭔지 간단하게 설명 드리고 넘어가도록 하겠습니다</a:t>
            </a:r>
            <a:r>
              <a:rPr lang="en-US" altLang="ko-KR" baseline="0" dirty="0" smtClean="0"/>
              <a:t>.</a:t>
            </a:r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baseline="0" dirty="0" smtClean="0"/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baseline="0" dirty="0" smtClean="0"/>
              <a:t>두 개의 차이는 결국 목적 자체가 다른 건데</a:t>
            </a:r>
            <a:r>
              <a:rPr lang="en-US" altLang="ko-KR" baseline="0" dirty="0" smtClean="0"/>
              <a:t>, Gen AI</a:t>
            </a:r>
            <a:r>
              <a:rPr lang="ko-KR" altLang="en-US" baseline="0" dirty="0" smtClean="0"/>
              <a:t>는 말 그대로 생성을 하는 </a:t>
            </a:r>
            <a:r>
              <a:rPr lang="en-US" altLang="ko-KR" baseline="0" dirty="0" smtClean="0"/>
              <a:t>AI, </a:t>
            </a:r>
            <a:r>
              <a:rPr lang="ko-KR" altLang="en-US" baseline="0" dirty="0" smtClean="0"/>
              <a:t>즉</a:t>
            </a:r>
            <a:r>
              <a:rPr lang="en-US" altLang="ko-KR" baseline="0" dirty="0" smtClean="0"/>
              <a:t>, </a:t>
            </a:r>
            <a:r>
              <a:rPr lang="ko-KR" altLang="en-US" baseline="0" dirty="0" smtClean="0"/>
              <a:t>데이터나 이미지</a:t>
            </a:r>
            <a:r>
              <a:rPr lang="en-US" altLang="ko-KR" baseline="0" dirty="0" smtClean="0"/>
              <a:t>, </a:t>
            </a:r>
            <a:r>
              <a:rPr lang="ko-KR" altLang="en-US" baseline="0" dirty="0" smtClean="0"/>
              <a:t>영상 같은 </a:t>
            </a:r>
            <a:r>
              <a:rPr lang="ko-KR" altLang="en-US" baseline="0" dirty="0" err="1" smtClean="0"/>
              <a:t>콘텐츠를</a:t>
            </a:r>
            <a:r>
              <a:rPr lang="ko-KR" altLang="en-US" baseline="0" dirty="0" smtClean="0"/>
              <a:t> </a:t>
            </a:r>
            <a:r>
              <a:rPr lang="ko-KR" altLang="en-US" baseline="0" dirty="0" err="1" smtClean="0"/>
              <a:t>생성하는거</a:t>
            </a:r>
            <a:r>
              <a:rPr lang="ko-KR" altLang="en-US" baseline="0" dirty="0" smtClean="0"/>
              <a:t> 자체가 </a:t>
            </a:r>
            <a:r>
              <a:rPr lang="ko-KR" altLang="en-US" baseline="0" dirty="0" err="1" smtClean="0"/>
              <a:t>목적인거고</a:t>
            </a:r>
            <a:r>
              <a:rPr lang="en-US" altLang="ko-KR" baseline="0" dirty="0" smtClean="0"/>
              <a:t>.</a:t>
            </a:r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baseline="0" dirty="0" smtClean="0"/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baseline="0" dirty="0" smtClean="0"/>
              <a:t>AI Agent</a:t>
            </a:r>
            <a:r>
              <a:rPr lang="ko-KR" altLang="en-US" baseline="0" dirty="0" smtClean="0"/>
              <a:t>는 사용자 의도를 파악해서 목표를 세우고 </a:t>
            </a:r>
            <a:r>
              <a:rPr lang="ko-KR" altLang="en-US" baseline="0" dirty="0" err="1" smtClean="0"/>
              <a:t>리즈닝을</a:t>
            </a:r>
            <a:r>
              <a:rPr lang="ko-KR" altLang="en-US" baseline="0" dirty="0" smtClean="0"/>
              <a:t> 통해 추론하고 판단을 하고</a:t>
            </a:r>
            <a:r>
              <a:rPr lang="en-US" altLang="ko-KR" baseline="0" dirty="0" smtClean="0"/>
              <a:t>, </a:t>
            </a:r>
            <a:r>
              <a:rPr lang="ko-KR" altLang="en-US" baseline="0" dirty="0" smtClean="0"/>
              <a:t>액션을 통해 결과를 도출하는</a:t>
            </a:r>
            <a:r>
              <a:rPr lang="en-US" altLang="ko-KR" baseline="0" dirty="0" smtClean="0"/>
              <a:t>..</a:t>
            </a:r>
            <a:r>
              <a:rPr lang="ko-KR" altLang="en-US" baseline="0" dirty="0" smtClean="0"/>
              <a:t>일련의 </a:t>
            </a:r>
            <a:r>
              <a:rPr lang="en-US" altLang="ko-KR" baseline="0" dirty="0" smtClean="0"/>
              <a:t>AI </a:t>
            </a:r>
            <a:r>
              <a:rPr lang="ko-KR" altLang="en-US" baseline="0" dirty="0" smtClean="0"/>
              <a:t>서비스 형태를 </a:t>
            </a:r>
            <a:r>
              <a:rPr lang="ko-KR" altLang="en-US" baseline="0" dirty="0" err="1" smtClean="0"/>
              <a:t>말하는거라고</a:t>
            </a:r>
            <a:r>
              <a:rPr lang="ko-KR" altLang="en-US" baseline="0" dirty="0" smtClean="0"/>
              <a:t> 보면 됩니다</a:t>
            </a:r>
            <a:r>
              <a:rPr lang="en-US" altLang="ko-KR" baseline="0" dirty="0" smtClean="0"/>
              <a:t>.</a:t>
            </a:r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baseline="0" dirty="0" smtClean="0"/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baseline="0" dirty="0" smtClean="0"/>
              <a:t>그래서 보통 사업을 </a:t>
            </a:r>
            <a:r>
              <a:rPr lang="ko-KR" altLang="en-US" baseline="0" dirty="0" err="1" smtClean="0"/>
              <a:t>할때는</a:t>
            </a:r>
            <a:r>
              <a:rPr lang="ko-KR" altLang="en-US" baseline="0" dirty="0" smtClean="0"/>
              <a:t> </a:t>
            </a:r>
            <a:r>
              <a:rPr lang="en-US" altLang="ko-KR" baseline="0" dirty="0" smtClean="0"/>
              <a:t>Agent</a:t>
            </a:r>
            <a:r>
              <a:rPr lang="ko-KR" altLang="en-US" baseline="0" dirty="0" smtClean="0"/>
              <a:t>를 개발한다</a:t>
            </a:r>
            <a:r>
              <a:rPr lang="en-US" altLang="ko-KR" baseline="0" dirty="0" smtClean="0"/>
              <a:t>, Agent </a:t>
            </a:r>
            <a:r>
              <a:rPr lang="ko-KR" altLang="en-US" baseline="0" dirty="0" smtClean="0"/>
              <a:t>서비스를 개발한다고 보통 얘기 합니다</a:t>
            </a:r>
            <a:r>
              <a:rPr lang="en-US" altLang="ko-KR" baseline="0" dirty="0" smtClean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A65738-811D-4EF7-84D6-3D2F3B9F4AB8}" type="slidenum">
              <a:rPr lang="ko-KR" altLang="en-US" smtClean="0"/>
              <a:pPr/>
              <a:t>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126301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b="1" dirty="0" smtClean="0"/>
              <a:t>##</a:t>
            </a:r>
            <a:r>
              <a:rPr lang="ko-KR" altLang="en-US" b="1" dirty="0" err="1" smtClean="0"/>
              <a:t>장표</a:t>
            </a:r>
            <a:r>
              <a:rPr lang="ko-KR" altLang="en-US" b="1" dirty="0" smtClean="0"/>
              <a:t> 목표</a:t>
            </a:r>
            <a:r>
              <a:rPr lang="en-US" altLang="ko-KR" b="1" dirty="0" smtClean="0"/>
              <a:t>##</a:t>
            </a:r>
          </a:p>
          <a:p>
            <a:r>
              <a:rPr lang="ko-KR" altLang="en-US" dirty="0" err="1" smtClean="0"/>
              <a:t>오케스트레이션의</a:t>
            </a:r>
            <a:r>
              <a:rPr lang="ko-KR" altLang="en-US" dirty="0" smtClean="0"/>
              <a:t> 필요성 제시</a:t>
            </a:r>
            <a:endParaRPr lang="en-US" altLang="ko-KR" dirty="0" smtClean="0"/>
          </a:p>
          <a:p>
            <a:endParaRPr lang="en-US" altLang="ko-KR" dirty="0" smtClean="0"/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b="1" dirty="0" smtClean="0"/>
              <a:t>##</a:t>
            </a:r>
            <a:r>
              <a:rPr lang="ko-KR" altLang="en-US" b="1" dirty="0" smtClean="0"/>
              <a:t>내용</a:t>
            </a:r>
            <a:r>
              <a:rPr lang="en-US" altLang="ko-KR" b="1" dirty="0" smtClean="0"/>
              <a:t>##</a:t>
            </a:r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 smtClean="0"/>
              <a:t>그렇다면</a:t>
            </a:r>
            <a:r>
              <a:rPr lang="en-US" altLang="ko-KR" dirty="0" smtClean="0"/>
              <a:t>, AI Agent</a:t>
            </a:r>
            <a:r>
              <a:rPr lang="ko-KR" altLang="en-US" dirty="0" smtClean="0"/>
              <a:t>의 </a:t>
            </a:r>
            <a:r>
              <a:rPr lang="ko-KR" altLang="en-US" dirty="0" err="1" smtClean="0"/>
              <a:t>오케스트레이션은</a:t>
            </a:r>
            <a:r>
              <a:rPr lang="ko-KR" altLang="en-US" dirty="0" smtClean="0"/>
              <a:t> 왜 필요한지에 대해 알아보겠습니다</a:t>
            </a:r>
            <a:r>
              <a:rPr lang="en-US" altLang="ko-KR" dirty="0" smtClean="0"/>
              <a:t>.</a:t>
            </a:r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 err="1" smtClean="0"/>
              <a:t>오케스트레이션은</a:t>
            </a:r>
            <a:r>
              <a:rPr lang="ko-KR" altLang="en-US" dirty="0" smtClean="0"/>
              <a:t> 사전적인 의미로는 여러 요소를 조화롭게 조정하거나 지휘하여 원하는 결과를 만들어내는 것인데</a:t>
            </a:r>
            <a:r>
              <a:rPr lang="en-US" altLang="ko-KR" dirty="0" smtClean="0"/>
              <a:t>.</a:t>
            </a:r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 smtClean="0"/>
              <a:t>그럼 기업에서는 </a:t>
            </a:r>
            <a:r>
              <a:rPr lang="en-US" altLang="ko-KR" dirty="0" smtClean="0"/>
              <a:t>Agent</a:t>
            </a:r>
            <a:r>
              <a:rPr lang="ko-KR" altLang="en-US" dirty="0" smtClean="0"/>
              <a:t>를 어떻게</a:t>
            </a:r>
            <a:r>
              <a:rPr lang="en-US" altLang="ko-KR" dirty="0" smtClean="0"/>
              <a:t>, </a:t>
            </a:r>
            <a:r>
              <a:rPr lang="ko-KR" altLang="en-US" dirty="0" smtClean="0"/>
              <a:t>왜 조화롭게 사용해야 하는지에 대해서 알아보겠습니다</a:t>
            </a:r>
            <a:r>
              <a:rPr lang="en-US" altLang="ko-KR" dirty="0" smtClean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A65738-811D-4EF7-84D6-3D2F3B9F4AB8}" type="slidenum">
              <a:rPr lang="ko-KR" altLang="en-US" smtClean="0"/>
              <a:pPr/>
              <a:t>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3135626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b="1" dirty="0" smtClean="0"/>
              <a:t>##</a:t>
            </a:r>
            <a:r>
              <a:rPr lang="ko-KR" altLang="en-US" b="1" dirty="0" err="1" smtClean="0"/>
              <a:t>장표</a:t>
            </a:r>
            <a:r>
              <a:rPr lang="ko-KR" altLang="en-US" b="1" dirty="0" smtClean="0"/>
              <a:t> 목표</a:t>
            </a:r>
            <a:r>
              <a:rPr lang="en-US" altLang="ko-KR" b="1" dirty="0" smtClean="0"/>
              <a:t>##</a:t>
            </a:r>
          </a:p>
          <a:p>
            <a:r>
              <a:rPr lang="ko-KR" altLang="en-US" dirty="0" smtClean="0"/>
              <a:t>기업의 입장에서 </a:t>
            </a:r>
            <a:r>
              <a:rPr lang="ko-KR" altLang="en-US" dirty="0" err="1" smtClean="0"/>
              <a:t>생성형</a:t>
            </a:r>
            <a:r>
              <a:rPr lang="ko-KR" altLang="en-US" dirty="0" smtClean="0"/>
              <a:t> </a:t>
            </a:r>
            <a:r>
              <a:rPr lang="en-US" altLang="ko-KR" dirty="0" smtClean="0"/>
              <a:t>AI</a:t>
            </a:r>
            <a:r>
              <a:rPr lang="ko-KR" altLang="en-US" dirty="0" smtClean="0"/>
              <a:t>에 대해 바라보는 것을 이해</a:t>
            </a:r>
            <a:endParaRPr lang="en-US" altLang="ko-KR" dirty="0" smtClean="0"/>
          </a:p>
          <a:p>
            <a:endParaRPr lang="en-US" altLang="ko-KR" dirty="0" smtClean="0"/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b="1" dirty="0" smtClean="0"/>
              <a:t>##</a:t>
            </a:r>
            <a:r>
              <a:rPr lang="ko-KR" altLang="en-US" b="1" dirty="0" smtClean="0"/>
              <a:t>내용</a:t>
            </a:r>
            <a:r>
              <a:rPr lang="en-US" altLang="ko-KR" b="1" dirty="0" smtClean="0"/>
              <a:t>##</a:t>
            </a:r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 smtClean="0"/>
              <a:t>해당 기사는 </a:t>
            </a:r>
            <a:r>
              <a:rPr lang="ko-KR" altLang="en-US" dirty="0" err="1" smtClean="0"/>
              <a:t>생성형</a:t>
            </a:r>
            <a:r>
              <a:rPr lang="ko-KR" altLang="en-US" dirty="0" smtClean="0"/>
              <a:t> </a:t>
            </a:r>
            <a:r>
              <a:rPr lang="en-US" altLang="ko-KR" dirty="0" smtClean="0"/>
              <a:t>AI</a:t>
            </a:r>
            <a:r>
              <a:rPr lang="ko-KR" altLang="en-US" dirty="0" smtClean="0"/>
              <a:t>가 도입된 후 일부 기사를 발췌한 것입니다</a:t>
            </a:r>
            <a:r>
              <a:rPr lang="en-US" altLang="ko-KR" dirty="0" smtClean="0"/>
              <a:t>.</a:t>
            </a:r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 smtClean="0"/>
              <a:t>내용을 보면</a:t>
            </a:r>
            <a:r>
              <a:rPr lang="en-US" altLang="ko-KR" dirty="0" smtClean="0"/>
              <a:t>, </a:t>
            </a:r>
            <a:r>
              <a:rPr lang="ko-KR" altLang="en-US" dirty="0" smtClean="0"/>
              <a:t>기업의 </a:t>
            </a:r>
            <a:r>
              <a:rPr lang="en-US" altLang="ko-KR" dirty="0" smtClean="0"/>
              <a:t>95%</a:t>
            </a:r>
            <a:r>
              <a:rPr lang="ko-KR" altLang="en-US" dirty="0" smtClean="0"/>
              <a:t>가 </a:t>
            </a:r>
            <a:r>
              <a:rPr lang="en-US" altLang="ko-KR" dirty="0" smtClean="0"/>
              <a:t>AI</a:t>
            </a:r>
            <a:r>
              <a:rPr lang="ko-KR" altLang="en-US" dirty="0" smtClean="0"/>
              <a:t>를 도입하는데 어려움이 있다</a:t>
            </a:r>
            <a:r>
              <a:rPr lang="en-US" altLang="ko-KR" dirty="0" smtClean="0"/>
              <a:t>.</a:t>
            </a:r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 smtClean="0"/>
              <a:t>우리가 </a:t>
            </a:r>
            <a:r>
              <a:rPr lang="ko-KR" altLang="en-US" dirty="0" err="1" smtClean="0"/>
              <a:t>생성형</a:t>
            </a:r>
            <a:r>
              <a:rPr lang="ko-KR" altLang="en-US" dirty="0" smtClean="0"/>
              <a:t> </a:t>
            </a:r>
            <a:r>
              <a:rPr lang="en-US" altLang="ko-KR" dirty="0" smtClean="0"/>
              <a:t>AI</a:t>
            </a:r>
            <a:r>
              <a:rPr lang="ko-KR" altLang="en-US" dirty="0" smtClean="0"/>
              <a:t>를 도입하는데 있어서 그냥 외부 모델만 들어오면 </a:t>
            </a:r>
            <a:r>
              <a:rPr lang="ko-KR" altLang="en-US" dirty="0" err="1" smtClean="0"/>
              <a:t>되는게</a:t>
            </a:r>
            <a:r>
              <a:rPr lang="ko-KR" altLang="en-US" dirty="0" smtClean="0"/>
              <a:t> 아닙니다</a:t>
            </a:r>
            <a:r>
              <a:rPr lang="en-US" altLang="ko-KR" dirty="0" smtClean="0"/>
              <a:t>.</a:t>
            </a:r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 smtClean="0"/>
              <a:t>환경에 따라서 다르겠지만</a:t>
            </a:r>
            <a:r>
              <a:rPr lang="en-US" altLang="ko-KR" dirty="0" smtClean="0"/>
              <a:t>, </a:t>
            </a:r>
            <a:r>
              <a:rPr lang="ko-KR" altLang="en-US" dirty="0" smtClean="0"/>
              <a:t>보통은 인프라도 구축을 해야 하고</a:t>
            </a:r>
            <a:r>
              <a:rPr lang="en-US" altLang="ko-KR" dirty="0" smtClean="0"/>
              <a:t>, AI </a:t>
            </a:r>
            <a:r>
              <a:rPr lang="ko-KR" altLang="en-US" dirty="0" smtClean="0"/>
              <a:t>전용 솔루션도 도입을 하는 등</a:t>
            </a:r>
            <a:r>
              <a:rPr lang="en-US" altLang="ko-KR" dirty="0" smtClean="0"/>
              <a:t>…</a:t>
            </a:r>
            <a:r>
              <a:rPr lang="ko-KR" altLang="en-US" dirty="0" smtClean="0"/>
              <a:t>사전에 준비해야 할 것이 많습니다</a:t>
            </a:r>
            <a:r>
              <a:rPr lang="en-US" altLang="ko-KR" dirty="0" smtClean="0"/>
              <a:t>.</a:t>
            </a:r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 smtClean="0"/>
              <a:t>진입장벽이 높을 수 있고</a:t>
            </a:r>
            <a:r>
              <a:rPr lang="en-US" altLang="ko-KR" dirty="0" smtClean="0"/>
              <a:t>, </a:t>
            </a:r>
            <a:r>
              <a:rPr lang="ko-KR" altLang="en-US" dirty="0" smtClean="0"/>
              <a:t>특히나 </a:t>
            </a:r>
            <a:r>
              <a:rPr lang="ko-KR" altLang="en-US" dirty="0" err="1" smtClean="0"/>
              <a:t>초기때에는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레퍼런스가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없다보니</a:t>
            </a:r>
            <a:r>
              <a:rPr lang="en-US" altLang="ko-KR" dirty="0" smtClean="0"/>
              <a:t>, </a:t>
            </a:r>
            <a:r>
              <a:rPr lang="ko-KR" altLang="en-US" dirty="0" smtClean="0"/>
              <a:t>사업 자체가 큰 </a:t>
            </a:r>
            <a:r>
              <a:rPr lang="ko-KR" altLang="en-US" dirty="0" err="1" smtClean="0"/>
              <a:t>리스크를</a:t>
            </a:r>
            <a:r>
              <a:rPr lang="ko-KR" altLang="en-US" dirty="0" smtClean="0"/>
              <a:t> 안고 </a:t>
            </a:r>
            <a:r>
              <a:rPr lang="ko-KR" altLang="en-US" dirty="0" err="1" smtClean="0"/>
              <a:t>가는셈</a:t>
            </a:r>
            <a:r>
              <a:rPr lang="en-US" altLang="ko-KR" dirty="0" smtClean="0"/>
              <a:t>.</a:t>
            </a:r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 smtClean="0"/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 smtClean="0"/>
              <a:t>또한</a:t>
            </a:r>
            <a:r>
              <a:rPr lang="en-US" altLang="ko-KR" dirty="0" smtClean="0"/>
              <a:t>, </a:t>
            </a:r>
            <a:r>
              <a:rPr lang="ko-KR" altLang="en-US" dirty="0" smtClean="0"/>
              <a:t>도입을 했다 하더라도 실패로 끝나는 경우가 굉장히 많음</a:t>
            </a:r>
            <a:endParaRPr lang="en-US" altLang="ko-KR" dirty="0" smtClean="0"/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baseline="0" dirty="0" smtClean="0"/>
              <a:t>그 이유로는</a:t>
            </a:r>
            <a:r>
              <a:rPr lang="en-US" altLang="ko-KR" baseline="0" dirty="0" smtClean="0"/>
              <a:t>…</a:t>
            </a:r>
            <a:r>
              <a:rPr lang="ko-KR" altLang="en-US" baseline="0" dirty="0" err="1" smtClean="0"/>
              <a:t>생성형</a:t>
            </a:r>
            <a:r>
              <a:rPr lang="ko-KR" altLang="en-US" baseline="0" dirty="0" smtClean="0"/>
              <a:t> </a:t>
            </a:r>
            <a:r>
              <a:rPr lang="en-US" altLang="ko-KR" baseline="0" dirty="0" smtClean="0"/>
              <a:t>AI</a:t>
            </a:r>
            <a:r>
              <a:rPr lang="ko-KR" altLang="en-US" baseline="0" dirty="0" smtClean="0"/>
              <a:t>를 제대로 활용을 </a:t>
            </a:r>
            <a:r>
              <a:rPr lang="ko-KR" altLang="en-US" baseline="0" dirty="0" err="1" smtClean="0"/>
              <a:t>못한거죠</a:t>
            </a:r>
            <a:r>
              <a:rPr lang="en-US" altLang="ko-KR" baseline="0" dirty="0" smtClean="0"/>
              <a:t>. </a:t>
            </a:r>
            <a:r>
              <a:rPr lang="ko-KR" altLang="en-US" baseline="0" dirty="0" smtClean="0"/>
              <a:t>어떤 업무에 특화돼서 사용할 수 있는지</a:t>
            </a:r>
            <a:r>
              <a:rPr lang="en-US" altLang="ko-KR" baseline="0" dirty="0" smtClean="0"/>
              <a:t>… </a:t>
            </a:r>
            <a:r>
              <a:rPr lang="ko-KR" altLang="en-US" baseline="0" dirty="0" smtClean="0"/>
              <a:t>결국 과제에 대해 명확하게 정의가 되지 않거나</a:t>
            </a:r>
            <a:r>
              <a:rPr lang="en-US" altLang="ko-KR" baseline="0" dirty="0" smtClean="0"/>
              <a:t>, </a:t>
            </a:r>
            <a:r>
              <a:rPr lang="ko-KR" altLang="en-US" baseline="0" dirty="0" smtClean="0"/>
              <a:t>혹은 이게 개발만 한다고 끝이 아니거든요</a:t>
            </a:r>
            <a:r>
              <a:rPr lang="en-US" altLang="ko-KR" baseline="0" dirty="0" smtClean="0"/>
              <a:t>. </a:t>
            </a:r>
            <a:r>
              <a:rPr lang="ko-KR" altLang="en-US" baseline="0" dirty="0" smtClean="0"/>
              <a:t>운영을 위한 전담 조직이 없거나</a:t>
            </a:r>
            <a:r>
              <a:rPr lang="en-US" altLang="ko-KR" baseline="0" dirty="0" smtClean="0"/>
              <a:t>…</a:t>
            </a:r>
            <a:r>
              <a:rPr lang="ko-KR" altLang="en-US" baseline="0" dirty="0" smtClean="0"/>
              <a:t>하는 등의 이유로 생각보다 실패로 끝나는 경우가 많았습니다</a:t>
            </a:r>
            <a:r>
              <a:rPr lang="en-US" altLang="ko-KR" baseline="0" dirty="0" smtClean="0"/>
              <a:t>.</a:t>
            </a:r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baseline="0" dirty="0" smtClean="0"/>
              <a:t>그렇지만</a:t>
            </a:r>
            <a:r>
              <a:rPr lang="en-US" altLang="ko-KR" baseline="0" dirty="0" smtClean="0"/>
              <a:t>..</a:t>
            </a:r>
            <a:r>
              <a:rPr lang="ko-KR" altLang="en-US" baseline="0" dirty="0" smtClean="0"/>
              <a:t>실패의 가장 큰 원인 중 하나는</a:t>
            </a:r>
            <a:r>
              <a:rPr lang="en-US" altLang="ko-KR" baseline="0" dirty="0" smtClean="0"/>
              <a:t> </a:t>
            </a:r>
            <a:r>
              <a:rPr lang="ko-KR" altLang="en-US" baseline="0" dirty="0" smtClean="0"/>
              <a:t>모델 자체의 성능이 </a:t>
            </a:r>
            <a:r>
              <a:rPr lang="ko-KR" altLang="en-US" baseline="0" dirty="0" err="1" smtClean="0"/>
              <a:t>안오는</a:t>
            </a:r>
            <a:r>
              <a:rPr lang="ko-KR" altLang="en-US" baseline="0" dirty="0" smtClean="0"/>
              <a:t> 문제가 있음</a:t>
            </a:r>
            <a:r>
              <a:rPr lang="en-US" altLang="ko-KR" baseline="0" dirty="0" smtClean="0"/>
              <a:t>. </a:t>
            </a:r>
            <a:r>
              <a:rPr lang="ko-KR" altLang="en-US" baseline="0" dirty="0" err="1" smtClean="0"/>
              <a:t>할루시네이션이라고</a:t>
            </a:r>
            <a:r>
              <a:rPr lang="ko-KR" altLang="en-US" baseline="0" dirty="0" smtClean="0"/>
              <a:t> 우리는 보통 얘기 하는데</a:t>
            </a:r>
            <a:r>
              <a:rPr lang="en-US" altLang="ko-KR" baseline="0" dirty="0" smtClean="0"/>
              <a:t>.</a:t>
            </a:r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baseline="0" dirty="0" smtClean="0"/>
              <a:t>LLM</a:t>
            </a:r>
            <a:r>
              <a:rPr lang="ko-KR" altLang="en-US" baseline="0" dirty="0" smtClean="0"/>
              <a:t>같은 경우에는 범용 데이터를 사용해서 학습한 </a:t>
            </a:r>
            <a:r>
              <a:rPr lang="ko-KR" altLang="en-US" baseline="0" dirty="0" err="1" smtClean="0"/>
              <a:t>모델인거지</a:t>
            </a:r>
            <a:r>
              <a:rPr lang="en-US" altLang="ko-KR" baseline="0" dirty="0" smtClean="0"/>
              <a:t>, </a:t>
            </a:r>
            <a:r>
              <a:rPr lang="ko-KR" altLang="en-US" baseline="0" dirty="0" smtClean="0"/>
              <a:t>회사 내부 데이터를 학습한 모델이 아니기 때문에 우리 회사와 관련되거나 내 업무와 관련된 내용을 물어보게 되면</a:t>
            </a:r>
            <a:endParaRPr lang="en-US" altLang="ko-KR" baseline="0" dirty="0" smtClean="0"/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baseline="0" dirty="0" smtClean="0"/>
              <a:t>엉뚱한 답을 하게 됩니다</a:t>
            </a:r>
            <a:r>
              <a:rPr lang="en-US" altLang="ko-KR" baseline="0" dirty="0" smtClean="0"/>
              <a:t>. Open AI</a:t>
            </a:r>
            <a:r>
              <a:rPr lang="ko-KR" altLang="en-US" baseline="0" dirty="0" smtClean="0"/>
              <a:t>에서 발표한 자료를 보면 학습하고 평가하는 과정에서 몰라도 그럴싸하게 대답할 경우 플러스 점수가 매겨지는 구조다 보니까 이런 현상이 발생된다고 </a:t>
            </a:r>
            <a:r>
              <a:rPr lang="ko-KR" altLang="en-US" baseline="0" dirty="0" err="1" smtClean="0"/>
              <a:t>하더라구요</a:t>
            </a:r>
            <a:r>
              <a:rPr lang="en-US" altLang="ko-KR" baseline="0" dirty="0" smtClean="0"/>
              <a:t>.</a:t>
            </a:r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baseline="0" dirty="0" smtClean="0"/>
              <a:t>이후에 </a:t>
            </a:r>
            <a:r>
              <a:rPr lang="en-US" altLang="ko-KR" baseline="0" dirty="0" smtClean="0"/>
              <a:t>GPT5 </a:t>
            </a:r>
            <a:r>
              <a:rPr lang="ko-KR" altLang="en-US" baseline="0" dirty="0" err="1" smtClean="0"/>
              <a:t>버전대부터</a:t>
            </a:r>
            <a:r>
              <a:rPr lang="ko-KR" altLang="en-US" baseline="0" dirty="0" smtClean="0"/>
              <a:t> 평가 시스템을 바꾸면서 개선이 됐다고는 하는데</a:t>
            </a:r>
            <a:r>
              <a:rPr lang="en-US" altLang="ko-KR" baseline="0" dirty="0" smtClean="0"/>
              <a:t>, LLM </a:t>
            </a:r>
            <a:r>
              <a:rPr lang="ko-KR" altLang="en-US" baseline="0" dirty="0" smtClean="0"/>
              <a:t>구조 자체가 확률 기반으로 답을 하기 때문에 이런 문제는 생길 수 밖엔 없습니다</a:t>
            </a:r>
            <a:r>
              <a:rPr lang="en-US" altLang="ko-KR" baseline="0" dirty="0" smtClean="0"/>
              <a:t>.</a:t>
            </a:r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baseline="0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A65738-811D-4EF7-84D6-3D2F3B9F4AB8}" type="slidenum">
              <a:rPr lang="ko-KR" altLang="en-US" smtClean="0"/>
              <a:pPr/>
              <a:t>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3017842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b="1" dirty="0" smtClean="0"/>
              <a:t>##</a:t>
            </a:r>
            <a:r>
              <a:rPr lang="ko-KR" altLang="en-US" b="1" dirty="0" err="1" smtClean="0"/>
              <a:t>장표</a:t>
            </a:r>
            <a:r>
              <a:rPr lang="ko-KR" altLang="en-US" b="1" dirty="0" smtClean="0"/>
              <a:t> 목표</a:t>
            </a:r>
            <a:r>
              <a:rPr lang="en-US" altLang="ko-KR" b="1" dirty="0" smtClean="0"/>
              <a:t>##</a:t>
            </a:r>
          </a:p>
          <a:p>
            <a:r>
              <a:rPr lang="ko-KR" altLang="en-US" dirty="0" smtClean="0"/>
              <a:t>내용입력</a:t>
            </a:r>
            <a:endParaRPr lang="en-US" altLang="ko-KR" dirty="0" smtClean="0"/>
          </a:p>
          <a:p>
            <a:endParaRPr lang="en-US" altLang="ko-KR" dirty="0" smtClean="0"/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b="1" dirty="0" smtClean="0"/>
              <a:t>##</a:t>
            </a:r>
            <a:r>
              <a:rPr lang="ko-KR" altLang="en-US" b="1" dirty="0" smtClean="0"/>
              <a:t>내용</a:t>
            </a:r>
            <a:r>
              <a:rPr lang="en-US" altLang="ko-KR" b="1" dirty="0" smtClean="0"/>
              <a:t>##</a:t>
            </a:r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 smtClean="0"/>
              <a:t>보통 </a:t>
            </a:r>
            <a:r>
              <a:rPr lang="en-US" altLang="ko-KR" dirty="0" smtClean="0"/>
              <a:t>Agent </a:t>
            </a:r>
            <a:r>
              <a:rPr lang="ko-KR" altLang="en-US" dirty="0" smtClean="0"/>
              <a:t>서비스를 개발한다고 하면 화면에 보이는 서비스들을 주로 개발을 합니다</a:t>
            </a:r>
            <a:r>
              <a:rPr lang="en-US" altLang="ko-KR" dirty="0" smtClean="0"/>
              <a:t>.</a:t>
            </a:r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 smtClean="0"/>
              <a:t>우리가 기존에 </a:t>
            </a:r>
            <a:r>
              <a:rPr lang="en-US" altLang="ko-KR" dirty="0" smtClean="0"/>
              <a:t>SQL</a:t>
            </a:r>
            <a:r>
              <a:rPr lang="ko-KR" altLang="en-US" dirty="0" smtClean="0"/>
              <a:t>이라고 하는 언어로 </a:t>
            </a:r>
            <a:r>
              <a:rPr lang="en-US" altLang="ko-KR" dirty="0" smtClean="0"/>
              <a:t>DB</a:t>
            </a:r>
            <a:r>
              <a:rPr lang="ko-KR" altLang="en-US" dirty="0" smtClean="0"/>
              <a:t>의 정보를 조회했던걸</a:t>
            </a:r>
            <a:r>
              <a:rPr lang="en-US" altLang="ko-KR" dirty="0" smtClean="0"/>
              <a:t>, </a:t>
            </a:r>
            <a:r>
              <a:rPr lang="ko-KR" altLang="en-US" dirty="0" smtClean="0"/>
              <a:t>자연어 기반으로 </a:t>
            </a:r>
            <a:r>
              <a:rPr lang="en-US" altLang="ko-KR" dirty="0" smtClean="0"/>
              <a:t>SQL</a:t>
            </a:r>
            <a:r>
              <a:rPr lang="ko-KR" altLang="en-US" dirty="0" smtClean="0"/>
              <a:t>을 생성해주고 출력해주는 </a:t>
            </a:r>
            <a:r>
              <a:rPr lang="en-US" altLang="ko-KR" dirty="0" smtClean="0"/>
              <a:t>Agent.</a:t>
            </a:r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 smtClean="0"/>
              <a:t>다국어 문서를 번역해주고 요약해주는 </a:t>
            </a:r>
            <a:r>
              <a:rPr lang="en-US" altLang="ko-KR" dirty="0" smtClean="0"/>
              <a:t>Agent</a:t>
            </a:r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 err="1" smtClean="0"/>
              <a:t>코덱스나</a:t>
            </a:r>
            <a:r>
              <a:rPr lang="en-US" altLang="ko-KR" dirty="0" smtClean="0"/>
              <a:t>, </a:t>
            </a:r>
            <a:r>
              <a:rPr lang="ko-KR" altLang="en-US" dirty="0" smtClean="0"/>
              <a:t>오픈 코드</a:t>
            </a:r>
            <a:r>
              <a:rPr lang="en-US" altLang="ko-KR" dirty="0" smtClean="0"/>
              <a:t>, </a:t>
            </a:r>
            <a:r>
              <a:rPr lang="ko-KR" altLang="en-US" dirty="0" err="1" smtClean="0"/>
              <a:t>클로드</a:t>
            </a:r>
            <a:r>
              <a:rPr lang="ko-KR" altLang="en-US" dirty="0" smtClean="0"/>
              <a:t> 코드</a:t>
            </a:r>
            <a:r>
              <a:rPr lang="en-US" altLang="ko-KR" dirty="0" smtClean="0"/>
              <a:t>,</a:t>
            </a:r>
            <a:r>
              <a:rPr lang="en-US" altLang="ko-KR" baseline="0" dirty="0" smtClean="0"/>
              <a:t> IBM</a:t>
            </a:r>
            <a:r>
              <a:rPr lang="ko-KR" altLang="en-US" baseline="0" dirty="0" smtClean="0"/>
              <a:t>으로 치면 </a:t>
            </a:r>
            <a:r>
              <a:rPr lang="en-US" altLang="ko-KR" baseline="0" dirty="0" smtClean="0"/>
              <a:t>Bob</a:t>
            </a:r>
            <a:r>
              <a:rPr lang="ko-KR" altLang="en-US" baseline="0" dirty="0" smtClean="0"/>
              <a:t>같은 코드 </a:t>
            </a:r>
            <a:r>
              <a:rPr lang="ko-KR" altLang="en-US" baseline="0" dirty="0" err="1" smtClean="0"/>
              <a:t>어시스턴트가</a:t>
            </a:r>
            <a:r>
              <a:rPr lang="ko-KR" altLang="en-US" baseline="0" dirty="0" smtClean="0"/>
              <a:t> 있고</a:t>
            </a:r>
            <a:r>
              <a:rPr lang="en-US" altLang="ko-KR" baseline="0" dirty="0" smtClean="0"/>
              <a:t>.</a:t>
            </a:r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 smtClean="0"/>
              <a:t>보고서나 </a:t>
            </a:r>
            <a:r>
              <a:rPr lang="ko-KR" altLang="en-US" dirty="0" err="1" smtClean="0"/>
              <a:t>이메일의</a:t>
            </a:r>
            <a:r>
              <a:rPr lang="ko-KR" altLang="en-US" dirty="0" smtClean="0"/>
              <a:t> 초안을 작성해주는 </a:t>
            </a:r>
            <a:r>
              <a:rPr lang="en-US" altLang="ko-KR" dirty="0" smtClean="0"/>
              <a:t>Agent</a:t>
            </a:r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 smtClean="0"/>
              <a:t>상품 추천을 해주는 </a:t>
            </a:r>
            <a:r>
              <a:rPr lang="en-US" altLang="ko-KR" dirty="0" smtClean="0"/>
              <a:t>Agent, </a:t>
            </a:r>
            <a:r>
              <a:rPr lang="ko-KR" altLang="en-US" dirty="0" smtClean="0"/>
              <a:t>이미지</a:t>
            </a:r>
            <a:r>
              <a:rPr lang="en-US" altLang="ko-KR" dirty="0" smtClean="0"/>
              <a:t>/</a:t>
            </a:r>
            <a:r>
              <a:rPr lang="ko-KR" altLang="en-US" dirty="0" smtClean="0"/>
              <a:t>영상을 생성해주는 </a:t>
            </a:r>
            <a:r>
              <a:rPr lang="en-US" altLang="ko-KR" dirty="0" smtClean="0"/>
              <a:t>Agent </a:t>
            </a:r>
            <a:r>
              <a:rPr lang="ko-KR" altLang="en-US" dirty="0" smtClean="0"/>
              <a:t>보통 이런 서비스들 위주로 개발이 됩니다</a:t>
            </a:r>
            <a:r>
              <a:rPr lang="en-US" altLang="ko-KR" dirty="0" smtClean="0"/>
              <a:t>.</a:t>
            </a:r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 smtClean="0"/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 smtClean="0"/>
              <a:t>다만</a:t>
            </a:r>
            <a:r>
              <a:rPr lang="en-US" altLang="ko-KR" dirty="0" smtClean="0"/>
              <a:t>, </a:t>
            </a:r>
            <a:r>
              <a:rPr lang="ko-KR" altLang="en-US" dirty="0" smtClean="0"/>
              <a:t>해당 </a:t>
            </a:r>
            <a:r>
              <a:rPr lang="en-US" altLang="ko-KR" dirty="0" smtClean="0"/>
              <a:t>Agent</a:t>
            </a:r>
            <a:r>
              <a:rPr lang="ko-KR" altLang="en-US" dirty="0" smtClean="0"/>
              <a:t>들을 초기에 개발하는데 있어서 과제가 </a:t>
            </a:r>
            <a:r>
              <a:rPr lang="ko-KR" altLang="en-US" dirty="0" err="1" smtClean="0"/>
              <a:t>디테일하게</a:t>
            </a:r>
            <a:r>
              <a:rPr lang="ko-KR" altLang="en-US" dirty="0" smtClean="0"/>
              <a:t> 정의되지 않았습니다</a:t>
            </a:r>
            <a:r>
              <a:rPr lang="en-US" altLang="ko-KR" dirty="0" smtClean="0"/>
              <a:t>.</a:t>
            </a:r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 smtClean="0"/>
              <a:t>예를 들어</a:t>
            </a:r>
            <a:r>
              <a:rPr lang="en-US" altLang="ko-KR" dirty="0" smtClean="0"/>
              <a:t>, </a:t>
            </a:r>
            <a:r>
              <a:rPr lang="ko-KR" altLang="en-US" dirty="0" smtClean="0"/>
              <a:t>상품 추천 같은 경우에</a:t>
            </a:r>
            <a:r>
              <a:rPr lang="ko-KR" altLang="en-US" baseline="0" dirty="0" smtClean="0"/>
              <a:t> 단순히 상품의 정보만을 가지고  학습을 시키는 겁니다</a:t>
            </a:r>
            <a:r>
              <a:rPr lang="en-US" altLang="ko-KR" baseline="0" dirty="0" smtClean="0"/>
              <a:t>. </a:t>
            </a:r>
            <a:r>
              <a:rPr lang="ko-KR" altLang="en-US" baseline="0" dirty="0" smtClean="0"/>
              <a:t>파인 튜닝이 될 수도 있고</a:t>
            </a:r>
            <a:r>
              <a:rPr lang="en-US" altLang="ko-KR" baseline="0" dirty="0" smtClean="0"/>
              <a:t>, RAG </a:t>
            </a:r>
            <a:r>
              <a:rPr lang="ko-KR" altLang="en-US" baseline="0" dirty="0" smtClean="0"/>
              <a:t>기반으로 할 수도 있죠</a:t>
            </a:r>
            <a:r>
              <a:rPr lang="en-US" altLang="ko-KR" baseline="0" dirty="0" smtClean="0"/>
              <a:t>.</a:t>
            </a:r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baseline="0" dirty="0" smtClean="0"/>
              <a:t>그럼 결국 사용자가 어떤 상품에 대해 물어보면 단순히 상품에 대한 설명만 가능한 수준이 </a:t>
            </a:r>
            <a:r>
              <a:rPr lang="ko-KR" altLang="en-US" baseline="0" dirty="0" err="1" smtClean="0"/>
              <a:t>되는겁니다</a:t>
            </a:r>
            <a:r>
              <a:rPr lang="en-US" altLang="ko-KR" baseline="0" dirty="0" smtClean="0"/>
              <a:t>.</a:t>
            </a:r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baseline="0" dirty="0" smtClean="0"/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baseline="0" dirty="0" smtClean="0"/>
              <a:t>이렇게 초기에는 단순한 </a:t>
            </a:r>
            <a:r>
              <a:rPr lang="en-US" altLang="ko-KR" baseline="0" dirty="0" smtClean="0"/>
              <a:t>Agent</a:t>
            </a:r>
            <a:r>
              <a:rPr lang="ko-KR" altLang="en-US" baseline="0" dirty="0" smtClean="0"/>
              <a:t>로 개발이 되다 보니</a:t>
            </a:r>
            <a:r>
              <a:rPr lang="en-US" altLang="ko-KR" baseline="0" dirty="0" smtClean="0"/>
              <a:t>, </a:t>
            </a:r>
            <a:r>
              <a:rPr lang="ko-KR" altLang="en-US" baseline="0" dirty="0" smtClean="0"/>
              <a:t>정확도는 물론이고</a:t>
            </a:r>
            <a:r>
              <a:rPr lang="en-US" altLang="ko-KR" baseline="0" dirty="0" smtClean="0"/>
              <a:t>, </a:t>
            </a:r>
            <a:r>
              <a:rPr lang="ko-KR" altLang="en-US" baseline="0" dirty="0" err="1" smtClean="0"/>
              <a:t>활용성</a:t>
            </a:r>
            <a:r>
              <a:rPr lang="ko-KR" altLang="en-US" baseline="0" dirty="0" smtClean="0"/>
              <a:t> 측면에서는 당연히 떨어질 수 밖에 없습니다</a:t>
            </a:r>
            <a:r>
              <a:rPr lang="en-US" altLang="ko-KR" baseline="0" dirty="0" smtClean="0"/>
              <a:t>.</a:t>
            </a:r>
            <a:endParaRPr lang="en-US" altLang="ko-KR" dirty="0" smtClean="0"/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 err="1" smtClean="0"/>
              <a:t>생성형</a:t>
            </a:r>
            <a:r>
              <a:rPr lang="ko-KR" altLang="en-US" dirty="0" smtClean="0"/>
              <a:t> </a:t>
            </a:r>
            <a:r>
              <a:rPr lang="en-US" altLang="ko-KR" dirty="0" smtClean="0"/>
              <a:t>AI</a:t>
            </a:r>
            <a:r>
              <a:rPr lang="ko-KR" altLang="en-US" dirty="0" smtClean="0"/>
              <a:t>가 얼마나 똑똑한데</a:t>
            </a:r>
            <a:r>
              <a:rPr lang="en-US" altLang="ko-KR" dirty="0" smtClean="0"/>
              <a:t>, </a:t>
            </a:r>
            <a:r>
              <a:rPr lang="ko-KR" altLang="en-US" dirty="0" err="1" smtClean="0"/>
              <a:t>이정도의</a:t>
            </a:r>
            <a:r>
              <a:rPr lang="ko-KR" altLang="en-US" dirty="0" smtClean="0"/>
              <a:t> </a:t>
            </a:r>
            <a:r>
              <a:rPr lang="en-US" altLang="ko-KR" dirty="0" smtClean="0"/>
              <a:t>Agent</a:t>
            </a:r>
            <a:r>
              <a:rPr lang="ko-KR" altLang="en-US" dirty="0" smtClean="0"/>
              <a:t>만 개발이 되다 보니 기업에서는 서비스의 질을 향상시키기 위한 고민들을 하게 됩니다</a:t>
            </a:r>
            <a:r>
              <a:rPr lang="en-US" altLang="ko-KR" dirty="0" smtClean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A65738-811D-4EF7-84D6-3D2F3B9F4AB8}" type="slidenum">
              <a:rPr lang="ko-KR" altLang="en-US" smtClean="0"/>
              <a:pPr/>
              <a:t>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3085695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b="1" dirty="0" smtClean="0"/>
              <a:t>##</a:t>
            </a:r>
            <a:r>
              <a:rPr lang="ko-KR" altLang="en-US" b="1" dirty="0" err="1" smtClean="0"/>
              <a:t>장표</a:t>
            </a:r>
            <a:r>
              <a:rPr lang="ko-KR" altLang="en-US" b="1" dirty="0" smtClean="0"/>
              <a:t> 목표</a:t>
            </a:r>
            <a:r>
              <a:rPr lang="en-US" altLang="ko-KR" b="1" dirty="0" smtClean="0"/>
              <a:t>##</a:t>
            </a:r>
          </a:p>
          <a:p>
            <a:r>
              <a:rPr lang="ko-KR" altLang="en-US" dirty="0" smtClean="0"/>
              <a:t>내용입력</a:t>
            </a:r>
            <a:endParaRPr lang="en-US" altLang="ko-KR" dirty="0" smtClean="0"/>
          </a:p>
          <a:p>
            <a:endParaRPr lang="en-US" altLang="ko-KR" dirty="0" smtClean="0"/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b="1" dirty="0" smtClean="0"/>
              <a:t>##</a:t>
            </a:r>
            <a:r>
              <a:rPr lang="ko-KR" altLang="en-US" b="1" dirty="0" smtClean="0"/>
              <a:t>내용</a:t>
            </a:r>
            <a:r>
              <a:rPr lang="en-US" altLang="ko-KR" b="1" dirty="0" smtClean="0"/>
              <a:t>##</a:t>
            </a:r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 smtClean="0"/>
              <a:t>그래서 기업은 보다 나은 서비스를 위해 기존</a:t>
            </a:r>
            <a:r>
              <a:rPr lang="ko-KR" altLang="en-US" baseline="0" dirty="0" smtClean="0"/>
              <a:t> </a:t>
            </a:r>
            <a:r>
              <a:rPr lang="en-US" altLang="ko-KR" baseline="0" dirty="0" smtClean="0"/>
              <a:t>Agent</a:t>
            </a:r>
            <a:r>
              <a:rPr lang="ko-KR" altLang="en-US" baseline="0" dirty="0" smtClean="0"/>
              <a:t>의 한계점을 분석하고</a:t>
            </a:r>
            <a:r>
              <a:rPr lang="en-US" altLang="ko-KR" baseline="0" dirty="0" smtClean="0"/>
              <a:t>, </a:t>
            </a:r>
            <a:r>
              <a:rPr lang="ko-KR" altLang="en-US" baseline="0" dirty="0" smtClean="0"/>
              <a:t>범용적인 </a:t>
            </a:r>
            <a:r>
              <a:rPr lang="en-US" altLang="ko-KR" baseline="0" dirty="0" smtClean="0"/>
              <a:t>Agent</a:t>
            </a:r>
            <a:r>
              <a:rPr lang="ko-KR" altLang="en-US" baseline="0" dirty="0" smtClean="0"/>
              <a:t>가 아닌 업무에 특화된 </a:t>
            </a:r>
            <a:r>
              <a:rPr lang="en-US" altLang="ko-KR" baseline="0" dirty="0" smtClean="0"/>
              <a:t>Agent</a:t>
            </a:r>
            <a:r>
              <a:rPr lang="ko-KR" altLang="en-US" baseline="0" dirty="0" smtClean="0"/>
              <a:t>를 개발하는데 힘을 쓰고</a:t>
            </a:r>
            <a:endParaRPr lang="en-US" altLang="ko-KR" baseline="0" dirty="0" smtClean="0"/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baseline="0" dirty="0" smtClean="0"/>
              <a:t>최대한 많은 업무 내에서 </a:t>
            </a:r>
            <a:r>
              <a:rPr lang="en-US" altLang="ko-KR" baseline="0" dirty="0" smtClean="0"/>
              <a:t>AI </a:t>
            </a:r>
            <a:r>
              <a:rPr lang="ko-KR" altLang="en-US" baseline="0" dirty="0" smtClean="0"/>
              <a:t>서비스를 </a:t>
            </a:r>
            <a:r>
              <a:rPr lang="ko-KR" altLang="en-US" baseline="0" dirty="0" err="1" smtClean="0"/>
              <a:t>확대적용해서</a:t>
            </a:r>
            <a:r>
              <a:rPr lang="ko-KR" altLang="en-US" baseline="0" dirty="0" smtClean="0"/>
              <a:t> 전사적으로 </a:t>
            </a:r>
            <a:r>
              <a:rPr lang="en-US" altLang="ko-KR" baseline="0" dirty="0" smtClean="0"/>
              <a:t>AI</a:t>
            </a:r>
            <a:r>
              <a:rPr lang="ko-KR" altLang="en-US" baseline="0" dirty="0" smtClean="0"/>
              <a:t>를 사용할 수 있는 생태계를 </a:t>
            </a:r>
            <a:r>
              <a:rPr lang="ko-KR" altLang="en-US" baseline="0" dirty="0" err="1" smtClean="0"/>
              <a:t>만드려고</a:t>
            </a:r>
            <a:r>
              <a:rPr lang="ko-KR" altLang="en-US" baseline="0" dirty="0" smtClean="0"/>
              <a:t> 합니다</a:t>
            </a:r>
            <a:r>
              <a:rPr lang="en-US" altLang="ko-KR" baseline="0" dirty="0" smtClean="0"/>
              <a:t>.</a:t>
            </a:r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baseline="0" dirty="0" smtClean="0"/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baseline="0" dirty="0" smtClean="0"/>
              <a:t>여기서 우리는 </a:t>
            </a:r>
            <a:r>
              <a:rPr lang="ko-KR" altLang="en-US" baseline="0" dirty="0" err="1" smtClean="0"/>
              <a:t>오케스트레이션이라고</a:t>
            </a:r>
            <a:r>
              <a:rPr lang="ko-KR" altLang="en-US" baseline="0" dirty="0" smtClean="0"/>
              <a:t> 하는 개념을 필요로 하게 됩니다</a:t>
            </a:r>
            <a:r>
              <a:rPr lang="en-US" altLang="ko-KR" baseline="0" dirty="0" smtClean="0"/>
              <a:t>.</a:t>
            </a:r>
            <a:endParaRPr lang="en-US" altLang="ko-KR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A65738-811D-4EF7-84D6-3D2F3B9F4AB8}" type="slidenum">
              <a:rPr lang="ko-KR" altLang="en-US" smtClean="0"/>
              <a:pPr/>
              <a:t>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9200133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b="1" dirty="0" smtClean="0"/>
              <a:t>##</a:t>
            </a:r>
            <a:r>
              <a:rPr lang="ko-KR" altLang="en-US" b="1" dirty="0" err="1" smtClean="0"/>
              <a:t>장표</a:t>
            </a:r>
            <a:r>
              <a:rPr lang="ko-KR" altLang="en-US" b="1" dirty="0" smtClean="0"/>
              <a:t> 목표</a:t>
            </a:r>
            <a:r>
              <a:rPr lang="en-US" altLang="ko-KR" b="1" dirty="0" smtClean="0"/>
              <a:t>##</a:t>
            </a:r>
          </a:p>
          <a:p>
            <a:r>
              <a:rPr lang="ko-KR" altLang="en-US" dirty="0" smtClean="0"/>
              <a:t>내용입력</a:t>
            </a:r>
            <a:endParaRPr lang="en-US" altLang="ko-KR" dirty="0" smtClean="0"/>
          </a:p>
          <a:p>
            <a:endParaRPr lang="en-US" altLang="ko-KR" dirty="0" smtClean="0"/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b="1" dirty="0" smtClean="0"/>
              <a:t>##</a:t>
            </a:r>
            <a:r>
              <a:rPr lang="ko-KR" altLang="en-US" b="1" dirty="0" smtClean="0"/>
              <a:t>내용</a:t>
            </a:r>
            <a:r>
              <a:rPr lang="en-US" altLang="ko-KR" b="1" dirty="0" smtClean="0"/>
              <a:t>##</a:t>
            </a:r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baseline="0" dirty="0" err="1" smtClean="0"/>
              <a:t>오케스트레이션이라고</a:t>
            </a:r>
            <a:r>
              <a:rPr lang="ko-KR" altLang="en-US" baseline="0" dirty="0" smtClean="0"/>
              <a:t> </a:t>
            </a:r>
            <a:r>
              <a:rPr lang="ko-KR" altLang="en-US" baseline="0" dirty="0" err="1" smtClean="0"/>
              <a:t>하는게</a:t>
            </a:r>
            <a:r>
              <a:rPr lang="ko-KR" altLang="en-US" baseline="0" dirty="0" smtClean="0"/>
              <a:t> 여러 에이전트를 잘 조합해서 우리가 원하는 결과를 도출하는 과정이라고 말씀 드렸는데</a:t>
            </a:r>
            <a:r>
              <a:rPr lang="en-US" altLang="ko-KR" baseline="0" dirty="0" smtClean="0"/>
              <a:t>.</a:t>
            </a:r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baseline="0" dirty="0" smtClean="0"/>
              <a:t>기업은 </a:t>
            </a:r>
            <a:r>
              <a:rPr lang="ko-KR" altLang="en-US" baseline="0" dirty="0" err="1" smtClean="0"/>
              <a:t>오케스트레이션을</a:t>
            </a:r>
            <a:r>
              <a:rPr lang="ko-KR" altLang="en-US" baseline="0" dirty="0" smtClean="0"/>
              <a:t> 통해 기존의 </a:t>
            </a:r>
            <a:r>
              <a:rPr lang="en-US" altLang="ko-KR" baseline="0" dirty="0" smtClean="0"/>
              <a:t>Agent </a:t>
            </a:r>
            <a:r>
              <a:rPr lang="ko-KR" altLang="en-US" baseline="0" dirty="0" smtClean="0"/>
              <a:t>서비스를 확장시킬 수 있습니다</a:t>
            </a:r>
            <a:r>
              <a:rPr lang="en-US" altLang="ko-KR" baseline="0" dirty="0" smtClean="0"/>
              <a:t>.</a:t>
            </a:r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baseline="0" dirty="0" smtClean="0"/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baseline="0" dirty="0" smtClean="0"/>
              <a:t>Agent</a:t>
            </a:r>
            <a:r>
              <a:rPr lang="ko-KR" altLang="en-US" baseline="0" dirty="0" smtClean="0"/>
              <a:t>가 결국에는 기존의 업무를 수행할 수 있어야 하는데</a:t>
            </a:r>
            <a:r>
              <a:rPr lang="en-US" altLang="ko-KR" baseline="0" dirty="0" smtClean="0"/>
              <a:t>…</a:t>
            </a:r>
            <a:r>
              <a:rPr lang="ko-KR" altLang="en-US" baseline="0" dirty="0" smtClean="0"/>
              <a:t>문제점이 </a:t>
            </a:r>
            <a:r>
              <a:rPr lang="ko-KR" altLang="en-US" baseline="0" dirty="0" err="1" smtClean="0"/>
              <a:t>뭐냐면</a:t>
            </a:r>
            <a:r>
              <a:rPr lang="en-US" altLang="ko-KR" baseline="0" dirty="0" smtClean="0"/>
              <a:t>~</a:t>
            </a:r>
            <a:r>
              <a:rPr lang="ko-KR" altLang="en-US" baseline="0" dirty="0" smtClean="0"/>
              <a:t>최근 기업에서는 업무의 복잡성이 많이 증가했습니다</a:t>
            </a:r>
            <a:r>
              <a:rPr lang="en-US" altLang="ko-KR" baseline="0" dirty="0" smtClean="0"/>
              <a:t>.</a:t>
            </a:r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baseline="0" dirty="0" smtClean="0"/>
              <a:t>컴퓨팅 기술이 발전하면서 더 많은 데이터를 활용하게 되고</a:t>
            </a:r>
            <a:r>
              <a:rPr lang="en-US" altLang="ko-KR" baseline="0" dirty="0" smtClean="0"/>
              <a:t>, </a:t>
            </a:r>
            <a:r>
              <a:rPr lang="ko-KR" altLang="en-US" baseline="0" dirty="0" smtClean="0"/>
              <a:t>굉장히 다양한 시스템들이 유기적으로 작용하면서 프로세스가 복잡해지고 있습니다</a:t>
            </a:r>
            <a:r>
              <a:rPr lang="en-US" altLang="ko-KR" baseline="0" dirty="0" smtClean="0"/>
              <a:t>.</a:t>
            </a:r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baseline="0" dirty="0" smtClean="0"/>
              <a:t>그래서 당연하게도</a:t>
            </a:r>
            <a:r>
              <a:rPr lang="en-US" altLang="ko-KR" baseline="0" dirty="0" smtClean="0"/>
              <a:t>, </a:t>
            </a:r>
            <a:r>
              <a:rPr lang="ko-KR" altLang="en-US" baseline="0" dirty="0" smtClean="0"/>
              <a:t>기존 시스템의 문제점을 분석하고 원인파악을 해서 수정을 하는 단계 자체에 굉장히 많은 공수가 들어가게 되고</a:t>
            </a:r>
            <a:r>
              <a:rPr lang="en-US" altLang="ko-KR" baseline="0" dirty="0" smtClean="0"/>
              <a:t>, </a:t>
            </a:r>
            <a:r>
              <a:rPr lang="ko-KR" altLang="en-US" baseline="0" dirty="0" smtClean="0"/>
              <a:t>효율성 측면에서도 비효율적이게 됩니다</a:t>
            </a:r>
            <a:r>
              <a:rPr lang="en-US" altLang="ko-KR" baseline="0" dirty="0" smtClean="0"/>
              <a:t>.</a:t>
            </a:r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baseline="0" dirty="0" smtClean="0"/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baseline="0" dirty="0" smtClean="0"/>
              <a:t>그래서 단일 에이전트가 아니라 멀티 에이전트라고 하는 개념이 적용되게 됩니다</a:t>
            </a:r>
            <a:r>
              <a:rPr lang="en-US" altLang="ko-KR" baseline="0" dirty="0" smtClean="0"/>
              <a:t>. </a:t>
            </a:r>
            <a:r>
              <a:rPr lang="ko-KR" altLang="en-US" baseline="0" dirty="0" smtClean="0"/>
              <a:t>두 개의 차이는 뒤에서 설명을 드리도록 하겠고</a:t>
            </a:r>
            <a:r>
              <a:rPr lang="en-US" altLang="ko-KR" baseline="0" dirty="0" smtClean="0"/>
              <a:t>,</a:t>
            </a:r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baseline="0" dirty="0" smtClean="0"/>
              <a:t>굉장히 복잡한 프로세스를 단위 단위 업무로 나눠놓고 각각의 역할을 수행 할 수 있는 </a:t>
            </a:r>
            <a:r>
              <a:rPr lang="en-US" altLang="ko-KR" baseline="0" dirty="0" smtClean="0"/>
              <a:t>Agent</a:t>
            </a:r>
            <a:r>
              <a:rPr lang="ko-KR" altLang="en-US" baseline="0" dirty="0" smtClean="0"/>
              <a:t>를 별도로 개발하게 </a:t>
            </a:r>
            <a:r>
              <a:rPr lang="ko-KR" altLang="en-US" baseline="0" dirty="0" err="1" smtClean="0"/>
              <a:t>되는겁니다</a:t>
            </a:r>
            <a:r>
              <a:rPr lang="en-US" altLang="ko-KR" baseline="0" dirty="0" smtClean="0"/>
              <a:t>.</a:t>
            </a:r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baseline="0" dirty="0" smtClean="0"/>
              <a:t>복잡한 업무를 단위 역할로 나눴기 때문에 전문성이 올라가고 효율성이 향상되며</a:t>
            </a:r>
            <a:r>
              <a:rPr lang="en-US" altLang="ko-KR" baseline="0" dirty="0" smtClean="0"/>
              <a:t>, </a:t>
            </a:r>
            <a:r>
              <a:rPr lang="ko-KR" altLang="en-US" baseline="0" dirty="0" smtClean="0"/>
              <a:t>반복 가능한 프로세스를 구현하여 업무 자동화 처리가 가능해집니다</a:t>
            </a:r>
            <a:r>
              <a:rPr lang="en-US" altLang="ko-KR" baseline="0" dirty="0" smtClean="0"/>
              <a:t>.</a:t>
            </a:r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baseline="0" dirty="0" smtClean="0"/>
              <a:t>다만</a:t>
            </a:r>
            <a:r>
              <a:rPr lang="en-US" altLang="ko-KR" baseline="0" dirty="0" smtClean="0"/>
              <a:t>, </a:t>
            </a:r>
            <a:r>
              <a:rPr lang="ko-KR" altLang="en-US" baseline="0" dirty="0" smtClean="0"/>
              <a:t>이런 다양한 에이전트를 조율할 수 있는 별도 장치가 </a:t>
            </a:r>
            <a:r>
              <a:rPr lang="ko-KR" altLang="en-US" baseline="0" dirty="0" err="1" smtClean="0"/>
              <a:t>필요한거죠</a:t>
            </a:r>
            <a:r>
              <a:rPr lang="en-US" altLang="ko-KR" baseline="0" dirty="0" smtClean="0"/>
              <a:t>.</a:t>
            </a:r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baseline="0" dirty="0" smtClean="0"/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baseline="0" dirty="0" smtClean="0"/>
              <a:t>다음으로는 </a:t>
            </a:r>
            <a:r>
              <a:rPr lang="en-US" altLang="ko-KR" baseline="0" dirty="0" smtClean="0"/>
              <a:t>AI</a:t>
            </a:r>
            <a:r>
              <a:rPr lang="ko-KR" altLang="en-US" baseline="0" dirty="0" smtClean="0"/>
              <a:t> 생태계가 발전하고 확장하고 있습니다</a:t>
            </a:r>
            <a:r>
              <a:rPr lang="en-US" altLang="ko-KR" baseline="0" dirty="0" smtClean="0"/>
              <a:t>.</a:t>
            </a:r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baseline="0" dirty="0" smtClean="0"/>
              <a:t>초기에 </a:t>
            </a:r>
            <a:r>
              <a:rPr lang="en-US" altLang="ko-KR" baseline="0" dirty="0" smtClean="0"/>
              <a:t>AI </a:t>
            </a:r>
            <a:r>
              <a:rPr lang="ko-KR" altLang="en-US" baseline="0" dirty="0" smtClean="0"/>
              <a:t>전문 솔루션과 </a:t>
            </a:r>
            <a:r>
              <a:rPr lang="ko-KR" altLang="en-US" baseline="0" dirty="0" err="1" smtClean="0"/>
              <a:t>비교했을때</a:t>
            </a:r>
            <a:r>
              <a:rPr lang="ko-KR" altLang="en-US" baseline="0" dirty="0" smtClean="0"/>
              <a:t> 최근에는 다양한 </a:t>
            </a:r>
            <a:r>
              <a:rPr lang="en-US" altLang="ko-KR" baseline="0" dirty="0" smtClean="0"/>
              <a:t>Tool </a:t>
            </a:r>
            <a:r>
              <a:rPr lang="ko-KR" altLang="en-US" baseline="0" dirty="0" err="1" smtClean="0"/>
              <a:t>콜링을</a:t>
            </a:r>
            <a:r>
              <a:rPr lang="ko-KR" altLang="en-US" baseline="0" dirty="0" smtClean="0"/>
              <a:t> 통해 외부 </a:t>
            </a:r>
            <a:r>
              <a:rPr lang="en-US" altLang="ko-KR" baseline="0" dirty="0" smtClean="0"/>
              <a:t>API</a:t>
            </a:r>
            <a:r>
              <a:rPr lang="ko-KR" altLang="en-US" baseline="0" dirty="0" smtClean="0"/>
              <a:t>를 호출하거나 다양한 </a:t>
            </a:r>
            <a:r>
              <a:rPr lang="en-US" altLang="ko-KR" baseline="0" dirty="0" smtClean="0"/>
              <a:t>Function</a:t>
            </a:r>
            <a:r>
              <a:rPr lang="ko-KR" altLang="en-US" baseline="0" dirty="0" smtClean="0"/>
              <a:t>을 통해 외부 시스템과도 원활하게 연동할 수 있습니다</a:t>
            </a:r>
            <a:r>
              <a:rPr lang="en-US" altLang="ko-KR" baseline="0" dirty="0" smtClean="0"/>
              <a:t>.</a:t>
            </a:r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baseline="0" dirty="0" smtClean="0"/>
              <a:t>또한</a:t>
            </a:r>
            <a:r>
              <a:rPr lang="en-US" altLang="ko-KR" baseline="0" dirty="0" smtClean="0"/>
              <a:t>,</a:t>
            </a:r>
            <a:r>
              <a:rPr lang="ko-KR" altLang="en-US" baseline="0" dirty="0" smtClean="0"/>
              <a:t> </a:t>
            </a:r>
            <a:r>
              <a:rPr lang="en-US" altLang="ko-KR" baseline="0" dirty="0" smtClean="0"/>
              <a:t>MCP</a:t>
            </a:r>
            <a:r>
              <a:rPr lang="ko-KR" altLang="en-US" baseline="0" dirty="0" smtClean="0"/>
              <a:t>를 통해 서비스 확장성도 뛰어나고</a:t>
            </a:r>
            <a:r>
              <a:rPr lang="en-US" altLang="ko-KR" baseline="0" dirty="0" smtClean="0"/>
              <a:t>, </a:t>
            </a:r>
            <a:r>
              <a:rPr lang="ko-KR" altLang="en-US" baseline="0" dirty="0" smtClean="0"/>
              <a:t>파인 튜닝이나 </a:t>
            </a:r>
            <a:r>
              <a:rPr lang="en-US" altLang="ko-KR" baseline="0" dirty="0" smtClean="0"/>
              <a:t>RAG</a:t>
            </a:r>
            <a:r>
              <a:rPr lang="ko-KR" altLang="en-US" baseline="0" dirty="0" smtClean="0"/>
              <a:t>와 같은 기능도 세부적으로 제공합니다</a:t>
            </a:r>
            <a:r>
              <a:rPr lang="en-US" altLang="ko-KR" baseline="0" dirty="0" smtClean="0"/>
              <a:t>.</a:t>
            </a:r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baseline="0" dirty="0" smtClean="0"/>
              <a:t>그 외에도 </a:t>
            </a:r>
            <a:r>
              <a:rPr lang="en-US" altLang="ko-KR" baseline="0" dirty="0" smtClean="0"/>
              <a:t>Agent</a:t>
            </a:r>
            <a:r>
              <a:rPr lang="ko-KR" altLang="en-US" baseline="0" dirty="0" smtClean="0"/>
              <a:t>를 평가하고 배포해서 관리하는 기능들도 늘어나는 등 새로운 기술이 나오고 효율적인 도구들이 많이 지원되고 있습니다</a:t>
            </a:r>
            <a:r>
              <a:rPr lang="en-US" altLang="ko-KR" baseline="0" dirty="0" smtClean="0"/>
              <a:t>.</a:t>
            </a:r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baseline="0" dirty="0" smtClean="0"/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baseline="0" dirty="0" smtClean="0"/>
              <a:t>그에 따라서 다양한 기능들을 복합적으로 잘 협업하게 할 수 있는 </a:t>
            </a:r>
            <a:r>
              <a:rPr lang="ko-KR" altLang="en-US" baseline="0" dirty="0" err="1" smtClean="0"/>
              <a:t>오케스트레이션</a:t>
            </a:r>
            <a:r>
              <a:rPr lang="ko-KR" altLang="en-US" baseline="0" dirty="0" smtClean="0"/>
              <a:t> 기능이 필수로 자리잡고 있습니다</a:t>
            </a:r>
            <a:r>
              <a:rPr lang="en-US" altLang="ko-KR" baseline="0" dirty="0" smtClean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A65738-811D-4EF7-84D6-3D2F3B9F4AB8}" type="slidenum">
              <a:rPr lang="ko-KR" altLang="en-US" smtClean="0"/>
              <a:pPr/>
              <a:t>10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195497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b="1" dirty="0" smtClean="0"/>
              <a:t>##</a:t>
            </a:r>
            <a:r>
              <a:rPr lang="ko-KR" altLang="en-US" b="1" dirty="0" err="1" smtClean="0"/>
              <a:t>장표</a:t>
            </a:r>
            <a:r>
              <a:rPr lang="ko-KR" altLang="en-US" b="1" dirty="0" smtClean="0"/>
              <a:t> 목표</a:t>
            </a:r>
            <a:r>
              <a:rPr lang="en-US" altLang="ko-KR" b="1" dirty="0" smtClean="0"/>
              <a:t>##</a:t>
            </a:r>
          </a:p>
          <a:p>
            <a:r>
              <a:rPr lang="ko-KR" altLang="en-US" dirty="0" smtClean="0"/>
              <a:t>내용입력</a:t>
            </a:r>
            <a:endParaRPr lang="en-US" altLang="ko-KR" dirty="0" smtClean="0"/>
          </a:p>
          <a:p>
            <a:endParaRPr lang="en-US" altLang="ko-KR" dirty="0" smtClean="0"/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b="1" dirty="0" smtClean="0"/>
              <a:t>##</a:t>
            </a:r>
            <a:r>
              <a:rPr lang="ko-KR" altLang="en-US" b="1" dirty="0" smtClean="0"/>
              <a:t>내용</a:t>
            </a:r>
            <a:r>
              <a:rPr lang="en-US" altLang="ko-KR" b="1" dirty="0" smtClean="0"/>
              <a:t>##</a:t>
            </a:r>
          </a:p>
          <a:p>
            <a:r>
              <a:rPr lang="ko-KR" altLang="en-US" dirty="0" smtClean="0"/>
              <a:t>앞에서 제가 멀티 에이전트에 대해서 말씀을 드렸는데</a:t>
            </a:r>
            <a:r>
              <a:rPr lang="en-US" altLang="ko-KR" dirty="0" smtClean="0"/>
              <a:t>.</a:t>
            </a:r>
          </a:p>
          <a:p>
            <a:r>
              <a:rPr lang="ko-KR" altLang="en-US" dirty="0" smtClean="0"/>
              <a:t>멀티 </a:t>
            </a:r>
            <a:r>
              <a:rPr lang="ko-KR" altLang="en-US" dirty="0" err="1" smtClean="0"/>
              <a:t>에이전트라는게</a:t>
            </a:r>
            <a:r>
              <a:rPr lang="ko-KR" altLang="en-US" dirty="0" smtClean="0"/>
              <a:t> 결국에는 각각의 업무를 수행할 수 있는 여러 에이전트를 개발한다는 의미입니다</a:t>
            </a:r>
            <a:r>
              <a:rPr lang="en-US" altLang="ko-KR" dirty="0" smtClean="0"/>
              <a:t>.</a:t>
            </a:r>
          </a:p>
          <a:p>
            <a:r>
              <a:rPr lang="ko-KR" altLang="en-US" dirty="0" smtClean="0"/>
              <a:t>상품 추천 같은 경우에도 단순히 상품에 대한 정보를 학습한 하나의 </a:t>
            </a:r>
            <a:r>
              <a:rPr lang="en-US" altLang="ko-KR" dirty="0" smtClean="0"/>
              <a:t>Agent</a:t>
            </a:r>
            <a:r>
              <a:rPr lang="ko-KR" altLang="en-US" dirty="0" smtClean="0"/>
              <a:t>를 개발한다고 하면</a:t>
            </a:r>
            <a:r>
              <a:rPr lang="en-US" altLang="ko-KR" dirty="0" smtClean="0"/>
              <a:t>, </a:t>
            </a:r>
            <a:r>
              <a:rPr lang="ko-KR" altLang="en-US" dirty="0" smtClean="0"/>
              <a:t>그건 좌측처럼 단일 에이전트 </a:t>
            </a:r>
            <a:r>
              <a:rPr lang="ko-KR" altLang="en-US" dirty="0" err="1" smtClean="0"/>
              <a:t>인거고</a:t>
            </a:r>
            <a:r>
              <a:rPr lang="en-US" altLang="ko-KR" dirty="0" smtClean="0"/>
              <a:t>.</a:t>
            </a:r>
          </a:p>
          <a:p>
            <a:r>
              <a:rPr lang="ko-KR" altLang="en-US" dirty="0" smtClean="0"/>
              <a:t>결국 복잡한 </a:t>
            </a:r>
            <a:r>
              <a:rPr lang="ko-KR" altLang="en-US" dirty="0" err="1" smtClean="0"/>
              <a:t>업무같은</a:t>
            </a:r>
            <a:r>
              <a:rPr lang="ko-KR" altLang="en-US" dirty="0" smtClean="0"/>
              <a:t> 경우를 수행하는데 어려움이 있지만</a:t>
            </a:r>
            <a:r>
              <a:rPr lang="en-US" altLang="ko-KR" dirty="0" smtClean="0"/>
              <a:t>.</a:t>
            </a:r>
          </a:p>
          <a:p>
            <a:r>
              <a:rPr lang="ko-KR" altLang="en-US" dirty="0" smtClean="0"/>
              <a:t>이걸 여러 개의 </a:t>
            </a:r>
            <a:r>
              <a:rPr lang="en-US" altLang="ko-KR" dirty="0" smtClean="0"/>
              <a:t>Agent</a:t>
            </a:r>
            <a:r>
              <a:rPr lang="ko-KR" altLang="en-US" dirty="0" smtClean="0"/>
              <a:t>로 쪼개서 </a:t>
            </a:r>
            <a:r>
              <a:rPr lang="ko-KR" altLang="en-US" dirty="0" err="1" smtClean="0"/>
              <a:t>개발하는거죠</a:t>
            </a:r>
            <a:r>
              <a:rPr lang="en-US" altLang="ko-KR" dirty="0" smtClean="0"/>
              <a:t>.</a:t>
            </a:r>
          </a:p>
          <a:p>
            <a:r>
              <a:rPr lang="ko-KR" altLang="en-US" dirty="0" smtClean="0"/>
              <a:t>예를 들어</a:t>
            </a:r>
            <a:r>
              <a:rPr lang="en-US" altLang="ko-KR" dirty="0" smtClean="0"/>
              <a:t>, </a:t>
            </a:r>
            <a:r>
              <a:rPr lang="ko-KR" altLang="en-US" dirty="0" smtClean="0"/>
              <a:t>상품에 대한 정보만을 소개하는 </a:t>
            </a:r>
            <a:r>
              <a:rPr lang="en-US" altLang="ko-KR" dirty="0" smtClean="0"/>
              <a:t>Agent</a:t>
            </a:r>
            <a:r>
              <a:rPr lang="ko-KR" altLang="en-US" dirty="0" smtClean="0"/>
              <a:t>를 만들고</a:t>
            </a:r>
            <a:r>
              <a:rPr lang="en-US" altLang="ko-KR" dirty="0" smtClean="0"/>
              <a:t>. </a:t>
            </a:r>
            <a:r>
              <a:rPr lang="ko-KR" altLang="en-US" dirty="0" smtClean="0"/>
              <a:t>고객의 성향을 분석하는 </a:t>
            </a:r>
            <a:r>
              <a:rPr lang="en-US" altLang="ko-KR" dirty="0" smtClean="0"/>
              <a:t>Agent</a:t>
            </a:r>
            <a:r>
              <a:rPr lang="ko-KR" altLang="en-US" dirty="0" smtClean="0"/>
              <a:t>가 있고</a:t>
            </a:r>
            <a:r>
              <a:rPr lang="en-US" altLang="ko-KR" dirty="0" smtClean="0"/>
              <a:t>, </a:t>
            </a:r>
            <a:r>
              <a:rPr lang="ko-KR" altLang="en-US" dirty="0" smtClean="0"/>
              <a:t>상품의 재고를 알려주는 </a:t>
            </a:r>
            <a:r>
              <a:rPr lang="en-US" altLang="ko-KR" dirty="0" smtClean="0"/>
              <a:t>Agent</a:t>
            </a:r>
            <a:r>
              <a:rPr lang="ko-KR" altLang="en-US" dirty="0" smtClean="0"/>
              <a:t>가 있고</a:t>
            </a:r>
            <a:r>
              <a:rPr lang="en-US" altLang="ko-KR" dirty="0" smtClean="0"/>
              <a:t>, </a:t>
            </a:r>
            <a:r>
              <a:rPr lang="ko-KR" altLang="en-US" dirty="0" smtClean="0"/>
              <a:t>할인과 같은 이벤트</a:t>
            </a:r>
            <a:r>
              <a:rPr lang="en-US" altLang="ko-KR" dirty="0" smtClean="0"/>
              <a:t>/</a:t>
            </a:r>
            <a:r>
              <a:rPr lang="ko-KR" altLang="en-US" dirty="0" smtClean="0"/>
              <a:t>행사 정보를 제공하는 </a:t>
            </a:r>
            <a:r>
              <a:rPr lang="en-US" altLang="ko-KR" dirty="0" smtClean="0"/>
              <a:t>Agent</a:t>
            </a:r>
          </a:p>
          <a:p>
            <a:r>
              <a:rPr lang="en-US" altLang="ko-KR" dirty="0" smtClean="0"/>
              <a:t>, </a:t>
            </a:r>
            <a:r>
              <a:rPr lang="ko-KR" altLang="en-US" dirty="0" err="1" smtClean="0"/>
              <a:t>상담사</a:t>
            </a:r>
            <a:r>
              <a:rPr lang="ko-KR" altLang="en-US" dirty="0" smtClean="0"/>
              <a:t> 연결 </a:t>
            </a:r>
            <a:r>
              <a:rPr lang="en-US" altLang="ko-KR" dirty="0" smtClean="0"/>
              <a:t>Agent</a:t>
            </a:r>
            <a:r>
              <a:rPr lang="ko-KR" altLang="en-US" dirty="0" smtClean="0"/>
              <a:t>와 같이 다 따로 만드는 겁니다</a:t>
            </a:r>
            <a:r>
              <a:rPr lang="en-US" altLang="ko-KR" dirty="0" smtClean="0"/>
              <a:t>.</a:t>
            </a:r>
          </a:p>
          <a:p>
            <a:r>
              <a:rPr lang="ko-KR" altLang="en-US" dirty="0" smtClean="0"/>
              <a:t>이 에이전트를 하위 에이전트라고 부르게 되고</a:t>
            </a:r>
            <a:r>
              <a:rPr lang="en-US" altLang="ko-KR" dirty="0" smtClean="0"/>
              <a:t>, </a:t>
            </a:r>
            <a:r>
              <a:rPr lang="ko-KR" altLang="en-US" dirty="0" smtClean="0"/>
              <a:t>이 하위 에이전트를 통합해서 아우르는 하나의 에이전트를 만듭니다</a:t>
            </a:r>
            <a:r>
              <a:rPr lang="en-US" altLang="ko-KR" dirty="0" smtClean="0"/>
              <a:t>. </a:t>
            </a:r>
            <a:r>
              <a:rPr lang="ko-KR" altLang="en-US" dirty="0" smtClean="0"/>
              <a:t>이걸 우리는 리더 에이전트라고 부르는데</a:t>
            </a:r>
            <a:r>
              <a:rPr lang="en-US" altLang="ko-KR" dirty="0" smtClean="0"/>
              <a:t>.</a:t>
            </a:r>
          </a:p>
          <a:p>
            <a:endParaRPr lang="en-US" altLang="ko-KR" dirty="0" smtClean="0"/>
          </a:p>
          <a:p>
            <a:r>
              <a:rPr lang="ko-KR" altLang="en-US" dirty="0" smtClean="0"/>
              <a:t>사용자가 질의를 하면 그 질의의 의도를 리더 에이전트가 파악하게 됩니다</a:t>
            </a:r>
            <a:r>
              <a:rPr lang="en-US" altLang="ko-KR" dirty="0" smtClean="0"/>
              <a:t>.</a:t>
            </a:r>
          </a:p>
          <a:p>
            <a:r>
              <a:rPr lang="ko-KR" altLang="en-US" dirty="0" smtClean="0"/>
              <a:t>단순히 상품 문의만 하는지</a:t>
            </a:r>
            <a:r>
              <a:rPr lang="en-US" altLang="ko-KR" dirty="0" smtClean="0"/>
              <a:t>, </a:t>
            </a:r>
            <a:r>
              <a:rPr lang="ko-KR" altLang="en-US" dirty="0" smtClean="0"/>
              <a:t>환불을 원하는 고객인지</a:t>
            </a:r>
            <a:r>
              <a:rPr lang="en-US" altLang="ko-KR" dirty="0" smtClean="0"/>
              <a:t>…</a:t>
            </a:r>
            <a:r>
              <a:rPr lang="ko-KR" altLang="en-US" dirty="0" smtClean="0"/>
              <a:t>이런 의도 분류를 하고 그 의도에 맞게 해당 </a:t>
            </a:r>
            <a:r>
              <a:rPr lang="en-US" altLang="ko-KR" dirty="0" smtClean="0"/>
              <a:t>Agent</a:t>
            </a:r>
            <a:r>
              <a:rPr lang="ko-KR" altLang="en-US" dirty="0" smtClean="0"/>
              <a:t>를 호출하는 개념입니다</a:t>
            </a:r>
            <a:r>
              <a:rPr lang="en-US" altLang="ko-KR" dirty="0" smtClean="0"/>
              <a:t>.</a:t>
            </a:r>
          </a:p>
          <a:p>
            <a:endParaRPr lang="en-US" altLang="ko-KR" dirty="0" smtClean="0"/>
          </a:p>
          <a:p>
            <a:r>
              <a:rPr lang="ko-KR" altLang="en-US" dirty="0" smtClean="0"/>
              <a:t>즉</a:t>
            </a:r>
            <a:r>
              <a:rPr lang="en-US" altLang="ko-KR" dirty="0" smtClean="0"/>
              <a:t>, </a:t>
            </a:r>
            <a:r>
              <a:rPr lang="ko-KR" altLang="en-US" dirty="0" smtClean="0"/>
              <a:t>리더 에이전트는 사용자가 원하는 업무를 이해해서 업무를 하위 에이전트에게 분배하는 역할이고</a:t>
            </a:r>
            <a:r>
              <a:rPr lang="en-US" altLang="ko-KR" dirty="0" smtClean="0"/>
              <a:t>, </a:t>
            </a:r>
            <a:r>
              <a:rPr lang="ko-KR" altLang="en-US" dirty="0" smtClean="0"/>
              <a:t>하위 에이전트는 필요에 맞게 업무를 수행해서 결과를 반환하는 에이전트라고 보면 됩니다</a:t>
            </a:r>
            <a:r>
              <a:rPr lang="en-US" altLang="ko-KR" dirty="0" smtClean="0"/>
              <a:t>.</a:t>
            </a:r>
          </a:p>
          <a:p>
            <a:r>
              <a:rPr lang="ko-KR" altLang="en-US" dirty="0" smtClean="0"/>
              <a:t>리더 에이전트가 </a:t>
            </a:r>
            <a:r>
              <a:rPr lang="ko-KR" altLang="en-US" dirty="0" err="1" smtClean="0"/>
              <a:t>오케스트레이터가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되는거죠</a:t>
            </a:r>
            <a:r>
              <a:rPr lang="en-US" altLang="ko-KR" dirty="0" smtClean="0"/>
              <a:t>.</a:t>
            </a:r>
          </a:p>
          <a:p>
            <a:endParaRPr lang="en-US" altLang="ko-KR" dirty="0" smtClean="0"/>
          </a:p>
          <a:p>
            <a:r>
              <a:rPr lang="ko-KR" altLang="en-US" dirty="0" smtClean="0"/>
              <a:t>이렇게 </a:t>
            </a:r>
            <a:r>
              <a:rPr lang="ko-KR" altLang="en-US" dirty="0" err="1" smtClean="0"/>
              <a:t>디테일한</a:t>
            </a:r>
            <a:r>
              <a:rPr lang="ko-KR" altLang="en-US" dirty="0" smtClean="0"/>
              <a:t> 업무별로 에이전트를 </a:t>
            </a:r>
            <a:r>
              <a:rPr lang="ko-KR" altLang="en-US" dirty="0" err="1" smtClean="0"/>
              <a:t>구성하는게</a:t>
            </a:r>
            <a:r>
              <a:rPr lang="ko-KR" altLang="en-US" dirty="0" smtClean="0"/>
              <a:t> 전문성이나 정확도 향상에 좋고</a:t>
            </a:r>
            <a:r>
              <a:rPr lang="en-US" altLang="ko-KR" dirty="0" smtClean="0"/>
              <a:t>, </a:t>
            </a:r>
            <a:r>
              <a:rPr lang="ko-KR" altLang="en-US" dirty="0" err="1" smtClean="0"/>
              <a:t>재사용성이나</a:t>
            </a:r>
            <a:r>
              <a:rPr lang="ko-KR" altLang="en-US" dirty="0" smtClean="0"/>
              <a:t> 유지보수 측면에서도 당연히 용이할 수 밖에 없습니다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A65738-811D-4EF7-84D6-3D2F3B9F4AB8}" type="slidenum">
              <a:rPr lang="ko-KR" altLang="en-US" smtClean="0"/>
              <a:pPr/>
              <a:t>11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4914938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b="1" dirty="0" smtClean="0"/>
              <a:t>##</a:t>
            </a:r>
            <a:r>
              <a:rPr lang="ko-KR" altLang="en-US" b="1" dirty="0" err="1" smtClean="0"/>
              <a:t>장표</a:t>
            </a:r>
            <a:r>
              <a:rPr lang="ko-KR" altLang="en-US" b="1" dirty="0" smtClean="0"/>
              <a:t> 목표</a:t>
            </a:r>
            <a:r>
              <a:rPr lang="en-US" altLang="ko-KR" b="1" dirty="0" smtClean="0"/>
              <a:t>##</a:t>
            </a:r>
          </a:p>
          <a:p>
            <a:r>
              <a:rPr lang="ko-KR" altLang="en-US" dirty="0" smtClean="0"/>
              <a:t>내용입력</a:t>
            </a:r>
            <a:endParaRPr lang="en-US" altLang="ko-KR" dirty="0" smtClean="0"/>
          </a:p>
          <a:p>
            <a:endParaRPr lang="en-US" altLang="ko-KR" dirty="0" smtClean="0"/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b="1" dirty="0" smtClean="0"/>
              <a:t>##</a:t>
            </a:r>
            <a:r>
              <a:rPr lang="ko-KR" altLang="en-US" b="1" dirty="0" smtClean="0"/>
              <a:t>내용</a:t>
            </a:r>
            <a:r>
              <a:rPr lang="en-US" altLang="ko-KR" b="1" dirty="0" smtClean="0"/>
              <a:t>##</a:t>
            </a:r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 smtClean="0"/>
              <a:t>그럼 다음으로 </a:t>
            </a:r>
            <a:r>
              <a:rPr lang="ko-KR" altLang="en-US" dirty="0" err="1" smtClean="0"/>
              <a:t>오케스트레이션이</a:t>
            </a:r>
            <a:r>
              <a:rPr lang="ko-KR" altLang="en-US" dirty="0" smtClean="0"/>
              <a:t> 동작하는 구성에 대해서도 확인 해보겠습니다</a:t>
            </a:r>
            <a:r>
              <a:rPr lang="en-US" altLang="ko-KR" dirty="0" smtClean="0"/>
              <a:t>.</a:t>
            </a:r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 smtClean="0"/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 err="1" smtClean="0"/>
              <a:t>오케스트레이터가</a:t>
            </a:r>
            <a:r>
              <a:rPr lang="ko-KR" altLang="en-US" dirty="0" smtClean="0"/>
              <a:t> 조율해야 하는 구성 요소는 크게 </a:t>
            </a:r>
            <a:r>
              <a:rPr lang="en-US" altLang="ko-KR" dirty="0" smtClean="0"/>
              <a:t>3</a:t>
            </a:r>
            <a:r>
              <a:rPr lang="ko-KR" altLang="en-US" dirty="0" smtClean="0"/>
              <a:t>가지로 구분되는데</a:t>
            </a:r>
            <a:endParaRPr lang="en-US" altLang="ko-KR" dirty="0" smtClean="0"/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 smtClean="0"/>
              <a:t>첫 번째는 앞서 </a:t>
            </a:r>
            <a:r>
              <a:rPr lang="ko-KR" altLang="en-US" dirty="0" err="1" smtClean="0"/>
              <a:t>설명드린</a:t>
            </a:r>
            <a:r>
              <a:rPr lang="ko-KR" altLang="en-US" dirty="0" smtClean="0"/>
              <a:t> 하위 </a:t>
            </a:r>
            <a:r>
              <a:rPr lang="en-US" altLang="ko-KR" dirty="0" smtClean="0"/>
              <a:t>Agent</a:t>
            </a:r>
            <a:r>
              <a:rPr lang="ko-KR" altLang="en-US" dirty="0" smtClean="0"/>
              <a:t>들입니다</a:t>
            </a:r>
            <a:r>
              <a:rPr lang="en-US" altLang="ko-KR" dirty="0" smtClean="0"/>
              <a:t>.</a:t>
            </a:r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 smtClean="0"/>
              <a:t>각각의 세분화된 업무를 수행하는 </a:t>
            </a:r>
            <a:r>
              <a:rPr lang="en-US" altLang="ko-KR" dirty="0" smtClean="0"/>
              <a:t>Agent</a:t>
            </a:r>
            <a:r>
              <a:rPr lang="ko-KR" altLang="en-US" dirty="0" smtClean="0"/>
              <a:t>가 기본적으로 들어가고</a:t>
            </a:r>
            <a:r>
              <a:rPr lang="en-US" altLang="ko-KR" dirty="0" smtClean="0"/>
              <a:t>, </a:t>
            </a:r>
            <a:r>
              <a:rPr lang="ko-KR" altLang="en-US" dirty="0" smtClean="0"/>
              <a:t>그 외에도 </a:t>
            </a:r>
            <a:r>
              <a:rPr lang="en-US" altLang="ko-KR" dirty="0" smtClean="0"/>
              <a:t>Tool</a:t>
            </a:r>
            <a:r>
              <a:rPr lang="ko-KR" altLang="en-US" dirty="0" smtClean="0"/>
              <a:t>이 있습니다</a:t>
            </a:r>
            <a:r>
              <a:rPr lang="en-US" altLang="ko-KR" dirty="0" smtClean="0"/>
              <a:t>.</a:t>
            </a:r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 smtClean="0"/>
              <a:t>보통 툴 </a:t>
            </a:r>
            <a:r>
              <a:rPr lang="ko-KR" altLang="en-US" dirty="0" err="1" smtClean="0"/>
              <a:t>콜링이라고</a:t>
            </a:r>
            <a:r>
              <a:rPr lang="ko-KR" altLang="en-US" dirty="0" smtClean="0"/>
              <a:t> 부르는데</a:t>
            </a:r>
            <a:r>
              <a:rPr lang="en-US" altLang="ko-KR" dirty="0" smtClean="0"/>
              <a:t>. </a:t>
            </a:r>
            <a:r>
              <a:rPr lang="ko-KR" altLang="en-US" dirty="0" smtClean="0"/>
              <a:t>리더 에이전트가 업무를 수행하기 위해 수단이 되는 도구라고 보면 됩니다</a:t>
            </a:r>
            <a:r>
              <a:rPr lang="en-US" altLang="ko-KR" dirty="0" smtClean="0"/>
              <a:t>.</a:t>
            </a:r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 smtClean="0"/>
              <a:t>메일을 보내기 위해서는 메일과 관련된 툴이 필요할거고</a:t>
            </a:r>
            <a:r>
              <a:rPr lang="en-US" altLang="ko-KR" dirty="0" smtClean="0"/>
              <a:t>, </a:t>
            </a:r>
            <a:r>
              <a:rPr lang="ko-KR" altLang="en-US" dirty="0" smtClean="0"/>
              <a:t>검색을 하기 위해서는 검색 도구가 필요하겠죠</a:t>
            </a:r>
            <a:r>
              <a:rPr lang="en-US" altLang="ko-KR" dirty="0" smtClean="0"/>
              <a:t>.</a:t>
            </a:r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 err="1" smtClean="0"/>
              <a:t>왓슨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오케스트레이트에서는</a:t>
            </a:r>
            <a:r>
              <a:rPr lang="ko-KR" altLang="en-US" dirty="0" smtClean="0"/>
              <a:t> 툴을 등록하는 방법이 </a:t>
            </a:r>
            <a:r>
              <a:rPr lang="ko-KR" altLang="en-US" dirty="0" err="1" smtClean="0"/>
              <a:t>여러가지가</a:t>
            </a:r>
            <a:r>
              <a:rPr lang="ko-KR" altLang="en-US" dirty="0" smtClean="0"/>
              <a:t> 있지만</a:t>
            </a:r>
            <a:r>
              <a:rPr lang="en-US" altLang="ko-KR" dirty="0" smtClean="0"/>
              <a:t>, </a:t>
            </a:r>
            <a:r>
              <a:rPr lang="ko-KR" altLang="en-US" dirty="0" smtClean="0"/>
              <a:t>금번 실습에서는 오픈</a:t>
            </a:r>
            <a:r>
              <a:rPr lang="en-US" altLang="ko-KR" dirty="0" smtClean="0"/>
              <a:t>API</a:t>
            </a:r>
            <a:r>
              <a:rPr lang="ko-KR" altLang="en-US" dirty="0" smtClean="0"/>
              <a:t>를 통해서 기존에 만들어놓은 </a:t>
            </a:r>
            <a:r>
              <a:rPr lang="en-US" altLang="ko-KR" dirty="0" smtClean="0"/>
              <a:t>API</a:t>
            </a:r>
            <a:r>
              <a:rPr lang="ko-KR" altLang="en-US" dirty="0" smtClean="0"/>
              <a:t>를 호출하는 방식으로 대부분 진행 할 예정입니다</a:t>
            </a:r>
            <a:r>
              <a:rPr lang="en-US" altLang="ko-KR" dirty="0" smtClean="0"/>
              <a:t>.</a:t>
            </a:r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 smtClean="0"/>
              <a:t>그리고 마지막으로 날리지가 있죠</a:t>
            </a:r>
            <a:r>
              <a:rPr lang="en-US" altLang="ko-KR" dirty="0" smtClean="0"/>
              <a:t>.</a:t>
            </a:r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 smtClean="0"/>
              <a:t>우리가 흔히 </a:t>
            </a:r>
            <a:r>
              <a:rPr lang="en-US" altLang="ko-KR" dirty="0" smtClean="0"/>
              <a:t>Agent</a:t>
            </a:r>
            <a:r>
              <a:rPr lang="ko-KR" altLang="en-US" dirty="0" smtClean="0"/>
              <a:t>를 구축하는데 있어서 </a:t>
            </a:r>
            <a:r>
              <a:rPr lang="ko-KR" altLang="en-US" dirty="0" err="1" smtClean="0"/>
              <a:t>할루시네이션을</a:t>
            </a:r>
            <a:r>
              <a:rPr lang="ko-KR" altLang="en-US" dirty="0" smtClean="0"/>
              <a:t> 방지하기 위해 가장 많이 사용하는 방법이라고 보시면 됩니다</a:t>
            </a:r>
            <a:r>
              <a:rPr lang="en-US" altLang="ko-KR" dirty="0" smtClean="0"/>
              <a:t>.</a:t>
            </a:r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 smtClean="0"/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 smtClean="0"/>
              <a:t>앞서서 </a:t>
            </a:r>
            <a:r>
              <a:rPr lang="en-US" altLang="ko-KR" dirty="0" smtClean="0"/>
              <a:t>LLM</a:t>
            </a:r>
            <a:r>
              <a:rPr lang="ko-KR" altLang="en-US" dirty="0" smtClean="0"/>
              <a:t>은 범용 데이터로 학습한 모델이라고 말씀 드렸듯이</a:t>
            </a:r>
            <a:r>
              <a:rPr lang="en-US" altLang="ko-KR" dirty="0" smtClean="0"/>
              <a:t>, LLM</a:t>
            </a:r>
            <a:r>
              <a:rPr lang="ko-KR" altLang="en-US" dirty="0" smtClean="0"/>
              <a:t>이 학습하지 못한 내부 데이터를 별도 </a:t>
            </a:r>
            <a:r>
              <a:rPr lang="en-US" altLang="ko-KR" dirty="0" smtClean="0"/>
              <a:t>DB</a:t>
            </a:r>
            <a:r>
              <a:rPr lang="ko-KR" altLang="en-US" dirty="0" smtClean="0"/>
              <a:t>를 구축해놓고 </a:t>
            </a:r>
            <a:r>
              <a:rPr lang="en-US" altLang="ko-KR" dirty="0" smtClean="0"/>
              <a:t>LLM</a:t>
            </a:r>
            <a:r>
              <a:rPr lang="ko-KR" altLang="en-US" dirty="0" smtClean="0"/>
              <a:t>이 해당 </a:t>
            </a:r>
            <a:r>
              <a:rPr lang="en-US" altLang="ko-KR" dirty="0" smtClean="0"/>
              <a:t>DB</a:t>
            </a:r>
            <a:r>
              <a:rPr lang="ko-KR" altLang="en-US" dirty="0" smtClean="0"/>
              <a:t>에서 조회한 결과를 참고해서</a:t>
            </a:r>
            <a:endParaRPr lang="en-US" altLang="ko-KR" dirty="0" smtClean="0"/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 smtClean="0"/>
              <a:t>답변을 출력하는 구조라고 보시면 됩니다</a:t>
            </a:r>
            <a:r>
              <a:rPr lang="en-US" altLang="ko-KR" dirty="0" smtClean="0"/>
              <a:t>.</a:t>
            </a:r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 smtClean="0"/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 smtClean="0"/>
              <a:t>그래서 </a:t>
            </a:r>
            <a:r>
              <a:rPr lang="ko-KR" altLang="en-US" dirty="0" err="1" smtClean="0"/>
              <a:t>오케스트레이터는</a:t>
            </a:r>
            <a:r>
              <a:rPr lang="ko-KR" altLang="en-US" dirty="0" smtClean="0"/>
              <a:t> 해당 구성 요소들을 목적에 맞게 적절하게 사용해서 결과를 조합한다고 보시면 됩니다</a:t>
            </a:r>
            <a:r>
              <a:rPr lang="en-US" altLang="ko-KR" dirty="0" smtClean="0"/>
              <a:t>.</a:t>
            </a:r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 smtClean="0"/>
              <a:t>동작 흐름을 보면 처음에 사용자가 요청을 하면 요청에 대한 의도 파악을 하고</a:t>
            </a:r>
            <a:r>
              <a:rPr lang="en-US" altLang="ko-KR" dirty="0" smtClean="0"/>
              <a:t>,</a:t>
            </a:r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 smtClean="0"/>
              <a:t>그거에 맞게 목표를 세우게 계획을 세우게 됩니다</a:t>
            </a:r>
            <a:r>
              <a:rPr lang="en-US" altLang="ko-KR" dirty="0" smtClean="0"/>
              <a:t>.</a:t>
            </a:r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 smtClean="0"/>
              <a:t>각각의 목표를 수행하기 위해 필요한 </a:t>
            </a:r>
            <a:r>
              <a:rPr lang="en-US" altLang="ko-KR" dirty="0" smtClean="0"/>
              <a:t>Agent</a:t>
            </a:r>
            <a:r>
              <a:rPr lang="ko-KR" altLang="en-US" dirty="0" smtClean="0"/>
              <a:t>나 툴 혹은 날리지를 선택해서 실행하고</a:t>
            </a:r>
            <a:r>
              <a:rPr lang="en-US" altLang="ko-KR" dirty="0" smtClean="0"/>
              <a:t>, </a:t>
            </a:r>
            <a:r>
              <a:rPr lang="ko-KR" altLang="en-US" dirty="0" smtClean="0"/>
              <a:t>실행한 결과를 바탕으로 최종 응답을 제공하게 됩니다</a:t>
            </a:r>
            <a:r>
              <a:rPr lang="en-US" altLang="ko-KR" dirty="0" smtClean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A65738-811D-4EF7-84D6-3D2F3B9F4AB8}" type="slidenum">
              <a:rPr lang="ko-KR" altLang="en-US" smtClean="0"/>
              <a:pPr/>
              <a:t>12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1790589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b="1" dirty="0" smtClean="0"/>
              <a:t>##</a:t>
            </a:r>
            <a:r>
              <a:rPr lang="ko-KR" altLang="en-US" b="1" dirty="0" err="1" smtClean="0"/>
              <a:t>장표</a:t>
            </a:r>
            <a:r>
              <a:rPr lang="ko-KR" altLang="en-US" b="1" dirty="0" smtClean="0"/>
              <a:t> 목표</a:t>
            </a:r>
            <a:r>
              <a:rPr lang="en-US" altLang="ko-KR" b="1" dirty="0" smtClean="0"/>
              <a:t>##</a:t>
            </a:r>
          </a:p>
          <a:p>
            <a:r>
              <a:rPr lang="ko-KR" altLang="en-US" dirty="0" smtClean="0"/>
              <a:t>내용입력</a:t>
            </a:r>
            <a:endParaRPr lang="en-US" altLang="ko-KR" dirty="0" smtClean="0"/>
          </a:p>
          <a:p>
            <a:endParaRPr lang="en-US" altLang="ko-KR" dirty="0" smtClean="0"/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b="1" dirty="0" smtClean="0"/>
              <a:t>##</a:t>
            </a:r>
            <a:r>
              <a:rPr lang="ko-KR" altLang="en-US" b="1" dirty="0" smtClean="0"/>
              <a:t>내용</a:t>
            </a:r>
            <a:r>
              <a:rPr lang="en-US" altLang="ko-KR" b="1" dirty="0" smtClean="0"/>
              <a:t>##</a:t>
            </a:r>
          </a:p>
          <a:p>
            <a:r>
              <a:rPr lang="ko-KR" altLang="en-US" dirty="0" smtClean="0"/>
              <a:t>앞서 </a:t>
            </a:r>
            <a:r>
              <a:rPr lang="ko-KR" altLang="en-US" dirty="0" err="1" smtClean="0"/>
              <a:t>설명드린</a:t>
            </a:r>
            <a:r>
              <a:rPr lang="ko-KR" altLang="en-US" dirty="0" smtClean="0"/>
              <a:t> 구성 요소를 실행하고 조합하는 방법에는 </a:t>
            </a:r>
            <a:r>
              <a:rPr lang="ko-KR" altLang="en-US" dirty="0" err="1" smtClean="0"/>
              <a:t>여러가지가</a:t>
            </a:r>
            <a:r>
              <a:rPr lang="ko-KR" altLang="en-US" dirty="0" smtClean="0"/>
              <a:t> 있을 수 있습니다</a:t>
            </a:r>
            <a:r>
              <a:rPr lang="en-US" altLang="ko-KR" dirty="0" smtClean="0"/>
              <a:t>.</a:t>
            </a:r>
          </a:p>
          <a:p>
            <a:endParaRPr lang="en-US" altLang="ko-KR" dirty="0" smtClean="0"/>
          </a:p>
          <a:p>
            <a:r>
              <a:rPr lang="ko-KR" altLang="en-US" dirty="0" smtClean="0"/>
              <a:t>가장 기본이 되는 방법이 순차적 처리와 병렬 처리가 되겠습니다</a:t>
            </a:r>
            <a:r>
              <a:rPr lang="en-US" altLang="ko-KR" dirty="0" smtClean="0"/>
              <a:t>.</a:t>
            </a:r>
          </a:p>
          <a:p>
            <a:r>
              <a:rPr lang="ko-KR" altLang="en-US" dirty="0" smtClean="0"/>
              <a:t>순차적 처리는 업무가 진행되는 순서대로 기능들을 배치한 후 사용자 요청이 들어오면 그냥 순서대로 기능들을 실행시켜서 결과를 얻는 방식입니다</a:t>
            </a:r>
            <a:r>
              <a:rPr lang="en-US" altLang="ko-KR" dirty="0" smtClean="0"/>
              <a:t>.</a:t>
            </a:r>
          </a:p>
          <a:p>
            <a:r>
              <a:rPr lang="ko-KR" altLang="en-US" dirty="0" smtClean="0"/>
              <a:t>이렇게 처리할 수 있는 전제 조건은 업무가</a:t>
            </a:r>
            <a:r>
              <a:rPr lang="ko-KR" altLang="en-US" baseline="0" dirty="0" smtClean="0"/>
              <a:t> 선</a:t>
            </a:r>
            <a:r>
              <a:rPr lang="en-US" altLang="ko-KR" baseline="0" dirty="0" smtClean="0"/>
              <a:t>/</a:t>
            </a:r>
            <a:r>
              <a:rPr lang="ko-KR" altLang="en-US" baseline="0" dirty="0" smtClean="0"/>
              <a:t>후행 조건이 있을 때 가능합니다</a:t>
            </a:r>
            <a:r>
              <a:rPr lang="en-US" altLang="ko-KR" baseline="0" dirty="0" smtClean="0"/>
              <a:t>.</a:t>
            </a:r>
            <a:endParaRPr lang="en-US" altLang="ko-KR" dirty="0" smtClean="0"/>
          </a:p>
          <a:p>
            <a:r>
              <a:rPr lang="ko-KR" altLang="en-US" dirty="0" smtClean="0"/>
              <a:t>이때 </a:t>
            </a:r>
            <a:r>
              <a:rPr lang="ko-KR" altLang="en-US" dirty="0" err="1" smtClean="0"/>
              <a:t>중요한건</a:t>
            </a:r>
            <a:r>
              <a:rPr lang="ko-KR" altLang="en-US" dirty="0" smtClean="0"/>
              <a:t> 처음 실행된 도구가 다음에 실행해야 하는 도구의 </a:t>
            </a:r>
            <a:r>
              <a:rPr lang="en-US" altLang="ko-KR" dirty="0" smtClean="0"/>
              <a:t>Input</a:t>
            </a:r>
            <a:r>
              <a:rPr lang="ko-KR" altLang="en-US" dirty="0" smtClean="0"/>
              <a:t>으로 받아야 하니</a:t>
            </a:r>
            <a:r>
              <a:rPr lang="en-US" altLang="ko-KR" dirty="0" smtClean="0"/>
              <a:t>, </a:t>
            </a:r>
            <a:r>
              <a:rPr lang="ko-KR" altLang="en-US" dirty="0" smtClean="0"/>
              <a:t>그에 맞는 </a:t>
            </a:r>
            <a:r>
              <a:rPr lang="en-US" altLang="ko-KR" dirty="0" smtClean="0"/>
              <a:t>In/Output </a:t>
            </a:r>
            <a:r>
              <a:rPr lang="ko-KR" altLang="en-US" dirty="0" smtClean="0"/>
              <a:t>레이아웃 규칙을 잘 </a:t>
            </a:r>
            <a:r>
              <a:rPr lang="ko-KR" altLang="en-US" dirty="0" err="1" smtClean="0"/>
              <a:t>설정하는것이</a:t>
            </a:r>
            <a:r>
              <a:rPr lang="ko-KR" altLang="en-US" dirty="0" smtClean="0"/>
              <a:t> 중요하겠습니다</a:t>
            </a:r>
            <a:r>
              <a:rPr lang="en-US" altLang="ko-KR" dirty="0" smtClean="0"/>
              <a:t>.</a:t>
            </a:r>
          </a:p>
          <a:p>
            <a:r>
              <a:rPr lang="ko-KR" altLang="en-US" dirty="0" smtClean="0"/>
              <a:t>근데 이게 생각만큼 </a:t>
            </a:r>
            <a:r>
              <a:rPr lang="ko-KR" altLang="en-US" dirty="0" err="1" smtClean="0"/>
              <a:t>나이스하게</a:t>
            </a:r>
            <a:r>
              <a:rPr lang="ko-KR" altLang="en-US" dirty="0" smtClean="0"/>
              <a:t> 서로 통신이 </a:t>
            </a:r>
            <a:r>
              <a:rPr lang="ko-KR" altLang="en-US" dirty="0" err="1" smtClean="0"/>
              <a:t>안되는</a:t>
            </a:r>
            <a:r>
              <a:rPr lang="ko-KR" altLang="en-US" dirty="0" smtClean="0"/>
              <a:t> 부분이 있고</a:t>
            </a:r>
            <a:r>
              <a:rPr lang="en-US" altLang="ko-KR" dirty="0" smtClean="0"/>
              <a:t>, </a:t>
            </a:r>
            <a:r>
              <a:rPr lang="ko-KR" altLang="en-US" dirty="0" smtClean="0"/>
              <a:t>일반 자연어 기반으로 하게 되면 성능이 떨어지는 부분이 있어서 보통은 </a:t>
            </a:r>
            <a:r>
              <a:rPr lang="en-US" altLang="ko-KR" dirty="0" smtClean="0"/>
              <a:t>JSON</a:t>
            </a:r>
            <a:r>
              <a:rPr lang="ko-KR" altLang="en-US" dirty="0" smtClean="0"/>
              <a:t>형태로 많이 진행하게 됩니다</a:t>
            </a:r>
            <a:r>
              <a:rPr lang="en-US" altLang="ko-KR" dirty="0" smtClean="0"/>
              <a:t>.</a:t>
            </a:r>
          </a:p>
          <a:p>
            <a:endParaRPr lang="en-US" altLang="ko-KR" dirty="0" smtClean="0"/>
          </a:p>
          <a:p>
            <a:r>
              <a:rPr lang="ko-KR" altLang="en-US" dirty="0" smtClean="0"/>
              <a:t>병렬 처리는 하나의 업무를 각각의 도구가 동시에 처리해서 결과를 취합하는 구조입니다</a:t>
            </a:r>
            <a:r>
              <a:rPr lang="en-US" altLang="ko-KR" dirty="0" smtClean="0"/>
              <a:t>. </a:t>
            </a:r>
          </a:p>
          <a:p>
            <a:r>
              <a:rPr lang="ko-KR" altLang="en-US" dirty="0" smtClean="0"/>
              <a:t>여기서는 에이전트들 </a:t>
            </a:r>
            <a:r>
              <a:rPr lang="ko-KR" altLang="en-US" dirty="0" err="1" smtClean="0"/>
              <a:t>끼리의</a:t>
            </a:r>
            <a:r>
              <a:rPr lang="ko-KR" altLang="en-US" dirty="0" smtClean="0"/>
              <a:t> 개입 </a:t>
            </a:r>
            <a:r>
              <a:rPr lang="ko-KR" altLang="en-US" dirty="0" err="1" smtClean="0"/>
              <a:t>같은건</a:t>
            </a:r>
            <a:r>
              <a:rPr lang="ko-KR" altLang="en-US" dirty="0" smtClean="0"/>
              <a:t> 없고 단순히 독립적으로 일괄 처리되는 방식입니다</a:t>
            </a:r>
            <a:r>
              <a:rPr lang="en-US" altLang="ko-KR" dirty="0" smtClean="0"/>
              <a:t>. </a:t>
            </a:r>
            <a:r>
              <a:rPr lang="ko-KR" altLang="en-US" dirty="0" smtClean="0"/>
              <a:t>병렬 처리기 때문에 당연히 업무의 선</a:t>
            </a:r>
            <a:r>
              <a:rPr lang="en-US" altLang="ko-KR" dirty="0" smtClean="0"/>
              <a:t>/</a:t>
            </a:r>
            <a:r>
              <a:rPr lang="ko-KR" altLang="en-US" dirty="0" smtClean="0"/>
              <a:t>후행 관계는 </a:t>
            </a:r>
            <a:r>
              <a:rPr lang="ko-KR" altLang="en-US" dirty="0" err="1" smtClean="0"/>
              <a:t>없는거구요</a:t>
            </a:r>
            <a:r>
              <a:rPr lang="en-US" altLang="ko-KR" dirty="0" smtClean="0"/>
              <a:t>.</a:t>
            </a:r>
          </a:p>
          <a:p>
            <a:r>
              <a:rPr lang="ko-KR" altLang="en-US" dirty="0" smtClean="0"/>
              <a:t>예를 들어</a:t>
            </a:r>
            <a:r>
              <a:rPr lang="en-US" altLang="ko-KR" dirty="0" smtClean="0"/>
              <a:t>, </a:t>
            </a:r>
            <a:r>
              <a:rPr lang="ko-KR" altLang="en-US" dirty="0" smtClean="0"/>
              <a:t>내가 특정 인물을 검색한다고 </a:t>
            </a:r>
            <a:r>
              <a:rPr lang="ko-KR" altLang="en-US" dirty="0" err="1" smtClean="0"/>
              <a:t>했을때</a:t>
            </a:r>
            <a:r>
              <a:rPr lang="en-US" altLang="ko-KR" dirty="0" smtClean="0"/>
              <a:t>, </a:t>
            </a:r>
            <a:r>
              <a:rPr lang="ko-KR" altLang="en-US" dirty="0" err="1" smtClean="0"/>
              <a:t>위키피디아에서</a:t>
            </a:r>
            <a:r>
              <a:rPr lang="ko-KR" altLang="en-US" dirty="0" smtClean="0"/>
              <a:t> 검색을 하는 </a:t>
            </a:r>
            <a:r>
              <a:rPr lang="en-US" altLang="ko-KR" dirty="0" smtClean="0"/>
              <a:t>Agent,</a:t>
            </a:r>
            <a:r>
              <a:rPr lang="en-US" altLang="ko-KR" baseline="0" dirty="0" smtClean="0"/>
              <a:t> </a:t>
            </a:r>
            <a:r>
              <a:rPr lang="ko-KR" altLang="en-US" baseline="0" dirty="0" smtClean="0"/>
              <a:t>뉴스 기사에서 검색하는 </a:t>
            </a:r>
            <a:r>
              <a:rPr lang="en-US" altLang="ko-KR" baseline="0" dirty="0" smtClean="0"/>
              <a:t>Agent </a:t>
            </a:r>
            <a:r>
              <a:rPr lang="ko-KR" altLang="en-US" baseline="0" dirty="0" smtClean="0"/>
              <a:t>등 다양한 검색 </a:t>
            </a:r>
            <a:r>
              <a:rPr lang="en-US" altLang="ko-KR" baseline="0" dirty="0" smtClean="0"/>
              <a:t>Agent </a:t>
            </a:r>
            <a:r>
              <a:rPr lang="ko-KR" altLang="en-US" baseline="0" dirty="0" smtClean="0"/>
              <a:t>결과를 기반으로 내용을 정리하는 거라고 보시면 됨</a:t>
            </a:r>
            <a:r>
              <a:rPr lang="en-US" altLang="ko-KR" baseline="0" dirty="0" smtClean="0"/>
              <a:t>.</a:t>
            </a:r>
            <a:endParaRPr lang="en-US" altLang="ko-KR" dirty="0" smtClean="0"/>
          </a:p>
          <a:p>
            <a:endParaRPr lang="en-US" altLang="ko-KR" dirty="0" smtClean="0"/>
          </a:p>
          <a:p>
            <a:r>
              <a:rPr lang="ko-KR" altLang="en-US" dirty="0" err="1" smtClean="0"/>
              <a:t>세번째와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네번째는</a:t>
            </a:r>
            <a:r>
              <a:rPr lang="ko-KR" altLang="en-US" dirty="0" smtClean="0"/>
              <a:t> 비슷한 내용입니다</a:t>
            </a:r>
            <a:r>
              <a:rPr lang="en-US" altLang="ko-KR" dirty="0" smtClean="0"/>
              <a:t>.</a:t>
            </a:r>
          </a:p>
          <a:p>
            <a:r>
              <a:rPr lang="ko-KR" altLang="en-US" dirty="0" smtClean="0"/>
              <a:t>하위 에이전트들을 관리할 수 있는 중간의 관리자 역할을 하는 </a:t>
            </a:r>
            <a:r>
              <a:rPr lang="ko-KR" altLang="en-US" dirty="0" err="1" smtClean="0"/>
              <a:t>오케스트레이터가</a:t>
            </a:r>
            <a:r>
              <a:rPr lang="ko-KR" altLang="en-US" dirty="0" smtClean="0"/>
              <a:t> 존재하는 방안입니다</a:t>
            </a:r>
            <a:r>
              <a:rPr lang="en-US" altLang="ko-KR" dirty="0" smtClean="0"/>
              <a:t>.</a:t>
            </a:r>
          </a:p>
          <a:p>
            <a:r>
              <a:rPr lang="ko-KR" altLang="en-US" dirty="0" smtClean="0"/>
              <a:t>다만</a:t>
            </a:r>
            <a:r>
              <a:rPr lang="en-US" altLang="ko-KR" dirty="0" smtClean="0"/>
              <a:t>, </a:t>
            </a:r>
            <a:r>
              <a:rPr lang="ko-KR" altLang="en-US" dirty="0" smtClean="0"/>
              <a:t>단순히 업무를 나눠줄 뿐이냐</a:t>
            </a:r>
            <a:r>
              <a:rPr lang="en-US" altLang="ko-KR" dirty="0" smtClean="0"/>
              <a:t>, </a:t>
            </a:r>
            <a:r>
              <a:rPr lang="ko-KR" altLang="en-US" dirty="0" smtClean="0"/>
              <a:t>아니면 업무 전체를 관리하고 통제하는 역할을 하냐의 차이로 보시면 되겠습니다</a:t>
            </a:r>
            <a:r>
              <a:rPr lang="en-US" altLang="ko-KR" dirty="0" smtClean="0"/>
              <a:t>.</a:t>
            </a:r>
          </a:p>
          <a:p>
            <a:endParaRPr lang="en-US" altLang="ko-KR" dirty="0" smtClean="0"/>
          </a:p>
          <a:p>
            <a:r>
              <a:rPr lang="ko-KR" altLang="en-US" dirty="0" smtClean="0"/>
              <a:t>마지막으로 사람이 개입하는 방법도 있습니다</a:t>
            </a:r>
            <a:r>
              <a:rPr lang="en-US" altLang="ko-KR" dirty="0" smtClean="0"/>
              <a:t>.</a:t>
            </a:r>
          </a:p>
          <a:p>
            <a:r>
              <a:rPr lang="ko-KR" altLang="en-US" dirty="0" smtClean="0"/>
              <a:t>휴먼 </a:t>
            </a:r>
            <a:r>
              <a:rPr lang="ko-KR" altLang="en-US" dirty="0" err="1" smtClean="0"/>
              <a:t>인더루프</a:t>
            </a:r>
            <a:r>
              <a:rPr lang="ko-KR" altLang="en-US" dirty="0" smtClean="0"/>
              <a:t> 라고 </a:t>
            </a:r>
            <a:r>
              <a:rPr lang="en-US" altLang="ko-KR" dirty="0" smtClean="0"/>
              <a:t>HITL</a:t>
            </a:r>
            <a:r>
              <a:rPr lang="ko-KR" altLang="en-US" dirty="0" smtClean="0"/>
              <a:t>라고 하는 이 방법론은</a:t>
            </a:r>
            <a:r>
              <a:rPr lang="en-US" altLang="ko-KR" dirty="0" smtClean="0"/>
              <a:t>, </a:t>
            </a:r>
            <a:r>
              <a:rPr lang="ko-KR" altLang="en-US" dirty="0" smtClean="0"/>
              <a:t>모든걸 </a:t>
            </a:r>
            <a:r>
              <a:rPr lang="en-US" altLang="ko-KR" dirty="0" smtClean="0"/>
              <a:t>AI</a:t>
            </a:r>
            <a:r>
              <a:rPr lang="ko-KR" altLang="en-US" dirty="0" smtClean="0"/>
              <a:t>한테 맡겨서 </a:t>
            </a:r>
            <a:r>
              <a:rPr lang="ko-KR" altLang="en-US" dirty="0" err="1" smtClean="0"/>
              <a:t>진행하는게</a:t>
            </a:r>
            <a:r>
              <a:rPr lang="ko-KR" altLang="en-US" dirty="0" smtClean="0"/>
              <a:t> 아니라 중간 중간에 </a:t>
            </a:r>
            <a:r>
              <a:rPr lang="ko-KR" altLang="en-US" dirty="0" err="1" smtClean="0"/>
              <a:t>사용하가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컨펌을</a:t>
            </a:r>
            <a:r>
              <a:rPr lang="ko-KR" altLang="en-US" dirty="0" smtClean="0"/>
              <a:t> 한 번씩 할 수 있게 해주는 기능이라고 보시면 됩니다</a:t>
            </a:r>
            <a:r>
              <a:rPr lang="en-US" altLang="ko-KR" dirty="0" smtClean="0"/>
              <a:t>.</a:t>
            </a:r>
          </a:p>
          <a:p>
            <a:endParaRPr lang="en-US" altLang="ko-KR" dirty="0" smtClean="0"/>
          </a:p>
          <a:p>
            <a:r>
              <a:rPr lang="ko-KR" altLang="en-US" dirty="0" smtClean="0"/>
              <a:t>앞으로 진행 멀티 에이전트를 구현해야 할 때에는 보통 </a:t>
            </a:r>
            <a:r>
              <a:rPr lang="en-US" altLang="ko-KR" dirty="0" smtClean="0"/>
              <a:t>3,4</a:t>
            </a:r>
            <a:r>
              <a:rPr lang="ko-KR" altLang="en-US" dirty="0" smtClean="0"/>
              <a:t>번을 위주로 할 예정입니다</a:t>
            </a:r>
            <a:r>
              <a:rPr lang="en-US" altLang="ko-KR" dirty="0" smtClean="0"/>
              <a:t>.</a:t>
            </a:r>
          </a:p>
          <a:p>
            <a:r>
              <a:rPr lang="ko-KR" altLang="en-US" dirty="0" smtClean="0"/>
              <a:t>또한</a:t>
            </a:r>
            <a:r>
              <a:rPr lang="en-US" altLang="ko-KR" dirty="0" smtClean="0"/>
              <a:t>, </a:t>
            </a:r>
            <a:r>
              <a:rPr lang="ko-KR" altLang="en-US" dirty="0" smtClean="0"/>
              <a:t>마지막 실습에서는 </a:t>
            </a:r>
            <a:r>
              <a:rPr lang="en-US" altLang="ko-KR" dirty="0" smtClean="0"/>
              <a:t>HITL </a:t>
            </a:r>
            <a:r>
              <a:rPr lang="ko-KR" altLang="en-US" dirty="0" smtClean="0"/>
              <a:t>기능도 실습해볼 수 있는 시간이 있겠습니다</a:t>
            </a:r>
            <a:r>
              <a:rPr lang="en-US" altLang="ko-KR" dirty="0" smtClean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A65738-811D-4EF7-84D6-3D2F3B9F4AB8}" type="slidenum">
              <a:rPr lang="ko-KR" altLang="en-US" smtClean="0"/>
              <a:pPr/>
              <a:t>13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6351748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b="1" dirty="0" smtClean="0"/>
              <a:t>##</a:t>
            </a:r>
            <a:r>
              <a:rPr lang="ko-KR" altLang="en-US" b="1" dirty="0" err="1" smtClean="0"/>
              <a:t>장표</a:t>
            </a:r>
            <a:r>
              <a:rPr lang="ko-KR" altLang="en-US" b="1" dirty="0" smtClean="0"/>
              <a:t> 목표</a:t>
            </a:r>
            <a:r>
              <a:rPr lang="en-US" altLang="ko-KR" b="1" dirty="0" smtClean="0"/>
              <a:t>##</a:t>
            </a:r>
          </a:p>
          <a:p>
            <a:r>
              <a:rPr lang="ko-KR" altLang="en-US" dirty="0" smtClean="0"/>
              <a:t>내용입력</a:t>
            </a:r>
            <a:endParaRPr lang="en-US" altLang="ko-KR" dirty="0" smtClean="0"/>
          </a:p>
          <a:p>
            <a:endParaRPr lang="en-US" altLang="ko-KR" dirty="0" smtClean="0"/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b="1" dirty="0" smtClean="0"/>
              <a:t>##</a:t>
            </a:r>
            <a:r>
              <a:rPr lang="ko-KR" altLang="en-US" b="1" dirty="0" smtClean="0"/>
              <a:t>내용</a:t>
            </a:r>
            <a:r>
              <a:rPr lang="en-US" altLang="ko-KR" b="1" dirty="0" smtClean="0"/>
              <a:t>##</a:t>
            </a:r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 smtClean="0"/>
              <a:t>내용입력</a:t>
            </a:r>
            <a:endParaRPr lang="en-US" altLang="ko-KR" dirty="0" smtClean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A65738-811D-4EF7-84D6-3D2F3B9F4AB8}" type="slidenum">
              <a:rPr lang="ko-KR" altLang="en-US" smtClean="0"/>
              <a:pPr/>
              <a:t>14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676161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3982EEE6-4B8B-9CF1-970E-A05F86B8F9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41400" y="1066800"/>
            <a:ext cx="10109200" cy="2031366"/>
          </a:xfrm>
        </p:spPr>
        <p:txBody>
          <a:bodyPr anchor="ctr">
            <a:noAutofit/>
          </a:bodyPr>
          <a:lstStyle>
            <a:lvl1pPr algn="ctr">
              <a:defRPr sz="6600"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xmlns="" id="{5FA1A065-A8D6-181C-C987-5D0B177FF9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60320" y="3588068"/>
            <a:ext cx="7071360" cy="1209040"/>
          </a:xfrm>
        </p:spPr>
        <p:txBody>
          <a:bodyPr anchor="ctr"/>
          <a:lstStyle>
            <a:lvl1pPr marL="0" indent="0" algn="ctr">
              <a:buNone/>
              <a:defRPr sz="2400"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4A88C56B-780F-D3D9-65B3-17D72A8C66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fld id="{EB2414DC-744A-4468-A2FE-224BFE0DF7AA}" type="datetime1">
              <a:rPr lang="ko-KR" altLang="en-US" smtClean="0"/>
              <a:pPr/>
              <a:t>2026-07-07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C9FA7A08-EE88-ADFD-7845-42FBEC7880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3A9D3CA9-2F67-16C3-2401-26803707C2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fld id="{01677747-9B60-4934-B9E6-2AD58DACA65B}" type="slidenum">
              <a:rPr lang="ko-KR" altLang="en-US" smtClean="0"/>
              <a:pPr/>
              <a:t>‹#›</a:t>
            </a:fld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xmlns="" id="{4EA168E9-3947-C78D-822D-88B51590CFD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4226" y="140736"/>
            <a:ext cx="935704" cy="466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01427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날짜 개체 틀 2">
            <a:extLst>
              <a:ext uri="{FF2B5EF4-FFF2-40B4-BE49-F238E27FC236}">
                <a16:creationId xmlns:a16="http://schemas.microsoft.com/office/drawing/2014/main" xmlns="" id="{1AB28F36-E872-0CA0-C304-31C007C1B5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fld id="{B3596E9D-A653-4CB0-85EA-19AD962A2381}" type="datetime1">
              <a:rPr lang="ko-KR" altLang="en-US" smtClean="0"/>
              <a:pPr/>
              <a:t>2026-07-07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xmlns="" id="{962DC261-B29B-11C9-4F48-3725DFB1FD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xmlns="" id="{2E775000-9F44-5B93-2CAE-6F2A9F3F29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6050"/>
            <a:ext cx="2743200" cy="365125"/>
          </a:xfrm>
        </p:spPr>
        <p:txBody>
          <a:bodyPr/>
          <a:lstStyle>
            <a:lvl1pPr>
              <a:defRPr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fld id="{01677747-9B60-4934-B9E6-2AD58DACA65B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xmlns="" id="{C9D46595-7049-5D76-4393-8073F5922CF6}"/>
              </a:ext>
            </a:extLst>
          </p:cNvPr>
          <p:cNvSpPr/>
          <p:nvPr userDrawn="1"/>
        </p:nvSpPr>
        <p:spPr>
          <a:xfrm>
            <a:off x="0" y="1108906"/>
            <a:ext cx="12192000" cy="45719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x-none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xmlns="" id="{F3F40D0F-BF0B-E33E-5C28-41BB9742C357}"/>
              </a:ext>
            </a:extLst>
          </p:cNvPr>
          <p:cNvSpPr/>
          <p:nvPr userDrawn="1"/>
        </p:nvSpPr>
        <p:spPr>
          <a:xfrm>
            <a:off x="0" y="0"/>
            <a:ext cx="3329382" cy="6857999"/>
          </a:xfrm>
          <a:prstGeom prst="rect">
            <a:avLst/>
          </a:prstGeom>
          <a:solidFill>
            <a:srgbClr val="D1D1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4" name="Google Shape;57;p11">
            <a:extLst>
              <a:ext uri="{FF2B5EF4-FFF2-40B4-BE49-F238E27FC236}">
                <a16:creationId xmlns:a16="http://schemas.microsoft.com/office/drawing/2014/main" xmlns="" id="{56EF940A-4ADB-0A04-FE8C-B48D4B027420}"/>
              </a:ext>
            </a:extLst>
          </p:cNvPr>
          <p:cNvSpPr txBox="1">
            <a:spLocks/>
          </p:cNvSpPr>
          <p:nvPr userDrawn="1"/>
        </p:nvSpPr>
        <p:spPr>
          <a:xfrm>
            <a:off x="262912" y="1646005"/>
            <a:ext cx="2650638" cy="660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2523" tIns="56246" rIns="112523" bIns="56246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6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72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72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72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72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72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72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72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72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0" algn="l"/>
            <a:r>
              <a:rPr lang="en-US" altLang="ko-KR" sz="900" b="1" dirty="0">
                <a:solidFill>
                  <a:srgbClr val="67BDC6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400" b="1" dirty="0">
                <a:solidFill>
                  <a:srgbClr val="67BDC6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4000" b="1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Contents</a:t>
            </a:r>
            <a:endParaRPr lang="en-US" altLang="ko-KR" sz="2800" b="1" dirty="0">
              <a:solidFill>
                <a:srgbClr val="0070C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5" name="object 8">
            <a:extLst>
              <a:ext uri="{FF2B5EF4-FFF2-40B4-BE49-F238E27FC236}">
                <a16:creationId xmlns:a16="http://schemas.microsoft.com/office/drawing/2014/main" xmlns="" id="{BEE300F7-557F-EEB1-2A21-D32BA853C212}"/>
              </a:ext>
            </a:extLst>
          </p:cNvPr>
          <p:cNvSpPr/>
          <p:nvPr userDrawn="1"/>
        </p:nvSpPr>
        <p:spPr>
          <a:xfrm>
            <a:off x="313388" y="2239116"/>
            <a:ext cx="2439643" cy="45720"/>
          </a:xfrm>
          <a:custGeom>
            <a:avLst/>
            <a:gdLst/>
            <a:ahLst/>
            <a:cxnLst/>
            <a:rect l="l" t="t" r="r" b="b"/>
            <a:pathLst>
              <a:path w="1913254" h="139064">
                <a:moveTo>
                  <a:pt x="1890140" y="0"/>
                </a:moveTo>
                <a:lnTo>
                  <a:pt x="23113" y="0"/>
                </a:lnTo>
                <a:lnTo>
                  <a:pt x="14091" y="1825"/>
                </a:lnTo>
                <a:lnTo>
                  <a:pt x="6746" y="6794"/>
                </a:lnTo>
                <a:lnTo>
                  <a:pt x="1807" y="14144"/>
                </a:lnTo>
                <a:lnTo>
                  <a:pt x="0" y="23113"/>
                </a:lnTo>
                <a:lnTo>
                  <a:pt x="0" y="115824"/>
                </a:lnTo>
                <a:lnTo>
                  <a:pt x="1807" y="124793"/>
                </a:lnTo>
                <a:lnTo>
                  <a:pt x="6746" y="132143"/>
                </a:lnTo>
                <a:lnTo>
                  <a:pt x="14091" y="137112"/>
                </a:lnTo>
                <a:lnTo>
                  <a:pt x="23113" y="138937"/>
                </a:lnTo>
                <a:lnTo>
                  <a:pt x="1890140" y="138937"/>
                </a:lnTo>
                <a:lnTo>
                  <a:pt x="1899110" y="137112"/>
                </a:lnTo>
                <a:lnTo>
                  <a:pt x="1906460" y="132143"/>
                </a:lnTo>
                <a:lnTo>
                  <a:pt x="1911429" y="124793"/>
                </a:lnTo>
                <a:lnTo>
                  <a:pt x="1913254" y="115824"/>
                </a:lnTo>
                <a:lnTo>
                  <a:pt x="1913254" y="23113"/>
                </a:lnTo>
                <a:lnTo>
                  <a:pt x="1911429" y="14144"/>
                </a:lnTo>
                <a:lnTo>
                  <a:pt x="1906460" y="6794"/>
                </a:lnTo>
                <a:lnTo>
                  <a:pt x="1899110" y="1825"/>
                </a:lnTo>
                <a:lnTo>
                  <a:pt x="189014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wrap="square" lIns="0" tIns="0" rIns="0" bIns="0" rtlCol="0"/>
          <a:lstStyle/>
          <a:p>
            <a:endParaRPr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xmlns="" id="{D8C0B677-6707-7255-1BDE-695D40CC4C7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4226" y="140736"/>
            <a:ext cx="935704" cy="466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98580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xmlns="" id="{D4587352-32CB-2D49-2847-0F65778EB9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fld id="{E0336C20-627F-4ABC-9C08-F0CA7B195FBE}" type="datetime1">
              <a:rPr lang="ko-KR" altLang="en-US" smtClean="0"/>
              <a:pPr/>
              <a:t>2026-07-07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xmlns="" id="{2E92E951-FAE1-61D7-CEFB-E0B7CCDD0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xmlns="" id="{C065D2E9-9139-AB42-8A56-C8E3C2BD19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fld id="{01677747-9B60-4934-B9E6-2AD58DACA65B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xmlns="" id="{4A03F805-6717-5155-3B84-C882CBF12FA0}"/>
              </a:ext>
            </a:extLst>
          </p:cNvPr>
          <p:cNvSpPr/>
          <p:nvPr userDrawn="1"/>
        </p:nvSpPr>
        <p:spPr>
          <a:xfrm>
            <a:off x="0" y="655978"/>
            <a:ext cx="12192000" cy="45719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x-none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xmlns="" id="{F97ECFDD-BB78-324F-7A96-9DE21036A01C}"/>
              </a:ext>
            </a:extLst>
          </p:cNvPr>
          <p:cNvSpPr/>
          <p:nvPr userDrawn="1"/>
        </p:nvSpPr>
        <p:spPr>
          <a:xfrm>
            <a:off x="0" y="0"/>
            <a:ext cx="717847" cy="689219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x-none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" name="제목 1">
            <a:extLst>
              <a:ext uri="{FF2B5EF4-FFF2-40B4-BE49-F238E27FC236}">
                <a16:creationId xmlns:a16="http://schemas.microsoft.com/office/drawing/2014/main" xmlns="" id="{09C60F1F-D5D1-769C-6D87-DD872CC524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1973"/>
            <a:ext cx="7493000" cy="446432"/>
          </a:xfrm>
        </p:spPr>
        <p:txBody>
          <a:bodyPr>
            <a:normAutofit/>
          </a:bodyPr>
          <a:lstStyle>
            <a:lvl1pPr>
              <a:defRPr sz="2400"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xmlns="" id="{8105D7E9-EABB-166A-E1EE-35F69792C0A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4226" y="140736"/>
            <a:ext cx="935704" cy="466455"/>
          </a:xfrm>
          <a:prstGeom prst="rect">
            <a:avLst/>
          </a:prstGeom>
        </p:spPr>
      </p:pic>
      <p:sp>
        <p:nvSpPr>
          <p:cNvPr id="10" name="순서도: 추출 9">
            <a:extLst>
              <a:ext uri="{FF2B5EF4-FFF2-40B4-BE49-F238E27FC236}">
                <a16:creationId xmlns:a16="http://schemas.microsoft.com/office/drawing/2014/main" xmlns="" id="{34CBE85F-A970-B26B-DD8D-6775178B8B15}"/>
              </a:ext>
            </a:extLst>
          </p:cNvPr>
          <p:cNvSpPr/>
          <p:nvPr userDrawn="1"/>
        </p:nvSpPr>
        <p:spPr>
          <a:xfrm rot="5400000">
            <a:off x="79989" y="167690"/>
            <a:ext cx="462839" cy="351403"/>
          </a:xfrm>
          <a:prstGeom prst="flowChartExtra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87066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날짜 개체 틀 2">
            <a:extLst>
              <a:ext uri="{FF2B5EF4-FFF2-40B4-BE49-F238E27FC236}">
                <a16:creationId xmlns:a16="http://schemas.microsoft.com/office/drawing/2014/main" xmlns="" id="{1AB28F36-E872-0CA0-C304-31C007C1B5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fld id="{B3596E9D-A653-4CB0-85EA-19AD962A2381}" type="datetime1">
              <a:rPr lang="ko-KR" altLang="en-US" smtClean="0"/>
              <a:pPr/>
              <a:t>2026-07-07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xmlns="" id="{962DC261-B29B-11C9-4F48-3725DFB1FD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xmlns="" id="{2E775000-9F44-5B93-2CAE-6F2A9F3F29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6050"/>
            <a:ext cx="2743200" cy="365125"/>
          </a:xfrm>
        </p:spPr>
        <p:txBody>
          <a:bodyPr/>
          <a:lstStyle>
            <a:lvl1pPr>
              <a:defRPr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fld id="{01677747-9B60-4934-B9E6-2AD58DACA65B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xmlns="" id="{D43197A9-6C5F-4B4A-4A08-16620186CF1C}"/>
              </a:ext>
            </a:extLst>
          </p:cNvPr>
          <p:cNvSpPr/>
          <p:nvPr userDrawn="1"/>
        </p:nvSpPr>
        <p:spPr>
          <a:xfrm>
            <a:off x="321056" y="974222"/>
            <a:ext cx="11549888" cy="5627712"/>
          </a:xfrm>
          <a:prstGeom prst="rect">
            <a:avLst/>
          </a:prstGeom>
          <a:noFill/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x-none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xmlns="" id="{AADBA1BD-6023-57A1-DF23-131881F84D7D}"/>
              </a:ext>
            </a:extLst>
          </p:cNvPr>
          <p:cNvSpPr/>
          <p:nvPr userDrawn="1"/>
        </p:nvSpPr>
        <p:spPr>
          <a:xfrm>
            <a:off x="0" y="0"/>
            <a:ext cx="717847" cy="689219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x-none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xmlns="" id="{7403E7C3-4972-634A-5725-3D807D543DF5}"/>
              </a:ext>
            </a:extLst>
          </p:cNvPr>
          <p:cNvSpPr/>
          <p:nvPr userDrawn="1"/>
        </p:nvSpPr>
        <p:spPr>
          <a:xfrm>
            <a:off x="0" y="655978"/>
            <a:ext cx="12192000" cy="45719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x-none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2" name="제목 1">
            <a:extLst>
              <a:ext uri="{FF2B5EF4-FFF2-40B4-BE49-F238E27FC236}">
                <a16:creationId xmlns:a16="http://schemas.microsoft.com/office/drawing/2014/main" xmlns="" id="{11CC764D-0829-A34A-DAF9-86B007C5E3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1973"/>
            <a:ext cx="7493000" cy="446432"/>
          </a:xfrm>
        </p:spPr>
        <p:txBody>
          <a:bodyPr>
            <a:normAutofit/>
          </a:bodyPr>
          <a:lstStyle>
            <a:lvl1pPr>
              <a:defRPr sz="2400"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xmlns="" id="{506DD4A2-D526-61D6-E1CB-266955BA809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4226" y="140736"/>
            <a:ext cx="935704" cy="466455"/>
          </a:xfrm>
          <a:prstGeom prst="rect">
            <a:avLst/>
          </a:prstGeom>
        </p:spPr>
      </p:pic>
      <p:sp>
        <p:nvSpPr>
          <p:cNvPr id="14" name="순서도: 추출 13">
            <a:extLst>
              <a:ext uri="{FF2B5EF4-FFF2-40B4-BE49-F238E27FC236}">
                <a16:creationId xmlns:a16="http://schemas.microsoft.com/office/drawing/2014/main" xmlns="" id="{577CA9D2-8FD5-E8DE-4C20-0A11779BF840}"/>
              </a:ext>
            </a:extLst>
          </p:cNvPr>
          <p:cNvSpPr/>
          <p:nvPr userDrawn="1"/>
        </p:nvSpPr>
        <p:spPr>
          <a:xfrm rot="5400000">
            <a:off x="79989" y="167690"/>
            <a:ext cx="462839" cy="351403"/>
          </a:xfrm>
          <a:prstGeom prst="flowChartExtra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86097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xmlns="" id="{3B7AC7DD-FBBF-F463-CB21-A81CFAB967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xmlns="" id="{05547CAF-633D-F71D-2919-25B4036BCF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EEA5B7A8-8BAF-FDD7-803B-EA052519C75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fld id="{1AEF6987-8F77-4677-A65D-7ADC4ACA4C39}" type="datetime1">
              <a:rPr lang="ko-KR" altLang="en-US" smtClean="0"/>
              <a:pPr/>
              <a:t>2026-07-07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32097B71-14C8-287D-EDD7-4D180601F3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E7AC0ED4-096D-2FDC-3F8B-63AA0EE0D6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23400" y="64960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fld id="{01677747-9B60-4934-B9E6-2AD58DACA65B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921772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3" r:id="rId2"/>
    <p:sldLayoutId id="2147483662" r:id="rId3"/>
    <p:sldLayoutId id="2147483660" r:id="rId4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나눔고딕" panose="020D0604000000000000" pitchFamily="50" charset="-127"/>
          <a:ea typeface="나눔고딕" panose="020D0604000000000000" pitchFamily="50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나눔고딕" panose="020D0604000000000000" pitchFamily="50" charset="-127"/>
          <a:ea typeface="나눔고딕" panose="020D0604000000000000" pitchFamily="50" charset="-127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나눔고딕" panose="020D0604000000000000" pitchFamily="50" charset="-127"/>
          <a:ea typeface="나눔고딕" panose="020D0604000000000000" pitchFamily="50" charset="-127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나눔고딕" panose="020D0604000000000000" pitchFamily="50" charset="-127"/>
          <a:ea typeface="나눔고딕" panose="020D0604000000000000" pitchFamily="50" charset="-127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나눔고딕" panose="020D0604000000000000" pitchFamily="50" charset="-127"/>
          <a:ea typeface="나눔고딕" panose="020D0604000000000000" pitchFamily="50" charset="-127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나눔고딕" panose="020D0604000000000000" pitchFamily="50" charset="-127"/>
          <a:ea typeface="나눔고딕" panose="020D0604000000000000" pitchFamily="50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J-HO89/Education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F4756DE7-A321-E4D4-EAFA-8ECB1E9C81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6957" y="1493308"/>
            <a:ext cx="11298084" cy="2031366"/>
          </a:xfrm>
        </p:spPr>
        <p:txBody>
          <a:bodyPr/>
          <a:lstStyle/>
          <a:p>
            <a:r>
              <a:rPr lang="en-US" altLang="ko-KR" sz="4800" b="1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Agentic AI Workflow </a:t>
            </a:r>
            <a:r>
              <a:rPr lang="en-US" altLang="ko-KR" sz="4800" b="1" dirty="0" smtClean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Automation</a:t>
            </a:r>
            <a:br>
              <a:rPr lang="en-US" altLang="ko-KR" sz="4800" b="1" dirty="0" smtClean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</a:br>
            <a:r>
              <a:rPr lang="en-US" altLang="ko-KR" sz="4000" dirty="0" smtClean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(Agent Orchestration </a:t>
            </a:r>
            <a:r>
              <a:rPr lang="ko-KR" altLang="en-US" sz="4000" dirty="0" smtClean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이해</a:t>
            </a:r>
            <a:r>
              <a:rPr lang="en-US" altLang="ko-KR" sz="4000" dirty="0" smtClean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)</a:t>
            </a:r>
            <a:endParaRPr lang="ko-KR" altLang="en-US" sz="40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xmlns="" id="{70F5C2F6-B3AA-C259-D490-B062E8DF64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77747-9B60-4934-B9E6-2AD58DACA65B}" type="slidenum">
              <a:rPr lang="ko-KR" altLang="en-US" smtClean="0"/>
              <a:t>1</a:t>
            </a:fld>
            <a:endParaRPr lang="ko-KR" altLang="en-US"/>
          </a:p>
        </p:txBody>
      </p:sp>
      <p:sp>
        <p:nvSpPr>
          <p:cNvPr id="5" name="TextBox 3">
            <a:extLst>
              <a:ext uri="{FF2B5EF4-FFF2-40B4-BE49-F238E27FC236}">
                <a16:creationId xmlns:a16="http://schemas.microsoft.com/office/drawing/2014/main" xmlns="" id="{2155F35F-DEB2-15B5-1A61-D951F9DB00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4132" y="233812"/>
            <a:ext cx="308485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1pPr>
            <a:lvl2pPr marL="742950" indent="-285750" latinLnBrk="1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2pPr>
            <a:lvl3pPr marL="1143000" indent="-228600" latinLnBrk="1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3pPr>
            <a:lvl4pPr marL="1600200" indent="-228600" latinLnBrk="1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4pPr>
            <a:lvl5pPr marL="2057400" indent="-228600" latinLnBrk="1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9pPr>
          </a:lstStyle>
          <a:p>
            <a:pPr algn="ctr" eaLnBrk="1" hangingPunct="1"/>
            <a:r>
              <a:rPr lang="en-US" altLang="ko-KR" b="1" u="sng" dirty="0">
                <a:latin typeface="+mn-ea"/>
                <a:ea typeface="+mn-ea"/>
                <a:cs typeface="함초롬바탕" panose="02030504000101010101" pitchFamily="18" charset="-127"/>
              </a:rPr>
              <a:t>IBM </a:t>
            </a:r>
            <a:r>
              <a:rPr lang="ko-KR" altLang="en-US" b="1" u="sng" dirty="0">
                <a:latin typeface="+mn-ea"/>
                <a:ea typeface="+mn-ea"/>
                <a:cs typeface="함초롬바탕" panose="02030504000101010101" pitchFamily="18" charset="-127"/>
              </a:rPr>
              <a:t>대중소상생형 아카데미</a:t>
            </a:r>
          </a:p>
        </p:txBody>
      </p:sp>
      <p:pic>
        <p:nvPicPr>
          <p:cNvPr id="6" name="그림 5" descr="텍스트, 폰트, 로고, 그래픽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xmlns="" id="{72338572-65FD-3B56-3295-79F30E0321A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284" r="9284"/>
          <a:stretch>
            <a:fillRect/>
          </a:stretch>
        </p:blipFill>
        <p:spPr>
          <a:xfrm>
            <a:off x="4188055" y="5791200"/>
            <a:ext cx="1746008" cy="557968"/>
          </a:xfrm>
          <a:prstGeom prst="rect">
            <a:avLst/>
          </a:prstGeom>
        </p:spPr>
      </p:pic>
      <p:pic>
        <p:nvPicPr>
          <p:cNvPr id="7" name="그림 6" descr="폰트, 그래픽, 스크린샷, 타이포그래피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xmlns="" id="{88D086F5-FBAE-F610-B609-B3F3AACFC0A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2305" y="5922328"/>
            <a:ext cx="2362791" cy="30958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3CF590E9-2FD6-35FA-69E1-7DB71086E25D}"/>
              </a:ext>
            </a:extLst>
          </p:cNvPr>
          <p:cNvSpPr txBox="1"/>
          <p:nvPr/>
        </p:nvSpPr>
        <p:spPr>
          <a:xfrm>
            <a:off x="4862050" y="3849055"/>
            <a:ext cx="24678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(</a:t>
            </a:r>
            <a:r>
              <a:rPr lang="ko-KR" altLang="en-US" dirty="0"/>
              <a:t>교  재</a:t>
            </a:r>
            <a:r>
              <a:rPr lang="en-US" altLang="ko-KR" dirty="0"/>
              <a:t>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835437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B32C4ABC-9C7E-6E69-BE48-42A1AAF432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xmlns="" id="{6164C761-4ADE-BD6F-7B52-CA2F8A659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77747-9B60-4934-B9E6-2AD58DACA65B}" type="slidenum">
              <a:rPr lang="ko-KR" altLang="en-US" smtClean="0"/>
              <a:t>2</a:t>
            </a:fld>
            <a:endParaRPr lang="ko-KR" altLang="en-US"/>
          </a:p>
        </p:txBody>
      </p:sp>
      <p:sp>
        <p:nvSpPr>
          <p:cNvPr id="16" name="제목 15">
            <a:extLst>
              <a:ext uri="{FF2B5EF4-FFF2-40B4-BE49-F238E27FC236}">
                <a16:creationId xmlns:a16="http://schemas.microsoft.com/office/drawing/2014/main" xmlns="" id="{093C6880-74E1-D5B6-536D-4337B35DA7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교육소개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xmlns="" id="{ACAD8708-5CDA-5B9B-DC43-5C6CA6DEA18F}"/>
              </a:ext>
            </a:extLst>
          </p:cNvPr>
          <p:cNvSpPr/>
          <p:nvPr/>
        </p:nvSpPr>
        <p:spPr>
          <a:xfrm>
            <a:off x="311972" y="1359036"/>
            <a:ext cx="5604734" cy="218023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1. Agent Orchestration</a:t>
            </a:r>
            <a:r>
              <a:rPr lang="ko-KR" altLang="en-US" dirty="0" smtClean="0">
                <a:solidFill>
                  <a:schemeClr val="tx1"/>
                </a:solidFill>
              </a:rPr>
              <a:t>의 필요성을 이해한다</a:t>
            </a:r>
            <a:r>
              <a:rPr lang="en-US" altLang="ko-KR" dirty="0" smtClean="0">
                <a:solidFill>
                  <a:schemeClr val="tx1"/>
                </a:solidFill>
              </a:rPr>
              <a:t>.</a:t>
            </a:r>
          </a:p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2. </a:t>
            </a:r>
            <a:r>
              <a:rPr lang="en-US" altLang="ko-KR" dirty="0" err="1" smtClean="0">
                <a:solidFill>
                  <a:schemeClr val="tx1"/>
                </a:solidFill>
              </a:rPr>
              <a:t>Watsonx</a:t>
            </a:r>
            <a:r>
              <a:rPr lang="en-US" altLang="ko-KR" dirty="0" smtClean="0">
                <a:solidFill>
                  <a:schemeClr val="tx1"/>
                </a:solidFill>
              </a:rPr>
              <a:t> Orchestrate</a:t>
            </a:r>
            <a:r>
              <a:rPr lang="ko-KR" altLang="en-US" dirty="0" smtClean="0">
                <a:solidFill>
                  <a:schemeClr val="tx1"/>
                </a:solidFill>
              </a:rPr>
              <a:t>를 활용하여 </a:t>
            </a:r>
            <a:r>
              <a:rPr lang="en-US" altLang="ko-KR" dirty="0" smtClean="0">
                <a:solidFill>
                  <a:schemeClr val="tx1"/>
                </a:solidFill>
              </a:rPr>
              <a:t>Agent</a:t>
            </a:r>
            <a:r>
              <a:rPr lang="ko-KR" altLang="en-US" dirty="0" smtClean="0">
                <a:solidFill>
                  <a:schemeClr val="tx1"/>
                </a:solidFill>
              </a:rPr>
              <a:t>를 직접 설계하고 구성할</a:t>
            </a:r>
            <a:r>
              <a:rPr lang="en-US" altLang="ko-KR" dirty="0" smtClean="0">
                <a:solidFill>
                  <a:schemeClr val="tx1"/>
                </a:solidFill>
              </a:rPr>
              <a:t> </a:t>
            </a:r>
            <a:r>
              <a:rPr lang="ko-KR" altLang="en-US" dirty="0" smtClean="0">
                <a:solidFill>
                  <a:schemeClr val="tx1"/>
                </a:solidFill>
              </a:rPr>
              <a:t>수</a:t>
            </a:r>
            <a:r>
              <a:rPr lang="en-US" altLang="ko-KR" dirty="0" smtClean="0">
                <a:solidFill>
                  <a:schemeClr val="tx1"/>
                </a:solidFill>
              </a:rPr>
              <a:t> </a:t>
            </a:r>
            <a:r>
              <a:rPr lang="ko-KR" altLang="en-US" dirty="0" smtClean="0">
                <a:solidFill>
                  <a:schemeClr val="tx1"/>
                </a:solidFill>
              </a:rPr>
              <a:t>있다</a:t>
            </a:r>
            <a:r>
              <a:rPr lang="en-US" altLang="ko-KR" dirty="0" smtClean="0">
                <a:solidFill>
                  <a:schemeClr val="tx1"/>
                </a:solidFill>
              </a:rPr>
              <a:t>.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xmlns="" id="{A2206118-E758-E4CF-3D0A-2FB27107F026}"/>
              </a:ext>
            </a:extLst>
          </p:cNvPr>
          <p:cNvSpPr/>
          <p:nvPr/>
        </p:nvSpPr>
        <p:spPr>
          <a:xfrm>
            <a:off x="6221506" y="1359036"/>
            <a:ext cx="5604734" cy="218023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업 </a:t>
            </a:r>
            <a:r>
              <a:rPr lang="ko-KR" altLang="en-US" dirty="0" smtClean="0">
                <a:solidFill>
                  <a:schemeClr val="tx1"/>
                </a:solidFill>
              </a:rPr>
              <a:t>업무에 적합한 </a:t>
            </a:r>
            <a:r>
              <a:rPr lang="en-US" altLang="ko-KR" dirty="0" smtClean="0">
                <a:solidFill>
                  <a:schemeClr val="tx1"/>
                </a:solidFill>
              </a:rPr>
              <a:t>AI Agent</a:t>
            </a:r>
            <a:r>
              <a:rPr lang="ko-KR" altLang="en-US" dirty="0">
                <a:solidFill>
                  <a:schemeClr val="tx1"/>
                </a:solidFill>
              </a:rPr>
              <a:t> </a:t>
            </a:r>
            <a:r>
              <a:rPr lang="ko-KR" altLang="en-US" dirty="0" smtClean="0">
                <a:solidFill>
                  <a:schemeClr val="tx1"/>
                </a:solidFill>
              </a:rPr>
              <a:t>서비스를 설계하고 개발하여 </a:t>
            </a:r>
            <a:r>
              <a:rPr lang="en-US" altLang="ko-KR" dirty="0" smtClean="0">
                <a:solidFill>
                  <a:schemeClr val="tx1"/>
                </a:solidFill>
              </a:rPr>
              <a:t>AI </a:t>
            </a:r>
            <a:r>
              <a:rPr lang="ko-KR" altLang="en-US" dirty="0" smtClean="0">
                <a:solidFill>
                  <a:schemeClr val="tx1"/>
                </a:solidFill>
              </a:rPr>
              <a:t>서비스 품질과 생산성을 향상시킬 수 있다</a:t>
            </a:r>
            <a:r>
              <a:rPr lang="en-US" altLang="ko-KR" dirty="0" smtClean="0">
                <a:solidFill>
                  <a:schemeClr val="tx1"/>
                </a:solidFill>
              </a:rPr>
              <a:t>.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xmlns="" id="{4FF2F1D9-2375-9CA5-ADDC-BDF1F5A0AA97}"/>
              </a:ext>
            </a:extLst>
          </p:cNvPr>
          <p:cNvSpPr/>
          <p:nvPr/>
        </p:nvSpPr>
        <p:spPr>
          <a:xfrm>
            <a:off x="311972" y="4315820"/>
            <a:ext cx="5604734" cy="218023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 smtClean="0">
                <a:solidFill>
                  <a:schemeClr val="tx1"/>
                </a:solidFill>
              </a:rPr>
              <a:t>생성형</a:t>
            </a:r>
            <a:r>
              <a:rPr lang="ko-KR" altLang="en-US" dirty="0" smtClean="0">
                <a:solidFill>
                  <a:schemeClr val="tx1"/>
                </a:solidFill>
              </a:rPr>
              <a:t> </a:t>
            </a:r>
            <a:r>
              <a:rPr lang="en-US" altLang="ko-KR" dirty="0" smtClean="0">
                <a:solidFill>
                  <a:schemeClr val="tx1"/>
                </a:solidFill>
              </a:rPr>
              <a:t>AI</a:t>
            </a:r>
            <a:r>
              <a:rPr lang="ko-KR" altLang="en-US" dirty="0" smtClean="0">
                <a:solidFill>
                  <a:schemeClr val="tx1"/>
                </a:solidFill>
              </a:rPr>
              <a:t>의 기본 개념</a:t>
            </a:r>
            <a:endParaRPr lang="en-US" altLang="ko-KR" dirty="0" smtClean="0">
              <a:solidFill>
                <a:schemeClr val="tx1"/>
              </a:solidFill>
            </a:endParaRPr>
          </a:p>
          <a:p>
            <a:pPr algn="ctr"/>
            <a:endParaRPr lang="en-US" altLang="ko-KR" dirty="0">
              <a:solidFill>
                <a:schemeClr val="tx1"/>
              </a:solidFill>
            </a:endParaRPr>
          </a:p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IBM </a:t>
            </a:r>
            <a:r>
              <a:rPr lang="ko-KR" altLang="en-US" dirty="0" smtClean="0">
                <a:solidFill>
                  <a:schemeClr val="tx1"/>
                </a:solidFill>
              </a:rPr>
              <a:t>계정</a:t>
            </a:r>
            <a:r>
              <a:rPr lang="en-US" altLang="ko-KR" dirty="0" smtClean="0">
                <a:solidFill>
                  <a:schemeClr val="tx1"/>
                </a:solidFill>
              </a:rPr>
              <a:t>, </a:t>
            </a:r>
            <a:r>
              <a:rPr lang="en-US" altLang="ko-KR" dirty="0" err="1" smtClean="0">
                <a:solidFill>
                  <a:schemeClr val="tx1"/>
                </a:solidFill>
              </a:rPr>
              <a:t>Credly</a:t>
            </a:r>
            <a:r>
              <a:rPr lang="en-US" altLang="ko-KR" dirty="0" smtClean="0">
                <a:solidFill>
                  <a:schemeClr val="tx1"/>
                </a:solidFill>
              </a:rPr>
              <a:t> </a:t>
            </a:r>
            <a:r>
              <a:rPr lang="ko-KR" altLang="en-US" dirty="0" smtClean="0">
                <a:solidFill>
                  <a:schemeClr val="tx1"/>
                </a:solidFill>
              </a:rPr>
              <a:t>계정</a:t>
            </a:r>
            <a:r>
              <a:rPr lang="en-US" altLang="ko-KR" dirty="0" smtClean="0">
                <a:solidFill>
                  <a:schemeClr val="tx1"/>
                </a:solidFill>
              </a:rPr>
              <a:t>(</a:t>
            </a:r>
            <a:r>
              <a:rPr lang="ko-KR" altLang="en-US" dirty="0" err="1" smtClean="0">
                <a:solidFill>
                  <a:schemeClr val="tx1"/>
                </a:solidFill>
              </a:rPr>
              <a:t>뱃지</a:t>
            </a:r>
            <a:r>
              <a:rPr lang="ko-KR" altLang="en-US" dirty="0" smtClean="0">
                <a:solidFill>
                  <a:schemeClr val="tx1"/>
                </a:solidFill>
              </a:rPr>
              <a:t> 취득</a:t>
            </a:r>
            <a:r>
              <a:rPr lang="en-US" altLang="ko-KR" dirty="0" smtClean="0">
                <a:solidFill>
                  <a:schemeClr val="tx1"/>
                </a:solidFill>
              </a:rPr>
              <a:t>)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xmlns="" id="{11E32D74-1E37-6FC8-0FD3-2400B589DBA9}"/>
              </a:ext>
            </a:extLst>
          </p:cNvPr>
          <p:cNvSpPr/>
          <p:nvPr/>
        </p:nvSpPr>
        <p:spPr>
          <a:xfrm>
            <a:off x="6221506" y="4315818"/>
            <a:ext cx="5604734" cy="2180231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 smtClean="0">
                <a:solidFill>
                  <a:schemeClr val="tx1"/>
                </a:solidFill>
              </a:rPr>
              <a:t>생성형</a:t>
            </a:r>
            <a:r>
              <a:rPr lang="ko-KR" altLang="en-US" dirty="0" smtClean="0">
                <a:solidFill>
                  <a:schemeClr val="tx1"/>
                </a:solidFill>
              </a:rPr>
              <a:t> </a:t>
            </a:r>
            <a:r>
              <a:rPr lang="en-US" altLang="ko-KR" dirty="0" smtClean="0">
                <a:solidFill>
                  <a:schemeClr val="tx1"/>
                </a:solidFill>
              </a:rPr>
              <a:t>AI </a:t>
            </a:r>
            <a:r>
              <a:rPr lang="ko-KR" altLang="en-US" dirty="0" smtClean="0">
                <a:solidFill>
                  <a:schemeClr val="tx1"/>
                </a:solidFill>
              </a:rPr>
              <a:t>기반 </a:t>
            </a:r>
            <a:r>
              <a:rPr lang="en-US" altLang="ko-KR" dirty="0" smtClean="0">
                <a:solidFill>
                  <a:schemeClr val="tx1"/>
                </a:solidFill>
              </a:rPr>
              <a:t>Agent </a:t>
            </a:r>
            <a:r>
              <a:rPr lang="ko-KR" altLang="en-US" dirty="0" smtClean="0">
                <a:solidFill>
                  <a:schemeClr val="tx1"/>
                </a:solidFill>
              </a:rPr>
              <a:t>개발 </a:t>
            </a:r>
            <a:r>
              <a:rPr lang="ko-KR" altLang="en-US" dirty="0" err="1" smtClean="0">
                <a:solidFill>
                  <a:schemeClr val="tx1"/>
                </a:solidFill>
              </a:rPr>
              <a:t>입문자</a:t>
            </a:r>
            <a:endParaRPr lang="en-US" altLang="ko-KR" dirty="0" smtClean="0">
              <a:solidFill>
                <a:schemeClr val="tx1"/>
              </a:solidFill>
            </a:endParaRPr>
          </a:p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AI </a:t>
            </a:r>
            <a:r>
              <a:rPr lang="ko-KR" altLang="en-US" dirty="0" smtClean="0">
                <a:solidFill>
                  <a:schemeClr val="tx1"/>
                </a:solidFill>
              </a:rPr>
              <a:t>서비스 및 업무 자동화 기획 담당자</a:t>
            </a:r>
            <a:endParaRPr lang="en-US" altLang="ko-KR" dirty="0" smtClean="0">
              <a:solidFill>
                <a:schemeClr val="tx1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xmlns="" id="{F3512C64-6E73-B676-347B-699EFC88EFF3}"/>
              </a:ext>
            </a:extLst>
          </p:cNvPr>
          <p:cNvSpPr txBox="1"/>
          <p:nvPr/>
        </p:nvSpPr>
        <p:spPr>
          <a:xfrm>
            <a:off x="365760" y="989704"/>
            <a:ext cx="11618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교육목표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xmlns="" id="{45C8CAF1-EEEB-3C44-CC66-E7E9C32B4CFC}"/>
              </a:ext>
            </a:extLst>
          </p:cNvPr>
          <p:cNvSpPr txBox="1"/>
          <p:nvPr/>
        </p:nvSpPr>
        <p:spPr>
          <a:xfrm>
            <a:off x="6286053" y="989704"/>
            <a:ext cx="11618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기대효과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xmlns="" id="{0A807A6A-F57F-C464-F75C-5E40BB24099B}"/>
              </a:ext>
            </a:extLst>
          </p:cNvPr>
          <p:cNvSpPr txBox="1"/>
          <p:nvPr/>
        </p:nvSpPr>
        <p:spPr>
          <a:xfrm>
            <a:off x="365760" y="3908598"/>
            <a:ext cx="28077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/>
              <a:t>선수지식 및 준비사항</a:t>
            </a:r>
            <a:endParaRPr lang="ko-KR" altLang="en-US" b="1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xmlns="" id="{B97FC597-61B0-0211-1E76-99590626198A}"/>
              </a:ext>
            </a:extLst>
          </p:cNvPr>
          <p:cNvSpPr txBox="1"/>
          <p:nvPr/>
        </p:nvSpPr>
        <p:spPr>
          <a:xfrm>
            <a:off x="6286053" y="3908598"/>
            <a:ext cx="11618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학습대상</a:t>
            </a:r>
          </a:p>
        </p:txBody>
      </p:sp>
    </p:spTree>
    <p:extLst>
      <p:ext uri="{BB962C8B-B14F-4D97-AF65-F5344CB8AC3E}">
        <p14:creationId xmlns:p14="http://schemas.microsoft.com/office/powerpoint/2010/main" val="1595696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xmlns="" id="{F849B9FF-3412-2DD6-5E44-04F29C5A6B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77747-9B60-4934-B9E6-2AD58DACA65B}" type="slidenum">
              <a:rPr lang="ko-KR" altLang="en-US" smtClean="0"/>
              <a:t>3</a:t>
            </a:fld>
            <a:endParaRPr lang="ko-KR" altLang="en-US"/>
          </a:p>
        </p:txBody>
      </p:sp>
      <p:sp>
        <p:nvSpPr>
          <p:cNvPr id="19" name="제목 18">
            <a:extLst>
              <a:ext uri="{FF2B5EF4-FFF2-40B4-BE49-F238E27FC236}">
                <a16:creationId xmlns:a16="http://schemas.microsoft.com/office/drawing/2014/main" xmlns="" id="{08D8EABA-86C3-2CCB-CD58-AB8F074F40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교육일정</a:t>
            </a:r>
            <a:r>
              <a:rPr lang="en-US" altLang="ko-KR" dirty="0"/>
              <a:t>_3</a:t>
            </a:r>
            <a:r>
              <a:rPr lang="ko-KR" altLang="en-US" dirty="0"/>
              <a:t>일 </a:t>
            </a:r>
            <a:r>
              <a:rPr lang="en-US" altLang="ko-KR" dirty="0"/>
              <a:t>24</a:t>
            </a:r>
            <a:r>
              <a:rPr lang="ko-KR" altLang="en-US" dirty="0"/>
              <a:t>시간</a:t>
            </a:r>
          </a:p>
        </p:txBody>
      </p:sp>
      <p:graphicFrame>
        <p:nvGraphicFramePr>
          <p:cNvPr id="20" name="표 19">
            <a:extLst>
              <a:ext uri="{FF2B5EF4-FFF2-40B4-BE49-F238E27FC236}">
                <a16:creationId xmlns:a16="http://schemas.microsoft.com/office/drawing/2014/main" xmlns="" id="{DEFBCE69-FF23-6E2E-ACE0-4DBAAADD30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0293864"/>
              </p:ext>
            </p:extLst>
          </p:nvPr>
        </p:nvGraphicFramePr>
        <p:xfrm>
          <a:off x="333375" y="1519052"/>
          <a:ext cx="3730848" cy="4666595"/>
        </p:xfrm>
        <a:graphic>
          <a:graphicData uri="http://schemas.openxmlformats.org/drawingml/2006/table">
            <a:tbl>
              <a:tblPr/>
              <a:tblGrid>
                <a:gridCol w="1140318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613149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977381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</a:tblGrid>
              <a:tr h="478738">
                <a:tc>
                  <a:txBody>
                    <a:bodyPr/>
                    <a:lstStyle/>
                    <a:p>
                      <a:pPr marL="0" marR="0" indent="0" algn="ctr" defTabSz="990570" rtl="0" eaLnBrk="1" fontAlgn="ctr" latinLnBrk="0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charset="2"/>
                        <a:buNone/>
                        <a:tabLst/>
                        <a:defRPr/>
                      </a:pPr>
                      <a:r>
                        <a:rPr lang="ko-KR" altLang="en-US" sz="1100" b="1" i="0" u="none" strike="noStrike" kern="1200" cap="none" dirty="0">
                          <a:solidFill>
                            <a:schemeClr val="bg1"/>
                          </a:solidFill>
                          <a:latin typeface="나눔스퀘어" panose="020B0600000101010101" pitchFamily="50" charset="-127"/>
                          <a:ea typeface="나눔스퀘어"/>
                          <a:cs typeface="+mn-cs"/>
                        </a:rPr>
                        <a:t>주제</a:t>
                      </a:r>
                    </a:p>
                  </a:txBody>
                  <a:tcPr marL="42203" marR="42203" marT="42203" marB="42203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90570" rtl="0" eaLnBrk="1" fontAlgn="ctr" latinLnBrk="0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charset="2"/>
                        <a:buNone/>
                        <a:tabLst/>
                        <a:defRPr/>
                      </a:pPr>
                      <a:r>
                        <a:rPr lang="ko-KR" altLang="en-US" sz="1100" b="1" i="0" u="none" strike="noStrike" kern="1200" cap="none">
                          <a:solidFill>
                            <a:schemeClr val="bg1"/>
                          </a:solidFill>
                          <a:latin typeface="나눔스퀘어" panose="020B0600000101010101" pitchFamily="50" charset="-127"/>
                          <a:ea typeface="나눔스퀘어"/>
                          <a:cs typeface="+mn-cs"/>
                        </a:rPr>
                        <a:t>교육시간</a:t>
                      </a:r>
                    </a:p>
                  </a:txBody>
                  <a:tcPr marL="42203" marR="42203" marT="42203" marB="42203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90570" rtl="0" eaLnBrk="1" fontAlgn="ctr" latinLnBrk="0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charset="2"/>
                        <a:buNone/>
                        <a:tabLst/>
                        <a:defRPr/>
                      </a:pPr>
                      <a:r>
                        <a:rPr lang="ko-KR" altLang="en-US" sz="1100" b="1" i="0" u="none" strike="noStrike" kern="1200" cap="none">
                          <a:solidFill>
                            <a:schemeClr val="bg1"/>
                          </a:solidFill>
                          <a:latin typeface="나눔스퀘어" panose="020B0600000101010101" pitchFamily="50" charset="-127"/>
                          <a:ea typeface="나눔스퀘어"/>
                          <a:cs typeface="+mn-cs"/>
                        </a:rPr>
                        <a:t>주요 학습내용</a:t>
                      </a:r>
                    </a:p>
                  </a:txBody>
                  <a:tcPr marL="42203" marR="42203" marT="42203" marB="42203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001137">
                <a:tc>
                  <a:txBody>
                    <a:bodyPr/>
                    <a:lstStyle/>
                    <a:p>
                      <a:pPr marL="0" marR="0" lvl="0" indent="0" algn="ctr" rtl="0" eaLnBrk="1" fontAlgn="ctr" latinLnBrk="0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charset="2"/>
                        <a:buNone/>
                      </a:pPr>
                      <a:r>
                        <a:rPr lang="en-US" altLang="ko-KR" sz="1100" b="0" i="0" u="none" strike="noStrike" kern="1200" cap="none" dirty="0" smtClean="0">
                          <a:solidFill>
                            <a:srgbClr val="262626"/>
                          </a:solidFill>
                          <a:latin typeface="나눔스퀘어" panose="020B0600000101010101" pitchFamily="50" charset="-127"/>
                          <a:ea typeface="나눔스퀘어"/>
                          <a:cs typeface="Arial"/>
                          <a:sym typeface="Arial"/>
                        </a:rPr>
                        <a:t>Orchestration</a:t>
                      </a:r>
                      <a:endParaRPr lang="en-US" altLang="ko-KR" sz="1100" b="0" i="0" u="none" strike="noStrike" kern="1200" cap="none" dirty="0" smtClean="0">
                        <a:solidFill>
                          <a:srgbClr val="262626"/>
                        </a:solidFill>
                        <a:latin typeface="나눔스퀘어" panose="020B0600000101010101" pitchFamily="50" charset="-127"/>
                        <a:ea typeface="나눔스퀘어"/>
                        <a:cs typeface="Arial"/>
                      </a:endParaRPr>
                    </a:p>
                    <a:p>
                      <a:pPr marL="0" marR="0" lvl="0" indent="0" algn="ctr" rtl="0" eaLnBrk="1" fontAlgn="ctr" latinLnBrk="0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charset="2"/>
                        <a:buNone/>
                      </a:pPr>
                      <a:r>
                        <a:rPr lang="ko-KR" altLang="en-US" sz="1100" b="0" i="0" u="none" strike="noStrike" kern="1200" cap="none" dirty="0" smtClean="0">
                          <a:solidFill>
                            <a:srgbClr val="262626"/>
                          </a:solidFill>
                          <a:latin typeface="나눔스퀘어" panose="020B0600000101010101" pitchFamily="50" charset="-127"/>
                          <a:ea typeface="나눔스퀘어"/>
                          <a:cs typeface="Arial"/>
                        </a:rPr>
                        <a:t>개요</a:t>
                      </a:r>
                      <a:endParaRPr lang="ko-KR" altLang="en-US" sz="1100" b="0" i="0" u="none" strike="noStrike" kern="1200" cap="none" dirty="0">
                        <a:solidFill>
                          <a:srgbClr val="262626"/>
                        </a:solidFill>
                        <a:latin typeface="나눔스퀘어" panose="020B0600000101010101" pitchFamily="50" charset="-127"/>
                        <a:ea typeface="나눔스퀘어"/>
                        <a:cs typeface="Arial"/>
                      </a:endParaRPr>
                    </a:p>
                  </a:txBody>
                  <a:tcPr marL="30669" marR="30669" marT="33231" marB="33231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ct val="25000"/>
                        <a:buFont typeface="Noto Sans Symbols"/>
                        <a:buNone/>
                      </a:pPr>
                      <a:r>
                        <a:rPr lang="en-US" altLang="ko-KR" sz="1100" b="0" i="0" u="none" strike="noStrike" kern="1200" cap="none" dirty="0" smtClean="0">
                          <a:solidFill>
                            <a:srgbClr val="262626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/>
                        </a:rPr>
                        <a:t>1</a:t>
                      </a:r>
                      <a:endParaRPr lang="en-US" altLang="ko-KR" sz="1100" b="0" i="0" u="none" strike="noStrike" kern="1200" cap="none" dirty="0">
                        <a:solidFill>
                          <a:srgbClr val="262626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Arial"/>
                      </a:endParaRPr>
                    </a:p>
                  </a:txBody>
                  <a:tcPr marL="49846" marR="49846" marT="49846" marB="49846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050" b="0" i="0" u="none" strike="noStrike" kern="1200" cap="none" dirty="0" smtClean="0">
                          <a:solidFill>
                            <a:srgbClr val="262626"/>
                          </a:solidFill>
                          <a:latin typeface="나눔스퀘어" panose="020B0600000101010101" pitchFamily="50" charset="-127"/>
                          <a:ea typeface="나눔스퀘어"/>
                          <a:cs typeface="Arial"/>
                        </a:rPr>
                        <a:t>등장 배경 이해</a:t>
                      </a:r>
                      <a:endParaRPr lang="ko-KR" altLang="en-US" sz="1050" b="0" i="0" u="none" strike="noStrike" kern="1200" cap="none" dirty="0">
                        <a:solidFill>
                          <a:srgbClr val="262626"/>
                        </a:solidFill>
                        <a:latin typeface="나눔스퀘어" panose="020B0600000101010101" pitchFamily="50" charset="-127"/>
                        <a:ea typeface="나눔스퀘어"/>
                        <a:cs typeface="Arial"/>
                      </a:endParaRPr>
                    </a:p>
                  </a:txBody>
                  <a:tcPr marL="49846" marR="49846" marT="49846" marB="49846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831932">
                <a:tc>
                  <a:txBody>
                    <a:bodyPr/>
                    <a:lstStyle/>
                    <a:p>
                      <a:pPr marL="0" marR="0" lvl="0" indent="0" algn="ctr" rtl="0" eaLnBrk="1" fontAlgn="ctr" latinLnBrk="0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charset="2"/>
                        <a:buNone/>
                      </a:pPr>
                      <a:r>
                        <a:rPr lang="en-US" altLang="ko-KR" sz="1100" b="0" i="0" u="none" strike="noStrike" kern="1200" cap="none" dirty="0" smtClean="0">
                          <a:solidFill>
                            <a:srgbClr val="262626"/>
                          </a:solidFill>
                          <a:latin typeface="나눔스퀘어" panose="020B0600000101010101" pitchFamily="50" charset="-127"/>
                          <a:ea typeface="나눔스퀘어"/>
                          <a:cs typeface="Arial"/>
                          <a:sym typeface="Arial"/>
                        </a:rPr>
                        <a:t>Agent Lab</a:t>
                      </a:r>
                    </a:p>
                    <a:p>
                      <a:pPr marL="0" marR="0" lvl="0" indent="0" algn="ctr" rtl="0" eaLnBrk="1" fontAlgn="ctr" latinLnBrk="0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charset="2"/>
                        <a:buNone/>
                      </a:pPr>
                      <a:r>
                        <a:rPr lang="en-US" altLang="ko-KR" sz="1100" b="0" i="0" u="none" strike="noStrike" kern="1200" cap="none" dirty="0" smtClean="0">
                          <a:solidFill>
                            <a:srgbClr val="262626"/>
                          </a:solidFill>
                          <a:latin typeface="나눔스퀘어" panose="020B0600000101010101" pitchFamily="50" charset="-127"/>
                          <a:ea typeface="나눔스퀘어"/>
                          <a:cs typeface="Arial"/>
                          <a:sym typeface="Arial"/>
                        </a:rPr>
                        <a:t>Hands On</a:t>
                      </a:r>
                      <a:endParaRPr lang="en-US" altLang="ko-KR" sz="1100" b="0" i="0" u="none" strike="noStrike" kern="1200" cap="none" dirty="0">
                        <a:solidFill>
                          <a:srgbClr val="262626"/>
                        </a:solidFill>
                        <a:latin typeface="나눔스퀘어" panose="020B0600000101010101" pitchFamily="50" charset="-127"/>
                        <a:ea typeface="나눔스퀘어"/>
                        <a:cs typeface="Arial"/>
                        <a:sym typeface="Arial"/>
                      </a:endParaRPr>
                    </a:p>
                  </a:txBody>
                  <a:tcPr marL="30669" marR="30669" marT="33231" marB="33231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ct val="25000"/>
                        <a:buFont typeface="Noto Sans Symbols"/>
                        <a:buNone/>
                      </a:pPr>
                      <a:r>
                        <a:rPr lang="en-US" altLang="ko-KR" sz="1100" b="0" i="0" u="none" strike="noStrike" kern="1200" cap="none" dirty="0" smtClean="0">
                          <a:solidFill>
                            <a:srgbClr val="262626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/>
                        </a:rPr>
                        <a:t>2</a:t>
                      </a:r>
                      <a:endParaRPr lang="en-US" altLang="ko-KR" sz="1100" b="0" i="0" u="none" strike="noStrike" kern="1200" cap="none" dirty="0">
                        <a:solidFill>
                          <a:srgbClr val="262626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Arial"/>
                      </a:endParaRPr>
                    </a:p>
                  </a:txBody>
                  <a:tcPr marL="49846" marR="49846" marT="49846" marB="49846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rtl="0" eaLnBrk="1" fontAlgn="ctr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050" b="0" i="0" u="none" strike="noStrike" kern="1200" cap="none" dirty="0" smtClean="0">
                          <a:solidFill>
                            <a:srgbClr val="262626"/>
                          </a:solidFill>
                          <a:latin typeface="나눔스퀘어" panose="020B0600000101010101" pitchFamily="50" charset="-127"/>
                          <a:ea typeface="나눔스퀘어"/>
                          <a:cs typeface="Arial"/>
                        </a:rPr>
                        <a:t>기초 </a:t>
                      </a:r>
                      <a:r>
                        <a:rPr lang="en-US" altLang="ko-KR" sz="1050" b="0" i="0" u="none" strike="noStrike" kern="1200" cap="none" dirty="0" smtClean="0">
                          <a:solidFill>
                            <a:srgbClr val="262626"/>
                          </a:solidFill>
                          <a:latin typeface="나눔스퀘어" panose="020B0600000101010101" pitchFamily="50" charset="-127"/>
                          <a:ea typeface="나눔스퀘어"/>
                          <a:cs typeface="Arial"/>
                        </a:rPr>
                        <a:t>Agent </a:t>
                      </a:r>
                      <a:r>
                        <a:rPr lang="ko-KR" altLang="en-US" sz="1050" b="0" i="0" u="none" strike="noStrike" kern="1200" cap="none" dirty="0" smtClean="0">
                          <a:solidFill>
                            <a:srgbClr val="262626"/>
                          </a:solidFill>
                          <a:latin typeface="나눔스퀘어" panose="020B0600000101010101" pitchFamily="50" charset="-127"/>
                          <a:ea typeface="나눔스퀘어"/>
                          <a:cs typeface="Arial"/>
                        </a:rPr>
                        <a:t>구현</a:t>
                      </a:r>
                      <a:endParaRPr lang="ko-KR" altLang="en-US" sz="1050" b="0" i="0" u="none" strike="noStrike" kern="1200" cap="none" dirty="0">
                        <a:solidFill>
                          <a:srgbClr val="262626"/>
                        </a:solidFill>
                        <a:latin typeface="나눔스퀘어" panose="020B0600000101010101" pitchFamily="50" charset="-127"/>
                        <a:ea typeface="나눔스퀘어"/>
                        <a:cs typeface="Arial"/>
                      </a:endParaRPr>
                    </a:p>
                  </a:txBody>
                  <a:tcPr marL="49846" marR="49846" marT="49846" marB="49846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47926756"/>
                  </a:ext>
                </a:extLst>
              </a:tr>
              <a:tr h="860132">
                <a:tc>
                  <a:txBody>
                    <a:bodyPr/>
                    <a:lstStyle/>
                    <a:p>
                      <a:pPr marL="0" marR="0" lvl="0" indent="0" algn="ctr" rtl="0" eaLnBrk="1" fontAlgn="ctr" latinLnBrk="0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charset="2"/>
                        <a:buNone/>
                      </a:pPr>
                      <a:endParaRPr lang="ko-KR" altLang="en-US" sz="1100" b="0" i="0" u="none" strike="noStrike" kern="1200" cap="none" dirty="0">
                        <a:solidFill>
                          <a:srgbClr val="262626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Arial"/>
                        <a:sym typeface="Arial"/>
                      </a:endParaRPr>
                    </a:p>
                  </a:txBody>
                  <a:tcPr marL="30669" marR="30669" marT="33231" marB="33231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ct val="25000"/>
                        <a:buFont typeface="Noto Sans Symbols"/>
                        <a:buNone/>
                        <a:tabLst/>
                        <a:defRPr/>
                      </a:pPr>
                      <a:endParaRPr lang="en-US" altLang="ko-KR" sz="1100" b="0" i="0" u="none" strike="noStrike" kern="1200" cap="none" dirty="0">
                        <a:solidFill>
                          <a:srgbClr val="262626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Arial"/>
                      </a:endParaRPr>
                    </a:p>
                  </a:txBody>
                  <a:tcPr marL="49846" marR="49846" marT="49846" marB="49846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rtl="0" eaLnBrk="1" fontAlgn="ctr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</a:pPr>
                      <a:endParaRPr lang="ko-KR" altLang="en-US" sz="1050" b="0" i="0" u="none" strike="noStrike" kern="1200" cap="none">
                        <a:solidFill>
                          <a:srgbClr val="262626"/>
                        </a:solidFill>
                        <a:latin typeface="나눔스퀘어" panose="020B0600000101010101" pitchFamily="50" charset="-127"/>
                        <a:ea typeface="나눔스퀘어"/>
                        <a:cs typeface="Arial"/>
                      </a:endParaRPr>
                    </a:p>
                  </a:txBody>
                  <a:tcPr marL="49846" marR="49846" marT="49846" marB="49846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4209005588"/>
                  </a:ext>
                </a:extLst>
              </a:tr>
              <a:tr h="831932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000"/>
                        <a:buFont typeface="Noto Sans Symbols"/>
                        <a:buNone/>
                      </a:pPr>
                      <a:endParaRPr lang="ko-KR" altLang="en-US" sz="1100" b="0" i="0" u="none" strike="noStrike" kern="1200" cap="none">
                        <a:solidFill>
                          <a:srgbClr val="262626"/>
                        </a:solidFill>
                        <a:latin typeface="나눔스퀘어" panose="020B0600000101010101" pitchFamily="50" charset="-127"/>
                        <a:ea typeface="나눔스퀘어"/>
                        <a:cs typeface="Arial"/>
                        <a:sym typeface="Arial"/>
                      </a:endParaRPr>
                    </a:p>
                  </a:txBody>
                  <a:tcPr marL="30669" marR="30669" marT="33231" marB="33231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ct val="25000"/>
                        <a:buFont typeface="Noto Sans Symbols"/>
                        <a:buNone/>
                      </a:pPr>
                      <a:endParaRPr lang="en-US" altLang="ko-KR" sz="1100" b="0" i="0" u="none" strike="noStrike" kern="1200" cap="none" dirty="0">
                        <a:solidFill>
                          <a:srgbClr val="262626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Arial"/>
                      </a:endParaRPr>
                    </a:p>
                  </a:txBody>
                  <a:tcPr marL="49846" marR="49846" marT="49846" marB="49846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rtl="0" eaLnBrk="1" fontAlgn="ctr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</a:pPr>
                      <a:endParaRPr lang="ko-KR" altLang="en-US" sz="1050" b="0" i="0" u="none" strike="noStrike" kern="1200" cap="none" dirty="0">
                        <a:solidFill>
                          <a:srgbClr val="262626"/>
                        </a:solidFill>
                        <a:latin typeface="나눔스퀘어" panose="020B0600000101010101" pitchFamily="50" charset="-127"/>
                        <a:ea typeface="나눔스퀘어"/>
                        <a:cs typeface="Arial"/>
                      </a:endParaRPr>
                    </a:p>
                  </a:txBody>
                  <a:tcPr marL="49846" marR="49846" marT="49846" marB="49846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289116890"/>
                  </a:ext>
                </a:extLst>
              </a:tr>
              <a:tr h="662724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000"/>
                        <a:buFont typeface="Noto Sans Symbols"/>
                        <a:buNone/>
                      </a:pPr>
                      <a:endParaRPr lang="ko-KR" altLang="en-US" sz="1100" b="0" i="0" u="none" strike="noStrike" kern="1200" cap="none">
                        <a:solidFill>
                          <a:srgbClr val="262626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Arial"/>
                        <a:sym typeface="Arial"/>
                      </a:endParaRPr>
                    </a:p>
                  </a:txBody>
                  <a:tcPr marL="30669" marR="30669" marT="33231" marB="33231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ct val="25000"/>
                        <a:buFont typeface="Noto Sans Symbols"/>
                        <a:buNone/>
                        <a:tabLst/>
                        <a:defRPr/>
                      </a:pPr>
                      <a:endParaRPr lang="en-US" altLang="ko-KR" sz="1100" b="0" i="0" u="none" strike="noStrike" kern="1200" cap="none">
                        <a:solidFill>
                          <a:srgbClr val="262626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Arial"/>
                      </a:endParaRPr>
                    </a:p>
                  </a:txBody>
                  <a:tcPr marL="49846" marR="49846" marT="49846" marB="49846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rtl="0" eaLnBrk="1" fontAlgn="ctr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</a:pPr>
                      <a:endParaRPr lang="ko-KR" altLang="en-US" sz="1050" b="0" i="0" u="none" strike="noStrike" kern="1200" cap="none" dirty="0">
                        <a:solidFill>
                          <a:srgbClr val="262626"/>
                        </a:solidFill>
                        <a:latin typeface="나눔스퀘어" panose="020B0600000101010101" pitchFamily="50" charset="-127"/>
                        <a:ea typeface="나눔스퀘어"/>
                        <a:cs typeface="Arial"/>
                      </a:endParaRPr>
                    </a:p>
                  </a:txBody>
                  <a:tcPr marL="49846" marR="49846" marT="49846" marB="49846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462011446"/>
                  </a:ext>
                </a:extLst>
              </a:tr>
            </a:tbl>
          </a:graphicData>
        </a:graphic>
      </p:graphicFrame>
      <p:graphicFrame>
        <p:nvGraphicFramePr>
          <p:cNvPr id="21" name="표 20">
            <a:extLst>
              <a:ext uri="{FF2B5EF4-FFF2-40B4-BE49-F238E27FC236}">
                <a16:creationId xmlns:a16="http://schemas.microsoft.com/office/drawing/2014/main" xmlns="" id="{0A9D1649-EB00-FDA7-CEBA-2A765B5173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0027846"/>
              </p:ext>
            </p:extLst>
          </p:nvPr>
        </p:nvGraphicFramePr>
        <p:xfrm>
          <a:off x="4211920" y="1519051"/>
          <a:ext cx="3727222" cy="4666594"/>
        </p:xfrm>
        <a:graphic>
          <a:graphicData uri="http://schemas.openxmlformats.org/drawingml/2006/table">
            <a:tbl>
              <a:tblPr/>
              <a:tblGrid>
                <a:gridCol w="1026441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768326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932455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</a:tblGrid>
              <a:tr h="456516">
                <a:tc>
                  <a:txBody>
                    <a:bodyPr/>
                    <a:lstStyle/>
                    <a:p>
                      <a:pPr marL="0" marR="0" indent="0" algn="ctr" defTabSz="990570" rtl="0" eaLnBrk="1" fontAlgn="ctr" latinLnBrk="0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charset="2"/>
                        <a:buNone/>
                        <a:tabLst/>
                        <a:defRPr/>
                      </a:pPr>
                      <a:r>
                        <a:rPr lang="ko-KR" altLang="en-US" sz="1100" b="1" i="0" u="none" strike="noStrike" kern="1200" cap="none" dirty="0">
                          <a:solidFill>
                            <a:schemeClr val="bg1"/>
                          </a:solidFill>
                          <a:latin typeface="나눔스퀘어" panose="020B0600000101010101" pitchFamily="50" charset="-127"/>
                          <a:ea typeface="나눔스퀘어"/>
                          <a:cs typeface="+mn-cs"/>
                        </a:rPr>
                        <a:t>주제</a:t>
                      </a:r>
                    </a:p>
                  </a:txBody>
                  <a:tcPr marL="42203" marR="42203" marT="42203" marB="42203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90570" rtl="0" eaLnBrk="1" fontAlgn="ctr" latinLnBrk="0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charset="2"/>
                        <a:buNone/>
                        <a:tabLst/>
                        <a:defRPr/>
                      </a:pPr>
                      <a:r>
                        <a:rPr lang="ko-KR" altLang="en-US" sz="1100" b="1" i="0" u="none" strike="noStrike" kern="1200" cap="none">
                          <a:solidFill>
                            <a:schemeClr val="bg1"/>
                          </a:solidFill>
                          <a:latin typeface="나눔스퀘어" panose="020B0600000101010101" pitchFamily="50" charset="-127"/>
                          <a:ea typeface="나눔스퀘어"/>
                          <a:cs typeface="+mn-cs"/>
                        </a:rPr>
                        <a:t>교육시간</a:t>
                      </a:r>
                    </a:p>
                  </a:txBody>
                  <a:tcPr marL="42203" marR="42203" marT="42203" marB="42203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90570" rtl="0" eaLnBrk="1" fontAlgn="ctr" latinLnBrk="0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charset="2"/>
                        <a:buNone/>
                        <a:tabLst/>
                        <a:defRPr/>
                      </a:pPr>
                      <a:r>
                        <a:rPr lang="ko-KR" altLang="en-US" sz="1100" b="1" i="0" u="none" strike="noStrike" kern="1200" cap="none">
                          <a:solidFill>
                            <a:schemeClr val="bg1"/>
                          </a:solidFill>
                          <a:latin typeface="나눔스퀘어" panose="020B0600000101010101" pitchFamily="50" charset="-127"/>
                          <a:ea typeface="나눔스퀘어"/>
                          <a:cs typeface="+mn-cs"/>
                        </a:rPr>
                        <a:t>주요 학습내용</a:t>
                      </a:r>
                    </a:p>
                  </a:txBody>
                  <a:tcPr marL="42203" marR="42203" marT="42203" marB="42203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946844">
                <a:tc>
                  <a:txBody>
                    <a:bodyPr/>
                    <a:lstStyle/>
                    <a:p>
                      <a:pPr marL="0" marR="0" lvl="0" indent="0" algn="ctr" rtl="0" eaLnBrk="1" fontAlgn="ctr" latinLnBrk="0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charset="2"/>
                        <a:buNone/>
                      </a:pPr>
                      <a:endParaRPr lang="ko-KR" altLang="en-US" sz="1100" b="0" i="0" u="none" strike="noStrike" kern="1200" cap="none" dirty="0">
                        <a:solidFill>
                          <a:srgbClr val="262626"/>
                        </a:solidFill>
                        <a:latin typeface="나눔스퀘어" panose="020B0600000101010101" pitchFamily="50" charset="-127"/>
                        <a:ea typeface="나눔스퀘어"/>
                        <a:cs typeface="Arial"/>
                      </a:endParaRPr>
                    </a:p>
                  </a:txBody>
                  <a:tcPr marL="30669" marR="30669" marT="33231" marB="33231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ct val="25000"/>
                        <a:buFont typeface="Noto Sans Symbols"/>
                        <a:buNone/>
                        <a:tabLst/>
                        <a:defRPr/>
                      </a:pPr>
                      <a:endParaRPr lang="en-US" altLang="ko-KR" sz="1100" b="0" i="0" u="none" strike="noStrike" kern="1200" cap="none" dirty="0">
                        <a:solidFill>
                          <a:srgbClr val="262626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Arial"/>
                      </a:endParaRPr>
                    </a:p>
                  </a:txBody>
                  <a:tcPr marL="49846" marR="49846" marT="49846" marB="49846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</a:pPr>
                      <a:endParaRPr lang="ko-KR" altLang="en-US" sz="1050" b="0" i="0" u="none" strike="noStrike" kern="1200" cap="none">
                        <a:solidFill>
                          <a:srgbClr val="262626"/>
                        </a:solidFill>
                        <a:ea typeface="나눔스퀘어"/>
                        <a:cs typeface="Arial"/>
                      </a:endParaRPr>
                    </a:p>
                  </a:txBody>
                  <a:tcPr marL="49846" marR="49846" marT="49846" marB="49846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997569">
                <a:tc>
                  <a:txBody>
                    <a:bodyPr/>
                    <a:lstStyle/>
                    <a:p>
                      <a:pPr marL="0" marR="0" lvl="0" indent="0" algn="ctr" rtl="0" eaLnBrk="1" fontAlgn="ctr" latinLnBrk="0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charset="2"/>
                        <a:buNone/>
                      </a:pPr>
                      <a:endParaRPr lang="ko-KR" altLang="en-US" sz="1100" b="0" i="0" u="none" strike="noStrike" kern="1200" cap="none" dirty="0">
                        <a:solidFill>
                          <a:srgbClr val="262626"/>
                        </a:solidFill>
                        <a:latin typeface="나눔스퀘어" panose="020B0600000101010101" pitchFamily="50" charset="-127"/>
                        <a:ea typeface="나눔스퀘어"/>
                        <a:cs typeface="Arial"/>
                        <a:sym typeface="Arial"/>
                      </a:endParaRPr>
                    </a:p>
                  </a:txBody>
                  <a:tcPr marL="30669" marR="30669" marT="33231" marB="33231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ct val="25000"/>
                        <a:buFont typeface="Noto Sans Symbols"/>
                        <a:buNone/>
                        <a:tabLst/>
                        <a:defRPr/>
                      </a:pPr>
                      <a:endParaRPr lang="en-US" altLang="ko-KR" sz="1100" b="0" i="0" u="none" strike="noStrike" kern="1200" cap="none" dirty="0">
                        <a:solidFill>
                          <a:srgbClr val="262626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Arial"/>
                      </a:endParaRPr>
                    </a:p>
                  </a:txBody>
                  <a:tcPr marL="49846" marR="49846" marT="49846" marB="49846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rtl="0" eaLnBrk="1" fontAlgn="ctr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</a:pPr>
                      <a:endParaRPr lang="ko-KR" altLang="en-US" sz="1050" b="0" i="0" u="none" strike="noStrike" kern="1200" cap="none" dirty="0">
                        <a:solidFill>
                          <a:srgbClr val="262626"/>
                        </a:solidFill>
                        <a:latin typeface="나눔스퀘어" panose="020B0600000101010101" pitchFamily="50" charset="-127"/>
                        <a:ea typeface="나눔스퀘어"/>
                        <a:cs typeface="Arial"/>
                      </a:endParaRPr>
                    </a:p>
                  </a:txBody>
                  <a:tcPr marL="49846" marR="49846" marT="49846" marB="49846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47926756"/>
                  </a:ext>
                </a:extLst>
              </a:tr>
              <a:tr h="1268096">
                <a:tc>
                  <a:txBody>
                    <a:bodyPr/>
                    <a:lstStyle/>
                    <a:p>
                      <a:pPr marL="0" marR="0" lvl="0" indent="0" algn="ctr" rtl="0" eaLnBrk="1" fontAlgn="ctr" latinLnBrk="0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charset="2"/>
                        <a:buNone/>
                      </a:pPr>
                      <a:endParaRPr lang="en-US" altLang="ko-KR" sz="1100" b="0" i="0" u="none" strike="noStrike" kern="1200" cap="none">
                        <a:solidFill>
                          <a:srgbClr val="262626"/>
                        </a:solidFill>
                        <a:latin typeface="나눔스퀘어" panose="020B0600000101010101" pitchFamily="50" charset="-127"/>
                        <a:ea typeface="나눔스퀘어"/>
                        <a:cs typeface="Arial"/>
                        <a:sym typeface="Arial"/>
                      </a:endParaRPr>
                    </a:p>
                  </a:txBody>
                  <a:tcPr marL="30669" marR="30669" marT="33231" marB="33231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ct val="25000"/>
                        <a:buFont typeface="Noto Sans Symbols"/>
                        <a:buNone/>
                      </a:pPr>
                      <a:endParaRPr lang="en-US" altLang="ko-KR" sz="1100" b="0" i="0" u="none" strike="noStrike" kern="1200" cap="none" dirty="0">
                        <a:solidFill>
                          <a:srgbClr val="262626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Arial"/>
                      </a:endParaRPr>
                    </a:p>
                  </a:txBody>
                  <a:tcPr marL="49846" marR="49846" marT="49846" marB="49846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rtl="0" eaLnBrk="1" fontAlgn="ctr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</a:pPr>
                      <a:endParaRPr lang="ko-KR" altLang="en-US" sz="1050" b="0" i="0" u="none" strike="noStrike" kern="1200" cap="none" dirty="0">
                        <a:solidFill>
                          <a:srgbClr val="262626"/>
                        </a:solidFill>
                        <a:latin typeface="나눔스퀘어" panose="020B0600000101010101" pitchFamily="50" charset="-127"/>
                        <a:ea typeface="나눔스퀘어"/>
                        <a:cs typeface="Arial"/>
                      </a:endParaRPr>
                    </a:p>
                  </a:txBody>
                  <a:tcPr marL="49846" marR="49846" marT="49846" marB="49846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4209005588"/>
                  </a:ext>
                </a:extLst>
              </a:tr>
              <a:tr h="997569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000"/>
                        <a:buFont typeface="Noto Sans Symbols"/>
                        <a:buNone/>
                      </a:pPr>
                      <a:endParaRPr lang="ko-KR" altLang="en-US" sz="1100" b="0" i="0" u="none" strike="noStrike" kern="1200" cap="none">
                        <a:solidFill>
                          <a:srgbClr val="262626"/>
                        </a:solidFill>
                        <a:latin typeface="나눔스퀘어" panose="020B0600000101010101" pitchFamily="50" charset="-127"/>
                        <a:ea typeface="나눔스퀘어"/>
                        <a:cs typeface="Arial"/>
                        <a:sym typeface="Arial"/>
                      </a:endParaRPr>
                    </a:p>
                  </a:txBody>
                  <a:tcPr marL="30669" marR="30669" marT="33231" marB="33231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ct val="25000"/>
                        <a:buFont typeface="Noto Sans Symbols"/>
                        <a:buNone/>
                        <a:tabLst/>
                        <a:defRPr/>
                      </a:pPr>
                      <a:endParaRPr lang="en-US" altLang="ko-KR" sz="1100" b="0" i="0" u="none" strike="noStrike" kern="1200" cap="none">
                        <a:solidFill>
                          <a:srgbClr val="262626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Arial"/>
                      </a:endParaRPr>
                    </a:p>
                  </a:txBody>
                  <a:tcPr marL="49846" marR="49846" marT="49846" marB="49846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rtl="0" eaLnBrk="1" fontAlgn="ctr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/>
                        <a:buChar char="§"/>
                      </a:pPr>
                      <a:endParaRPr lang="ko-KR" altLang="en-US" sz="1050" b="0" i="0" u="none" strike="noStrike" kern="1200" cap="none" dirty="0">
                        <a:solidFill>
                          <a:srgbClr val="262626"/>
                        </a:solidFill>
                        <a:latin typeface="나눔스퀘어" panose="020B0600000101010101" pitchFamily="50" charset="-127"/>
                        <a:ea typeface="나눔스퀘어"/>
                        <a:cs typeface="Arial"/>
                      </a:endParaRPr>
                    </a:p>
                  </a:txBody>
                  <a:tcPr marL="49846" marR="49846" marT="49846" marB="49846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289116890"/>
                  </a:ext>
                </a:extLst>
              </a:tr>
            </a:tbl>
          </a:graphicData>
        </a:graphic>
      </p:graphicFrame>
      <p:graphicFrame>
        <p:nvGraphicFramePr>
          <p:cNvPr id="22" name="표 21">
            <a:extLst>
              <a:ext uri="{FF2B5EF4-FFF2-40B4-BE49-F238E27FC236}">
                <a16:creationId xmlns:a16="http://schemas.microsoft.com/office/drawing/2014/main" xmlns="" id="{A4990C4D-6CD6-9BE3-19A9-F0682398F9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7985046"/>
              </p:ext>
            </p:extLst>
          </p:nvPr>
        </p:nvGraphicFramePr>
        <p:xfrm>
          <a:off x="8127779" y="1519051"/>
          <a:ext cx="3730846" cy="4666594"/>
        </p:xfrm>
        <a:graphic>
          <a:graphicData uri="http://schemas.openxmlformats.org/drawingml/2006/table">
            <a:tbl>
              <a:tblPr/>
              <a:tblGrid>
                <a:gridCol w="1027439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769073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934334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</a:tblGrid>
              <a:tr h="456516">
                <a:tc>
                  <a:txBody>
                    <a:bodyPr/>
                    <a:lstStyle/>
                    <a:p>
                      <a:pPr marL="0" marR="0" indent="0" algn="ctr" defTabSz="990570" rtl="0" eaLnBrk="1" fontAlgn="ctr" latinLnBrk="0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charset="2"/>
                        <a:buNone/>
                        <a:tabLst/>
                        <a:defRPr/>
                      </a:pPr>
                      <a:r>
                        <a:rPr lang="ko-KR" altLang="en-US" sz="1100" b="1" i="0" u="none" strike="noStrike" kern="1200" cap="none" dirty="0">
                          <a:solidFill>
                            <a:schemeClr val="bg1"/>
                          </a:solidFill>
                          <a:latin typeface="나눔스퀘어" panose="020B0600000101010101" pitchFamily="50" charset="-127"/>
                          <a:ea typeface="나눔스퀘어"/>
                          <a:cs typeface="+mn-cs"/>
                        </a:rPr>
                        <a:t>주제</a:t>
                      </a:r>
                    </a:p>
                  </a:txBody>
                  <a:tcPr marL="42203" marR="42203" marT="42203" marB="42203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90570" rtl="0" eaLnBrk="1" fontAlgn="ctr" latinLnBrk="0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charset="2"/>
                        <a:buNone/>
                        <a:tabLst/>
                        <a:defRPr/>
                      </a:pPr>
                      <a:r>
                        <a:rPr lang="ko-KR" altLang="en-US" sz="1100" b="1" i="0" u="none" strike="noStrike" kern="1200" cap="none">
                          <a:solidFill>
                            <a:schemeClr val="bg1"/>
                          </a:solidFill>
                          <a:latin typeface="나눔스퀘어" panose="020B0600000101010101" pitchFamily="50" charset="-127"/>
                          <a:ea typeface="나눔스퀘어"/>
                          <a:cs typeface="+mn-cs"/>
                        </a:rPr>
                        <a:t>교육시간</a:t>
                      </a:r>
                    </a:p>
                  </a:txBody>
                  <a:tcPr marL="42203" marR="42203" marT="42203" marB="42203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90570" rtl="0" eaLnBrk="1" fontAlgn="ctr" latinLnBrk="0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charset="2"/>
                        <a:buNone/>
                        <a:tabLst/>
                        <a:defRPr/>
                      </a:pPr>
                      <a:r>
                        <a:rPr lang="ko-KR" altLang="en-US" sz="1100" b="1" i="0" u="none" strike="noStrike" kern="1200" cap="none">
                          <a:solidFill>
                            <a:schemeClr val="bg1"/>
                          </a:solidFill>
                          <a:latin typeface="나눔스퀘어" panose="020B0600000101010101" pitchFamily="50" charset="-127"/>
                          <a:ea typeface="나눔스퀘어"/>
                          <a:cs typeface="+mn-cs"/>
                        </a:rPr>
                        <a:t>주요 학습내용</a:t>
                      </a:r>
                    </a:p>
                  </a:txBody>
                  <a:tcPr marL="42203" marR="42203" marT="42203" marB="42203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946844">
                <a:tc>
                  <a:txBody>
                    <a:bodyPr/>
                    <a:lstStyle/>
                    <a:p>
                      <a:pPr marL="0" marR="0" lvl="0" indent="0" algn="ctr" rtl="0" eaLnBrk="1" fontAlgn="ctr" latinLnBrk="0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charset="2"/>
                        <a:buNone/>
                      </a:pPr>
                      <a:r>
                        <a:rPr lang="en-US" altLang="ko-KR" sz="1100" b="0" i="0" u="none" strike="noStrike" kern="1200" cap="none" dirty="0" smtClean="0">
                          <a:solidFill>
                            <a:srgbClr val="262626"/>
                          </a:solidFill>
                          <a:latin typeface="나눔스퀘어" panose="020B0600000101010101" pitchFamily="50" charset="-127"/>
                          <a:ea typeface="나눔스퀘어"/>
                          <a:cs typeface="Arial"/>
                        </a:rPr>
                        <a:t>Orchestrate</a:t>
                      </a:r>
                    </a:p>
                    <a:p>
                      <a:pPr marL="0" marR="0" lvl="0" indent="0" algn="ctr" rtl="0" eaLnBrk="1" fontAlgn="ctr" latinLnBrk="0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charset="2"/>
                        <a:buNone/>
                      </a:pPr>
                      <a:r>
                        <a:rPr lang="en-US" altLang="ko-KR" sz="1100" b="0" i="0" u="none" strike="noStrike" kern="1200" cap="none" dirty="0" smtClean="0">
                          <a:solidFill>
                            <a:srgbClr val="262626"/>
                          </a:solidFill>
                          <a:latin typeface="나눔스퀘어" panose="020B0600000101010101" pitchFamily="50" charset="-127"/>
                          <a:ea typeface="나눔스퀘어"/>
                          <a:cs typeface="Arial"/>
                        </a:rPr>
                        <a:t>Hands</a:t>
                      </a:r>
                      <a:r>
                        <a:rPr lang="en-US" altLang="ko-KR" sz="1100" b="0" i="0" u="none" strike="noStrike" kern="1200" cap="none" baseline="0" dirty="0" smtClean="0">
                          <a:solidFill>
                            <a:srgbClr val="262626"/>
                          </a:solidFill>
                          <a:latin typeface="나눔스퀘어" panose="020B0600000101010101" pitchFamily="50" charset="-127"/>
                          <a:ea typeface="나눔스퀘어"/>
                          <a:cs typeface="Arial"/>
                        </a:rPr>
                        <a:t> On</a:t>
                      </a:r>
                      <a:endParaRPr lang="ko-KR" altLang="en-US" sz="1100" b="0" i="0" u="none" strike="noStrike" kern="1200" cap="none" dirty="0">
                        <a:solidFill>
                          <a:srgbClr val="262626"/>
                        </a:solidFill>
                        <a:latin typeface="나눔스퀘어" panose="020B0600000101010101" pitchFamily="50" charset="-127"/>
                        <a:ea typeface="나눔스퀘어"/>
                        <a:cs typeface="Arial"/>
                      </a:endParaRPr>
                    </a:p>
                  </a:txBody>
                  <a:tcPr marL="30669" marR="30669" marT="33231" marB="33231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ct val="25000"/>
                        <a:buFont typeface="Noto Sans Symbols"/>
                        <a:buNone/>
                        <a:tabLst/>
                        <a:defRPr/>
                      </a:pPr>
                      <a:r>
                        <a:rPr lang="en-US" altLang="ko-KR" sz="1100" b="0" i="0" u="none" strike="noStrike" kern="1200" cap="none" dirty="0" smtClean="0">
                          <a:solidFill>
                            <a:srgbClr val="262626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/>
                        </a:rPr>
                        <a:t>6</a:t>
                      </a:r>
                      <a:endParaRPr lang="en-US" altLang="ko-KR" sz="1100" b="0" i="0" u="none" strike="noStrike" kern="1200" cap="none" dirty="0">
                        <a:solidFill>
                          <a:srgbClr val="262626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Arial"/>
                      </a:endParaRPr>
                    </a:p>
                  </a:txBody>
                  <a:tcPr marL="49846" marR="49846" marT="49846" marB="49846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050" b="0" i="0" u="none" strike="noStrike" kern="1200" cap="none" dirty="0" smtClean="0">
                          <a:solidFill>
                            <a:srgbClr val="262626"/>
                          </a:solidFill>
                          <a:ea typeface="나눔스퀘어"/>
                          <a:cs typeface="Arial"/>
                        </a:rPr>
                        <a:t>다양한 도메인 기반의 </a:t>
                      </a:r>
                      <a:r>
                        <a:rPr lang="en-US" altLang="ko-KR" sz="1050" b="0" i="0" u="none" strike="noStrike" kern="1200" cap="none" dirty="0" smtClean="0">
                          <a:solidFill>
                            <a:srgbClr val="262626"/>
                          </a:solidFill>
                          <a:ea typeface="나눔스퀘어"/>
                          <a:cs typeface="Arial"/>
                        </a:rPr>
                        <a:t>Single/</a:t>
                      </a:r>
                      <a:r>
                        <a:rPr lang="en-US" altLang="ko-KR" sz="1050" b="0" i="0" u="none" strike="noStrike" kern="1200" cap="none" dirty="0" err="1" smtClean="0">
                          <a:solidFill>
                            <a:srgbClr val="262626"/>
                          </a:solidFill>
                          <a:ea typeface="나눔스퀘어"/>
                          <a:cs typeface="Arial"/>
                        </a:rPr>
                        <a:t>Multy</a:t>
                      </a:r>
                      <a:r>
                        <a:rPr lang="en-US" altLang="ko-KR" sz="1050" b="0" i="0" u="none" strike="noStrike" kern="1200" cap="none" baseline="0" dirty="0" smtClean="0">
                          <a:solidFill>
                            <a:srgbClr val="262626"/>
                          </a:solidFill>
                          <a:ea typeface="나눔스퀘어"/>
                          <a:cs typeface="Arial"/>
                        </a:rPr>
                        <a:t> Agent </a:t>
                      </a:r>
                      <a:r>
                        <a:rPr lang="ko-KR" altLang="en-US" sz="1050" b="0" i="0" u="none" strike="noStrike" kern="1200" cap="none" baseline="0" dirty="0" smtClean="0">
                          <a:solidFill>
                            <a:srgbClr val="262626"/>
                          </a:solidFill>
                          <a:ea typeface="나눔스퀘어"/>
                          <a:cs typeface="Arial"/>
                        </a:rPr>
                        <a:t>구현</a:t>
                      </a:r>
                      <a:endParaRPr lang="en-US" altLang="ko-KR" sz="1050" b="0" i="0" u="none" strike="noStrike" kern="1200" cap="none" baseline="0" dirty="0" smtClean="0">
                        <a:solidFill>
                          <a:srgbClr val="262626"/>
                        </a:solidFill>
                        <a:ea typeface="나눔스퀘어"/>
                        <a:cs typeface="Arial"/>
                      </a:endParaRPr>
                    </a:p>
                    <a:p>
                      <a:pPr marL="171450" marR="0" lvl="0" indent="-171450" algn="l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050" b="0" i="0" u="none" strike="noStrike" kern="1200" cap="none" baseline="0" dirty="0" smtClean="0">
                          <a:solidFill>
                            <a:srgbClr val="262626"/>
                          </a:solidFill>
                          <a:ea typeface="나눔스퀘어"/>
                          <a:cs typeface="Arial"/>
                        </a:rPr>
                        <a:t>Assistant Builder</a:t>
                      </a:r>
                      <a:r>
                        <a:rPr lang="ko-KR" altLang="en-US" sz="1050" b="0" i="0" u="none" strike="noStrike" kern="1200" cap="none" baseline="0" dirty="0" smtClean="0">
                          <a:solidFill>
                            <a:srgbClr val="262626"/>
                          </a:solidFill>
                          <a:ea typeface="나눔스퀘어"/>
                          <a:cs typeface="Arial"/>
                        </a:rPr>
                        <a:t>를 통한 </a:t>
                      </a:r>
                      <a:r>
                        <a:rPr lang="en-US" altLang="ko-KR" sz="1050" b="0" i="0" u="none" strike="noStrike" kern="1200" cap="none" baseline="0" dirty="0" smtClean="0">
                          <a:solidFill>
                            <a:srgbClr val="262626"/>
                          </a:solidFill>
                          <a:ea typeface="나눔스퀘어"/>
                          <a:cs typeface="Arial"/>
                        </a:rPr>
                        <a:t>Agent </a:t>
                      </a:r>
                      <a:r>
                        <a:rPr lang="ko-KR" altLang="en-US" sz="1050" b="0" i="0" u="none" strike="noStrike" kern="1200" cap="none" baseline="0" dirty="0" smtClean="0">
                          <a:solidFill>
                            <a:srgbClr val="262626"/>
                          </a:solidFill>
                          <a:ea typeface="나눔스퀘어"/>
                          <a:cs typeface="Arial"/>
                        </a:rPr>
                        <a:t>구현</a:t>
                      </a:r>
                      <a:endParaRPr lang="ko-KR" altLang="en-US" sz="1050" b="0" i="0" u="none" strike="noStrike" kern="1200" cap="none" dirty="0">
                        <a:solidFill>
                          <a:srgbClr val="262626"/>
                        </a:solidFill>
                        <a:ea typeface="나눔스퀘어"/>
                        <a:cs typeface="Arial"/>
                      </a:endParaRPr>
                    </a:p>
                  </a:txBody>
                  <a:tcPr marL="49846" marR="49846" marT="49846" marB="49846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997569">
                <a:tc>
                  <a:txBody>
                    <a:bodyPr/>
                    <a:lstStyle/>
                    <a:p>
                      <a:pPr marL="0" marR="0" lvl="0" indent="0" algn="ctr" rtl="0" eaLnBrk="1" fontAlgn="ctr" latinLnBrk="0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charset="2"/>
                        <a:buNone/>
                      </a:pPr>
                      <a:r>
                        <a:rPr lang="ko-KR" altLang="en-US" sz="1100" b="0" i="0" u="none" strike="noStrike" kern="1200" cap="none" dirty="0" smtClean="0">
                          <a:solidFill>
                            <a:srgbClr val="262626"/>
                          </a:solidFill>
                          <a:latin typeface="나눔스퀘어" panose="020B0600000101010101" pitchFamily="50" charset="-127"/>
                          <a:ea typeface="나눔스퀘어"/>
                          <a:cs typeface="Arial"/>
                        </a:rPr>
                        <a:t>모듈 평가</a:t>
                      </a:r>
                      <a:endParaRPr lang="ko-KR" altLang="en-US" sz="1100" b="0" i="0" u="none" strike="noStrike" kern="1200" cap="none" dirty="0">
                        <a:solidFill>
                          <a:srgbClr val="262626"/>
                        </a:solidFill>
                        <a:latin typeface="나눔스퀘어" panose="020B0600000101010101" pitchFamily="50" charset="-127"/>
                        <a:ea typeface="나눔스퀘어"/>
                        <a:cs typeface="Arial"/>
                      </a:endParaRPr>
                    </a:p>
                  </a:txBody>
                  <a:tcPr marL="30669" marR="30669" marT="33231" marB="33231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ct val="25000"/>
                        <a:buFont typeface="Noto Sans Symbols"/>
                        <a:buNone/>
                        <a:tabLst/>
                        <a:defRPr/>
                      </a:pPr>
                      <a:r>
                        <a:rPr lang="en-US" altLang="ko-KR" sz="1100" b="0" i="0" u="none" strike="noStrike" kern="1200" cap="none" dirty="0" smtClean="0">
                          <a:solidFill>
                            <a:srgbClr val="262626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/>
                        </a:rPr>
                        <a:t>1</a:t>
                      </a:r>
                      <a:endParaRPr lang="en-US" altLang="ko-KR" sz="1100" b="0" i="0" u="none" strike="noStrike" kern="1200" cap="none" dirty="0">
                        <a:solidFill>
                          <a:srgbClr val="262626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Arial"/>
                      </a:endParaRPr>
                    </a:p>
                  </a:txBody>
                  <a:tcPr marL="49846" marR="49846" marT="49846" marB="49846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050" b="0" i="0" u="none" strike="noStrike" kern="1200" cap="none" dirty="0" smtClean="0">
                          <a:solidFill>
                            <a:srgbClr val="262626"/>
                          </a:solidFill>
                          <a:ea typeface="나눔스퀘어"/>
                          <a:cs typeface="Arial"/>
                        </a:rPr>
                        <a:t>1~3</a:t>
                      </a:r>
                      <a:r>
                        <a:rPr lang="ko-KR" altLang="en-US" sz="1050" b="0" i="0" u="none" strike="noStrike" kern="1200" cap="none" dirty="0" smtClean="0">
                          <a:solidFill>
                            <a:srgbClr val="262626"/>
                          </a:solidFill>
                          <a:ea typeface="나눔스퀘어"/>
                          <a:cs typeface="Arial"/>
                        </a:rPr>
                        <a:t>일차 모듈 평가</a:t>
                      </a:r>
                      <a:endParaRPr lang="ko-KR" altLang="en-US" sz="1050" b="0" i="0" u="none" strike="noStrike" kern="1200" cap="none" dirty="0">
                        <a:solidFill>
                          <a:srgbClr val="262626"/>
                        </a:solidFill>
                        <a:ea typeface="나눔스퀘어"/>
                        <a:cs typeface="Arial"/>
                      </a:endParaRPr>
                    </a:p>
                  </a:txBody>
                  <a:tcPr marL="49846" marR="49846" marT="49846" marB="49846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47926756"/>
                  </a:ext>
                </a:extLst>
              </a:tr>
              <a:tr h="1268096">
                <a:tc>
                  <a:txBody>
                    <a:bodyPr/>
                    <a:lstStyle/>
                    <a:p>
                      <a:pPr marL="0" marR="0" lvl="0" indent="0" algn="ctr" rtl="0" eaLnBrk="1" fontAlgn="ctr" latinLnBrk="0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charset="2"/>
                        <a:buNone/>
                      </a:pPr>
                      <a:r>
                        <a:rPr lang="ko-KR" altLang="en-US" sz="1100" b="0" i="0" u="none" strike="noStrike" kern="1200" cap="none" dirty="0" err="1" smtClean="0">
                          <a:solidFill>
                            <a:srgbClr val="262626"/>
                          </a:solidFill>
                          <a:latin typeface="나눔스퀘어" panose="020B0600000101010101" pitchFamily="50" charset="-127"/>
                          <a:ea typeface="나눔스퀘어"/>
                          <a:cs typeface="Arial"/>
                          <a:sym typeface="Arial"/>
                        </a:rPr>
                        <a:t>뱃지</a:t>
                      </a:r>
                      <a:r>
                        <a:rPr lang="ko-KR" altLang="en-US" sz="1100" b="0" i="0" u="none" strike="noStrike" kern="1200" cap="none" dirty="0" smtClean="0">
                          <a:solidFill>
                            <a:srgbClr val="262626"/>
                          </a:solidFill>
                          <a:latin typeface="나눔스퀘어" panose="020B0600000101010101" pitchFamily="50" charset="-127"/>
                          <a:ea typeface="나눔스퀘어"/>
                          <a:cs typeface="Arial"/>
                          <a:sym typeface="Arial"/>
                        </a:rPr>
                        <a:t> 취득</a:t>
                      </a:r>
                      <a:endParaRPr lang="en-US" altLang="ko-KR" sz="1100" b="0" i="0" u="none" strike="noStrike" kern="1200" cap="none" dirty="0">
                        <a:solidFill>
                          <a:srgbClr val="262626"/>
                        </a:solidFill>
                        <a:latin typeface="나눔스퀘어" panose="020B0600000101010101" pitchFamily="50" charset="-127"/>
                        <a:ea typeface="나눔스퀘어"/>
                        <a:cs typeface="Arial"/>
                        <a:sym typeface="Arial"/>
                      </a:endParaRPr>
                    </a:p>
                  </a:txBody>
                  <a:tcPr marL="30669" marR="30669" marT="33231" marB="33231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ct val="25000"/>
                        <a:buFont typeface="Noto Sans Symbols"/>
                        <a:buNone/>
                      </a:pPr>
                      <a:r>
                        <a:rPr lang="en-US" altLang="ko-KR" sz="1100" b="0" i="0" u="none" strike="noStrike" kern="1200" cap="none" dirty="0" smtClean="0">
                          <a:solidFill>
                            <a:srgbClr val="262626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/>
                        </a:rPr>
                        <a:t>1</a:t>
                      </a:r>
                      <a:endParaRPr lang="en-US" altLang="ko-KR" sz="1100" b="0" i="0" u="none" strike="noStrike" kern="1200" cap="none" dirty="0">
                        <a:solidFill>
                          <a:srgbClr val="262626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Arial"/>
                      </a:endParaRPr>
                    </a:p>
                  </a:txBody>
                  <a:tcPr marL="49846" marR="49846" marT="49846" marB="49846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rtl="0" eaLnBrk="1" fontAlgn="ctr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050" b="0" i="0" u="none" strike="noStrike" kern="1200" cap="none" dirty="0" smtClean="0">
                          <a:solidFill>
                            <a:srgbClr val="262626"/>
                          </a:solidFill>
                          <a:latin typeface="나눔스퀘어" panose="020B0600000101010101" pitchFamily="50" charset="-127"/>
                          <a:ea typeface="나눔스퀘어"/>
                          <a:cs typeface="Arial"/>
                        </a:rPr>
                        <a:t>Orchestrate</a:t>
                      </a:r>
                      <a:r>
                        <a:rPr lang="en-US" altLang="ko-KR" sz="1050" b="0" i="0" u="none" strike="noStrike" kern="1200" cap="none" baseline="0" dirty="0" smtClean="0">
                          <a:solidFill>
                            <a:srgbClr val="262626"/>
                          </a:solidFill>
                          <a:latin typeface="나눔스퀘어" panose="020B0600000101010101" pitchFamily="50" charset="-127"/>
                          <a:ea typeface="나눔스퀘어"/>
                          <a:cs typeface="Arial"/>
                        </a:rPr>
                        <a:t> </a:t>
                      </a:r>
                      <a:r>
                        <a:rPr lang="ko-KR" altLang="en-US" sz="1050" b="0" i="0" u="none" strike="noStrike" kern="1200" cap="none" baseline="0" dirty="0" err="1" smtClean="0">
                          <a:solidFill>
                            <a:srgbClr val="262626"/>
                          </a:solidFill>
                          <a:latin typeface="나눔스퀘어" panose="020B0600000101010101" pitchFamily="50" charset="-127"/>
                          <a:ea typeface="나눔스퀘어"/>
                          <a:cs typeface="Arial"/>
                        </a:rPr>
                        <a:t>뱃지</a:t>
                      </a:r>
                      <a:r>
                        <a:rPr lang="ko-KR" altLang="en-US" sz="1050" b="0" i="0" u="none" strike="noStrike" kern="1200" cap="none" baseline="0" dirty="0" smtClean="0">
                          <a:solidFill>
                            <a:srgbClr val="262626"/>
                          </a:solidFill>
                          <a:latin typeface="나눔스퀘어" panose="020B0600000101010101" pitchFamily="50" charset="-127"/>
                          <a:ea typeface="나눔스퀘어"/>
                          <a:cs typeface="Arial"/>
                        </a:rPr>
                        <a:t> 취득</a:t>
                      </a:r>
                      <a:endParaRPr lang="ko-KR" altLang="en-US" sz="1050" b="0" i="0" u="none" strike="noStrike" kern="1200" cap="none" dirty="0">
                        <a:solidFill>
                          <a:srgbClr val="262626"/>
                        </a:solidFill>
                        <a:latin typeface="나눔스퀘어" panose="020B0600000101010101" pitchFamily="50" charset="-127"/>
                        <a:ea typeface="나눔스퀘어"/>
                        <a:cs typeface="Arial"/>
                      </a:endParaRPr>
                    </a:p>
                  </a:txBody>
                  <a:tcPr marL="49846" marR="49846" marT="49846" marB="49846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4209005588"/>
                  </a:ext>
                </a:extLst>
              </a:tr>
              <a:tr h="997569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000"/>
                        <a:buFont typeface="Noto Sans Symbols"/>
                        <a:buNone/>
                      </a:pPr>
                      <a:endParaRPr lang="ko-KR" altLang="en-US" sz="1100" b="0" i="0" u="none" strike="noStrike" kern="1200" cap="none" dirty="0">
                        <a:solidFill>
                          <a:srgbClr val="262626"/>
                        </a:solidFill>
                        <a:latin typeface="나눔스퀘어" panose="020B0600000101010101" pitchFamily="50" charset="-127"/>
                        <a:ea typeface="나눔스퀘어"/>
                        <a:cs typeface="Arial"/>
                        <a:sym typeface="Arial"/>
                      </a:endParaRPr>
                    </a:p>
                  </a:txBody>
                  <a:tcPr marL="30669" marR="30669" marT="33231" marB="33231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ct val="25000"/>
                        <a:buFont typeface="Noto Sans Symbols"/>
                        <a:buNone/>
                        <a:tabLst/>
                        <a:defRPr/>
                      </a:pPr>
                      <a:endParaRPr lang="en-US" altLang="ko-KR" sz="1100" b="0" i="0" u="none" strike="noStrike" kern="1200" cap="none">
                        <a:solidFill>
                          <a:srgbClr val="262626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Arial"/>
                      </a:endParaRPr>
                    </a:p>
                  </a:txBody>
                  <a:tcPr marL="49846" marR="49846" marT="49846" marB="49846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rtl="0" eaLnBrk="1" fontAlgn="ctr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/>
                        <a:buChar char="§"/>
                      </a:pPr>
                      <a:endParaRPr lang="ko-KR" altLang="en-US" sz="1050" b="0" i="0" u="none" strike="noStrike" kern="1200" cap="none" dirty="0">
                        <a:solidFill>
                          <a:srgbClr val="262626"/>
                        </a:solidFill>
                        <a:latin typeface="나눔스퀘어" panose="020B0600000101010101" pitchFamily="50" charset="-127"/>
                        <a:ea typeface="나눔스퀘어"/>
                        <a:cs typeface="Arial"/>
                      </a:endParaRPr>
                    </a:p>
                  </a:txBody>
                  <a:tcPr marL="49846" marR="49846" marT="49846" marB="49846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289116890"/>
                  </a:ext>
                </a:extLst>
              </a:tr>
            </a:tbl>
          </a:graphicData>
        </a:graphic>
      </p:graphicFrame>
      <p:sp>
        <p:nvSpPr>
          <p:cNvPr id="23" name="직사각형 22">
            <a:extLst>
              <a:ext uri="{FF2B5EF4-FFF2-40B4-BE49-F238E27FC236}">
                <a16:creationId xmlns:a16="http://schemas.microsoft.com/office/drawing/2014/main" xmlns="" id="{3F845A01-5EE8-76B2-2A7F-13CC86685D1C}"/>
              </a:ext>
            </a:extLst>
          </p:cNvPr>
          <p:cNvSpPr/>
          <p:nvPr/>
        </p:nvSpPr>
        <p:spPr>
          <a:xfrm>
            <a:off x="321329" y="968188"/>
            <a:ext cx="3727222" cy="344244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tx1"/>
                </a:solidFill>
              </a:rPr>
              <a:t>1</a:t>
            </a:r>
            <a:r>
              <a:rPr lang="ko-KR" altLang="en-US" sz="1600" dirty="0">
                <a:solidFill>
                  <a:schemeClr val="tx1"/>
                </a:solidFill>
              </a:rPr>
              <a:t>일차 </a:t>
            </a:r>
            <a:r>
              <a:rPr lang="en-US" altLang="ko-KR" sz="1600" dirty="0">
                <a:solidFill>
                  <a:schemeClr val="tx1"/>
                </a:solidFill>
              </a:rPr>
              <a:t>(8</a:t>
            </a:r>
            <a:r>
              <a:rPr lang="ko-KR" altLang="en-US" sz="1600" dirty="0">
                <a:solidFill>
                  <a:schemeClr val="tx1"/>
                </a:solidFill>
              </a:rPr>
              <a:t>시간</a:t>
            </a:r>
            <a:r>
              <a:rPr lang="en-US" altLang="ko-KR" sz="1600" dirty="0">
                <a:solidFill>
                  <a:schemeClr val="tx1"/>
                </a:solidFill>
              </a:rPr>
              <a:t>)</a:t>
            </a:r>
            <a:endParaRPr lang="ko-KR" altLang="en-US" sz="1600" dirty="0">
              <a:solidFill>
                <a:schemeClr val="tx1"/>
              </a:solidFill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xmlns="" id="{BFE43FD5-9EE0-63AC-531F-86F23F6DE7F0}"/>
              </a:ext>
            </a:extLst>
          </p:cNvPr>
          <p:cNvSpPr/>
          <p:nvPr/>
        </p:nvSpPr>
        <p:spPr>
          <a:xfrm>
            <a:off x="4220343" y="975114"/>
            <a:ext cx="3706753" cy="344244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tx1"/>
                </a:solidFill>
              </a:rPr>
              <a:t>2</a:t>
            </a:r>
            <a:r>
              <a:rPr lang="ko-KR" altLang="en-US" sz="1600" dirty="0">
                <a:solidFill>
                  <a:schemeClr val="tx1"/>
                </a:solidFill>
              </a:rPr>
              <a:t>일차 </a:t>
            </a:r>
            <a:r>
              <a:rPr lang="en-US" altLang="ko-KR" sz="1600" dirty="0">
                <a:solidFill>
                  <a:schemeClr val="tx1"/>
                </a:solidFill>
              </a:rPr>
              <a:t>(8</a:t>
            </a:r>
            <a:r>
              <a:rPr lang="ko-KR" altLang="en-US" sz="1600" dirty="0">
                <a:solidFill>
                  <a:schemeClr val="tx1"/>
                </a:solidFill>
              </a:rPr>
              <a:t>시간</a:t>
            </a:r>
            <a:r>
              <a:rPr lang="en-US" altLang="ko-KR" sz="1600" dirty="0">
                <a:solidFill>
                  <a:schemeClr val="tx1"/>
                </a:solidFill>
              </a:rPr>
              <a:t>)</a:t>
            </a:r>
            <a:endParaRPr lang="ko-KR" altLang="en-US" sz="1600" dirty="0">
              <a:solidFill>
                <a:schemeClr val="tx1"/>
              </a:solidFill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xmlns="" id="{E031232C-C8AE-703C-EF3C-57C986FAE152}"/>
              </a:ext>
            </a:extLst>
          </p:cNvPr>
          <p:cNvSpPr/>
          <p:nvPr/>
        </p:nvSpPr>
        <p:spPr>
          <a:xfrm>
            <a:off x="8127779" y="968188"/>
            <a:ext cx="3706753" cy="344244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tx1"/>
                </a:solidFill>
              </a:rPr>
              <a:t>3</a:t>
            </a:r>
            <a:r>
              <a:rPr lang="ko-KR" altLang="en-US" sz="1600" dirty="0">
                <a:solidFill>
                  <a:schemeClr val="tx1"/>
                </a:solidFill>
              </a:rPr>
              <a:t>일차 </a:t>
            </a:r>
            <a:r>
              <a:rPr lang="en-US" altLang="ko-KR" sz="1600" dirty="0">
                <a:solidFill>
                  <a:schemeClr val="tx1"/>
                </a:solidFill>
              </a:rPr>
              <a:t>(8</a:t>
            </a:r>
            <a:r>
              <a:rPr lang="ko-KR" altLang="en-US" sz="1600" dirty="0">
                <a:solidFill>
                  <a:schemeClr val="tx1"/>
                </a:solidFill>
              </a:rPr>
              <a:t>시간</a:t>
            </a:r>
            <a:r>
              <a:rPr lang="en-US" altLang="ko-KR" sz="1600" dirty="0">
                <a:solidFill>
                  <a:schemeClr val="tx1"/>
                </a:solidFill>
              </a:rPr>
              <a:t>)</a:t>
            </a:r>
            <a:endParaRPr lang="ko-KR" altLang="en-US" sz="1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955667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xmlns="" id="{54DB3EF7-95C7-3822-E413-7647B6D2DC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77747-9B60-4934-B9E6-2AD58DACA65B}" type="slidenum">
              <a:rPr lang="ko-KR" altLang="en-US" smtClean="0"/>
              <a:t>4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xmlns="" id="{98C18B05-0F6D-B55C-820C-F03DB1F96B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en-US" altLang="ko-KR" dirty="0" smtClean="0"/>
              <a:t>AI </a:t>
            </a:r>
            <a:r>
              <a:rPr lang="ko-KR" altLang="en-US" dirty="0" smtClean="0"/>
              <a:t>서비스 진화</a:t>
            </a:r>
            <a:endParaRPr lang="ko-KR" altLang="en-US" dirty="0"/>
          </a:p>
        </p:txBody>
      </p:sp>
      <p:pic>
        <p:nvPicPr>
          <p:cNvPr id="1027" name="Picture 3" descr="C:\Users\who_a\Downloads\ChatGPT Image 2026년 6월 23일 오후 06_40_22.pn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281" b="2541"/>
          <a:stretch/>
        </p:blipFill>
        <p:spPr bwMode="auto">
          <a:xfrm>
            <a:off x="460814" y="1064649"/>
            <a:ext cx="11270372" cy="54662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521499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xmlns="" id="{54DB3EF7-95C7-3822-E413-7647B6D2DC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77747-9B60-4934-B9E6-2AD58DACA65B}" type="slidenum">
              <a:rPr lang="ko-KR" altLang="en-US" smtClean="0"/>
              <a:t>5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xmlns="" id="{98C18B05-0F6D-B55C-820C-F03DB1F96B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2. </a:t>
            </a:r>
            <a:r>
              <a:rPr lang="ko-KR" altLang="en-US" dirty="0" err="1" smtClean="0"/>
              <a:t>생성형</a:t>
            </a:r>
            <a:r>
              <a:rPr lang="en-US" altLang="ko-KR" dirty="0" smtClean="0"/>
              <a:t> AI</a:t>
            </a:r>
            <a:r>
              <a:rPr lang="ko-KR" altLang="en-US" dirty="0" smtClean="0"/>
              <a:t>와</a:t>
            </a:r>
            <a:r>
              <a:rPr lang="en-US" altLang="ko-KR" dirty="0" smtClean="0"/>
              <a:t> Agent</a:t>
            </a:r>
            <a:r>
              <a:rPr lang="ko-KR" altLang="en-US" dirty="0" smtClean="0"/>
              <a:t>의 차이점은</a:t>
            </a:r>
            <a:r>
              <a:rPr lang="en-US" altLang="ko-KR" dirty="0" smtClean="0"/>
              <a:t>?</a:t>
            </a:r>
            <a:endParaRPr lang="ko-KR" altLang="en-US" dirty="0"/>
          </a:p>
        </p:txBody>
      </p:sp>
      <p:pic>
        <p:nvPicPr>
          <p:cNvPr id="7171" name="Picture 3" descr="C:\Users\who_a\Downloads\ChatGPT Image 2026년 6월 24일 오후 01_36_50.pn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848"/>
          <a:stretch/>
        </p:blipFill>
        <p:spPr bwMode="auto">
          <a:xfrm>
            <a:off x="1219200" y="1018308"/>
            <a:ext cx="9753600" cy="55369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" name="직선 연결선 3"/>
          <p:cNvCxnSpPr/>
          <p:nvPr/>
        </p:nvCxnSpPr>
        <p:spPr>
          <a:xfrm>
            <a:off x="3318164" y="2029690"/>
            <a:ext cx="782782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직선 연결선 8"/>
          <p:cNvCxnSpPr/>
          <p:nvPr/>
        </p:nvCxnSpPr>
        <p:spPr>
          <a:xfrm>
            <a:off x="8456856" y="2029690"/>
            <a:ext cx="646927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270850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xmlns="" id="{54DB3EF7-95C7-3822-E413-7647B6D2DC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77747-9B60-4934-B9E6-2AD58DACA65B}" type="slidenum">
              <a:rPr lang="ko-KR" altLang="en-US" smtClean="0"/>
              <a:t>6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xmlns="" id="{98C18B05-0F6D-B55C-820C-F03DB1F96B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3. Orchestration</a:t>
            </a:r>
            <a:r>
              <a:rPr lang="ko-KR" altLang="en-US" dirty="0" smtClean="0"/>
              <a:t>은 왜 필요한가</a:t>
            </a:r>
            <a:r>
              <a:rPr lang="en-US" altLang="ko-KR" dirty="0" smtClean="0"/>
              <a:t>?</a:t>
            </a:r>
            <a:endParaRPr lang="ko-KR" altLang="en-US" dirty="0"/>
          </a:p>
        </p:txBody>
      </p:sp>
      <p:pic>
        <p:nvPicPr>
          <p:cNvPr id="8195" name="Picture 3" descr="C:\Users\who_a\Downloads\ChatGPT Image 2026년 6월 24일 오후 02_25_21.pn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884" b="4096"/>
          <a:stretch/>
        </p:blipFill>
        <p:spPr bwMode="auto">
          <a:xfrm>
            <a:off x="1219200" y="1195888"/>
            <a:ext cx="9753600" cy="51381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813305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xmlns="" id="{54DB3EF7-95C7-3822-E413-7647B6D2DC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77747-9B60-4934-B9E6-2AD58DACA65B}" type="slidenum">
              <a:rPr lang="ko-KR" altLang="en-US" smtClean="0"/>
              <a:t>7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xmlns="" id="{98C18B05-0F6D-B55C-820C-F03DB1F96B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4. </a:t>
            </a:r>
            <a:r>
              <a:rPr lang="ko-KR" altLang="en-US" dirty="0" smtClean="0"/>
              <a:t>초기 </a:t>
            </a:r>
            <a:r>
              <a:rPr lang="ko-KR" altLang="en-US" dirty="0" err="1" smtClean="0"/>
              <a:t>생성형</a:t>
            </a:r>
            <a:r>
              <a:rPr lang="en-US" altLang="ko-KR" dirty="0" smtClean="0"/>
              <a:t>AI </a:t>
            </a:r>
            <a:r>
              <a:rPr lang="ko-KR" altLang="en-US" dirty="0" smtClean="0"/>
              <a:t>시대에 우리 기업은</a:t>
            </a:r>
            <a:r>
              <a:rPr lang="en-US" altLang="ko-KR" dirty="0" smtClean="0"/>
              <a:t>?</a:t>
            </a:r>
            <a:endParaRPr lang="ko-KR" altLang="en-US" dirty="0"/>
          </a:p>
        </p:txBody>
      </p:sp>
      <p:grpSp>
        <p:nvGrpSpPr>
          <p:cNvPr id="6" name="그룹 5"/>
          <p:cNvGrpSpPr/>
          <p:nvPr/>
        </p:nvGrpSpPr>
        <p:grpSpPr>
          <a:xfrm>
            <a:off x="769218" y="1195990"/>
            <a:ext cx="6177056" cy="1717505"/>
            <a:chOff x="251925" y="1500790"/>
            <a:chExt cx="6177056" cy="1717505"/>
          </a:xfrm>
        </p:grpSpPr>
        <p:pic>
          <p:nvPicPr>
            <p:cNvPr id="7" name="Picture 3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1925" y="1500790"/>
              <a:ext cx="6177056" cy="1717505"/>
            </a:xfrm>
            <a:prstGeom prst="rect">
              <a:avLst/>
            </a:prstGeom>
            <a:noFill/>
            <a:ln w="9525">
              <a:solidFill>
                <a:schemeClr val="tx1">
                  <a:lumMod val="50000"/>
                  <a:lumOff val="50000"/>
                </a:schemeClr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cxnSp>
          <p:nvCxnSpPr>
            <p:cNvPr id="8" name="직선 연결선 7"/>
            <p:cNvCxnSpPr/>
            <p:nvPr/>
          </p:nvCxnSpPr>
          <p:spPr>
            <a:xfrm>
              <a:off x="445332" y="2250217"/>
              <a:ext cx="3601825" cy="0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" name="그룹 8"/>
          <p:cNvGrpSpPr/>
          <p:nvPr/>
        </p:nvGrpSpPr>
        <p:grpSpPr>
          <a:xfrm>
            <a:off x="5017200" y="2213922"/>
            <a:ext cx="6692308" cy="1288129"/>
            <a:chOff x="3213692" y="2669648"/>
            <a:chExt cx="6692308" cy="1288129"/>
          </a:xfrm>
        </p:grpSpPr>
        <p:pic>
          <p:nvPicPr>
            <p:cNvPr id="10" name="Picture 3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13692" y="2669648"/>
              <a:ext cx="6692308" cy="1288129"/>
            </a:xfrm>
            <a:prstGeom prst="rect">
              <a:avLst/>
            </a:prstGeom>
            <a:noFill/>
            <a:ln w="9525">
              <a:solidFill>
                <a:schemeClr val="tx1">
                  <a:lumMod val="50000"/>
                  <a:lumOff val="50000"/>
                </a:schemeClr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cxnSp>
          <p:nvCxnSpPr>
            <p:cNvPr id="11" name="직선 연결선 10"/>
            <p:cNvCxnSpPr/>
            <p:nvPr/>
          </p:nvCxnSpPr>
          <p:spPr>
            <a:xfrm>
              <a:off x="3281895" y="3546280"/>
              <a:ext cx="3019115" cy="0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/>
            <p:cNvCxnSpPr/>
            <p:nvPr/>
          </p:nvCxnSpPr>
          <p:spPr>
            <a:xfrm>
              <a:off x="8540371" y="3116908"/>
              <a:ext cx="1280399" cy="0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그룹 12"/>
          <p:cNvGrpSpPr/>
          <p:nvPr/>
        </p:nvGrpSpPr>
        <p:grpSpPr>
          <a:xfrm>
            <a:off x="1046153" y="3478049"/>
            <a:ext cx="4370536" cy="2473243"/>
            <a:chOff x="138758" y="3782849"/>
            <a:chExt cx="4370536" cy="2473243"/>
          </a:xfrm>
        </p:grpSpPr>
        <p:pic>
          <p:nvPicPr>
            <p:cNvPr id="14" name="Picture 2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8758" y="3782849"/>
              <a:ext cx="4370536" cy="2473243"/>
            </a:xfrm>
            <a:prstGeom prst="rect">
              <a:avLst/>
            </a:prstGeom>
            <a:noFill/>
            <a:ln w="9525">
              <a:solidFill>
                <a:schemeClr val="tx1">
                  <a:lumMod val="50000"/>
                  <a:lumOff val="50000"/>
                </a:schemeClr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cxnSp>
          <p:nvCxnSpPr>
            <p:cNvPr id="15" name="직선 연결선 14"/>
            <p:cNvCxnSpPr/>
            <p:nvPr/>
          </p:nvCxnSpPr>
          <p:spPr>
            <a:xfrm>
              <a:off x="330538" y="4715121"/>
              <a:ext cx="4018443" cy="0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/>
            <p:cNvCxnSpPr/>
            <p:nvPr/>
          </p:nvCxnSpPr>
          <p:spPr>
            <a:xfrm>
              <a:off x="179720" y="5072930"/>
              <a:ext cx="827308" cy="0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그룹 16"/>
          <p:cNvGrpSpPr/>
          <p:nvPr/>
        </p:nvGrpSpPr>
        <p:grpSpPr>
          <a:xfrm>
            <a:off x="6264930" y="4533048"/>
            <a:ext cx="5205646" cy="1418244"/>
            <a:chOff x="4612348" y="4837848"/>
            <a:chExt cx="5205646" cy="1418244"/>
          </a:xfrm>
        </p:grpSpPr>
        <p:pic>
          <p:nvPicPr>
            <p:cNvPr id="18" name="Picture 4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12348" y="4837848"/>
              <a:ext cx="5205646" cy="1418244"/>
            </a:xfrm>
            <a:prstGeom prst="rect">
              <a:avLst/>
            </a:prstGeom>
            <a:noFill/>
            <a:ln w="9525">
              <a:solidFill>
                <a:schemeClr val="tx1">
                  <a:lumMod val="50000"/>
                  <a:lumOff val="50000"/>
                </a:schemeClr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cxnSp>
          <p:nvCxnSpPr>
            <p:cNvPr id="19" name="직선 연결선 18"/>
            <p:cNvCxnSpPr/>
            <p:nvPr/>
          </p:nvCxnSpPr>
          <p:spPr>
            <a:xfrm>
              <a:off x="6576680" y="5637474"/>
              <a:ext cx="2062095" cy="0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1123640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000"/>
                            </p:stCondLst>
                            <p:childTnLst>
                              <p:par>
                                <p:cTn id="18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3000"/>
                            </p:stCondLst>
                            <p:childTnLst>
                              <p:par>
                                <p:cTn id="24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xmlns="" id="{54DB3EF7-95C7-3822-E413-7647B6D2DC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77747-9B60-4934-B9E6-2AD58DACA65B}" type="slidenum">
              <a:rPr lang="ko-KR" altLang="en-US" smtClean="0"/>
              <a:t>8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xmlns="" id="{98C18B05-0F6D-B55C-820C-F03DB1F96B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5. </a:t>
            </a:r>
            <a:r>
              <a:rPr lang="ko-KR" altLang="en-US" dirty="0" smtClean="0"/>
              <a:t>초기 </a:t>
            </a:r>
            <a:r>
              <a:rPr lang="en-US" altLang="ko-KR" dirty="0" smtClean="0"/>
              <a:t>Agent </a:t>
            </a:r>
            <a:r>
              <a:rPr lang="ko-KR" altLang="en-US" dirty="0" smtClean="0"/>
              <a:t>수행 과제</a:t>
            </a:r>
            <a:endParaRPr lang="ko-KR" altLang="en-US" dirty="0"/>
          </a:p>
        </p:txBody>
      </p:sp>
      <p:pic>
        <p:nvPicPr>
          <p:cNvPr id="9218" name="Picture 2" descr="C:\Users\who_a\Downloads\ChatGPT Image 2026년 6월 24일 오후 02_54_13.pn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31" b="2500"/>
          <a:stretch/>
        </p:blipFill>
        <p:spPr bwMode="auto">
          <a:xfrm>
            <a:off x="755084" y="1044402"/>
            <a:ext cx="10681833" cy="55173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158338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xmlns="" id="{54DB3EF7-95C7-3822-E413-7647B6D2DC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77747-9B60-4934-B9E6-2AD58DACA65B}" type="slidenum">
              <a:rPr lang="ko-KR" altLang="en-US" smtClean="0"/>
              <a:t>9</a:t>
            </a:fld>
            <a:endParaRPr lang="ko-KR" altLang="en-US" dirty="0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xmlns="" id="{98C18B05-0F6D-B55C-820C-F03DB1F96B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6. </a:t>
            </a:r>
            <a:r>
              <a:rPr lang="ko-KR" altLang="en-US" dirty="0" smtClean="0"/>
              <a:t>개별 </a:t>
            </a:r>
            <a:r>
              <a:rPr lang="en-US" altLang="ko-KR" dirty="0"/>
              <a:t>Agent</a:t>
            </a:r>
            <a:r>
              <a:rPr lang="ko-KR" altLang="en-US" dirty="0"/>
              <a:t>를 넘어</a:t>
            </a:r>
            <a:r>
              <a:rPr lang="en-US" altLang="ko-KR" dirty="0"/>
              <a:t>, </a:t>
            </a:r>
            <a:r>
              <a:rPr lang="en-US" altLang="ko-KR" dirty="0" smtClean="0"/>
              <a:t>AI </a:t>
            </a:r>
            <a:r>
              <a:rPr lang="ko-KR" altLang="en-US" dirty="0"/>
              <a:t>서비스 </a:t>
            </a:r>
            <a:r>
              <a:rPr lang="ko-KR" altLang="en-US" dirty="0" smtClean="0"/>
              <a:t>확장</a:t>
            </a:r>
            <a:endParaRPr lang="ko-KR" altLang="en-US" dirty="0"/>
          </a:p>
        </p:txBody>
      </p:sp>
      <p:pic>
        <p:nvPicPr>
          <p:cNvPr id="10242" name="Picture 2" descr="C:\Users\who_a\Downloads\ChatGPT Image 2026년 6월 24일 오후 03_09_10.pn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384" b="4426"/>
          <a:stretch/>
        </p:blipFill>
        <p:spPr bwMode="auto">
          <a:xfrm>
            <a:off x="603564" y="1036346"/>
            <a:ext cx="10984872" cy="55139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60412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xmlns="" id="{54DB3EF7-95C7-3822-E413-7647B6D2DC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77747-9B60-4934-B9E6-2AD58DACA65B}" type="slidenum">
              <a:rPr lang="ko-KR" altLang="en-US" smtClean="0"/>
              <a:t>10</a:t>
            </a:fld>
            <a:endParaRPr lang="ko-KR" altLang="en-US" dirty="0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xmlns="" id="{98C18B05-0F6D-B55C-820C-F03DB1F96B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7. Agent Orchestration</a:t>
            </a:r>
            <a:r>
              <a:rPr lang="ko-KR" altLang="en-US" dirty="0" smtClean="0"/>
              <a:t>을 통한 서비스 확장</a:t>
            </a:r>
            <a:endParaRPr lang="ko-KR" altLang="en-US" dirty="0"/>
          </a:p>
        </p:txBody>
      </p:sp>
      <p:pic>
        <p:nvPicPr>
          <p:cNvPr id="11266" name="Picture 2" descr="C:\Users\who_a\Downloads\ChatGPT Image 2026년 6월 24일 오후 04_29_24.pn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832"/>
          <a:stretch/>
        </p:blipFill>
        <p:spPr bwMode="auto">
          <a:xfrm>
            <a:off x="1219200" y="1055997"/>
            <a:ext cx="9753601" cy="54729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994189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xmlns="" id="{54DB3EF7-95C7-3822-E413-7647B6D2DC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77747-9B60-4934-B9E6-2AD58DACA65B}" type="slidenum">
              <a:rPr lang="ko-KR" altLang="en-US" smtClean="0"/>
              <a:t>11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xmlns="" id="{98C18B05-0F6D-B55C-820C-F03DB1F96B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8</a:t>
            </a:r>
            <a:r>
              <a:rPr lang="en-US" altLang="ko-KR" dirty="0" smtClean="0"/>
              <a:t>. Multi Agent</a:t>
            </a:r>
            <a:r>
              <a:rPr lang="ko-KR" altLang="en-US" dirty="0" smtClean="0"/>
              <a:t>란</a:t>
            </a:r>
            <a:r>
              <a:rPr lang="en-US" altLang="ko-KR" dirty="0" smtClean="0"/>
              <a:t>?</a:t>
            </a:r>
            <a:endParaRPr lang="ko-KR" altLang="en-US" dirty="0"/>
          </a:p>
        </p:txBody>
      </p:sp>
      <p:pic>
        <p:nvPicPr>
          <p:cNvPr id="5123" name="Picture 3" descr="C:\Users\who_a\Downloads\ChatGPT Image 2026년 6월 23일 오후 07_32_39.pn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009"/>
          <a:stretch/>
        </p:blipFill>
        <p:spPr bwMode="auto">
          <a:xfrm>
            <a:off x="958983" y="1012667"/>
            <a:ext cx="10274035" cy="55450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307608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xmlns="" id="{54DB3EF7-95C7-3822-E413-7647B6D2DC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77747-9B60-4934-B9E6-2AD58DACA65B}" type="slidenum">
              <a:rPr lang="ko-KR" altLang="en-US" smtClean="0"/>
              <a:t>12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xmlns="" id="{98C18B05-0F6D-B55C-820C-F03DB1F96B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9</a:t>
            </a:r>
            <a:r>
              <a:rPr lang="en-US" altLang="ko-KR" dirty="0" smtClean="0"/>
              <a:t>. Agent Orchestration </a:t>
            </a:r>
            <a:r>
              <a:rPr lang="ko-KR" altLang="en-US" dirty="0" smtClean="0"/>
              <a:t>동작</a:t>
            </a:r>
            <a:endParaRPr lang="ko-KR" altLang="en-US" dirty="0"/>
          </a:p>
        </p:txBody>
      </p:sp>
      <p:pic>
        <p:nvPicPr>
          <p:cNvPr id="1026" name="Picture 2" descr="C:\Users\who_a\Downloads\ChatGPT Image 2026년 7월 3일 오후 01_29_18.pn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50" t="14228" r="3241" b="3035"/>
          <a:stretch/>
        </p:blipFill>
        <p:spPr bwMode="auto">
          <a:xfrm>
            <a:off x="689499" y="1027794"/>
            <a:ext cx="10813002" cy="54880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585977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xmlns="" id="{54DB3EF7-95C7-3822-E413-7647B6D2DC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77747-9B60-4934-B9E6-2AD58DACA65B}" type="slidenum">
              <a:rPr lang="ko-KR" altLang="en-US" smtClean="0"/>
              <a:t>13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xmlns="" id="{98C18B05-0F6D-B55C-820C-F03DB1F96B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10. Orchestration Pattern</a:t>
            </a:r>
            <a:endParaRPr lang="ko-KR" altLang="en-US" dirty="0"/>
          </a:p>
        </p:txBody>
      </p:sp>
      <p:pic>
        <p:nvPicPr>
          <p:cNvPr id="4098" name="Picture 2" descr="C:\Users\who_a\Downloads\ChatGPT Image 2026년 6월 23일 오후 06_27_00.pn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610" b="3144"/>
          <a:stretch/>
        </p:blipFill>
        <p:spPr bwMode="auto">
          <a:xfrm>
            <a:off x="371601" y="1086948"/>
            <a:ext cx="11448799" cy="54283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455649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xmlns="" id="{54DB3EF7-95C7-3822-E413-7647B6D2DC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77747-9B60-4934-B9E6-2AD58DACA65B}" type="slidenum">
              <a:rPr lang="ko-KR" altLang="en-US" smtClean="0"/>
              <a:t>14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xmlns="" id="{98C18B05-0F6D-B55C-820C-F03DB1F96B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4. Orchestration Pattern</a:t>
            </a:r>
            <a:endParaRPr lang="ko-KR" altLang="en-US" dirty="0"/>
          </a:p>
        </p:txBody>
      </p:sp>
      <p:sp>
        <p:nvSpPr>
          <p:cNvPr id="2" name="직사각형 1">
            <a:hlinkClick r:id="rId3"/>
          </p:cNvPr>
          <p:cNvSpPr/>
          <p:nvPr/>
        </p:nvSpPr>
        <p:spPr>
          <a:xfrm>
            <a:off x="664068" y="1452196"/>
            <a:ext cx="411683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>
                <a:hlinkClick r:id="rId3"/>
              </a:rPr>
              <a:t>https://github.com/J-HO89/Education</a:t>
            </a:r>
            <a:endParaRPr lang="ko-KR" altLang="en-US" dirty="0"/>
          </a:p>
        </p:txBody>
      </p:sp>
      <p:sp>
        <p:nvSpPr>
          <p:cNvPr id="4" name="순서도: 추출 3">
            <a:hlinkClick r:id="rId3"/>
          </p:cNvPr>
          <p:cNvSpPr/>
          <p:nvPr/>
        </p:nvSpPr>
        <p:spPr>
          <a:xfrm rot="5400000">
            <a:off x="4939355" y="1341145"/>
            <a:ext cx="591433" cy="591433"/>
          </a:xfrm>
          <a:prstGeom prst="flowChartExtra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48601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xmlns="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xmlns="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xmlns="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24602</TotalTime>
  <Words>2392</Words>
  <Application>Microsoft Office PowerPoint</Application>
  <PresentationFormat>사용자 지정</PresentationFormat>
  <Paragraphs>299</Paragraphs>
  <Slides>14</Slides>
  <Notes>14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15" baseType="lpstr">
      <vt:lpstr>Office 테마</vt:lpstr>
      <vt:lpstr>Agentic AI Workflow Automation (Agent Orchestration 이해)</vt:lpstr>
      <vt:lpstr>교육소개</vt:lpstr>
      <vt:lpstr>교육일정_3일 24시간</vt:lpstr>
      <vt:lpstr>1. AI 서비스 진화</vt:lpstr>
      <vt:lpstr>2. 생성형 AI와 Agent의 차이점은?</vt:lpstr>
      <vt:lpstr>3. Orchestration은 왜 필요한가?</vt:lpstr>
      <vt:lpstr>4. 초기 생성형AI 시대에 우리 기업은?</vt:lpstr>
      <vt:lpstr>5. 초기 Agent 수행 과제</vt:lpstr>
      <vt:lpstr>6. 개별 Agent를 넘어, AI 서비스 확장</vt:lpstr>
      <vt:lpstr>7. Agent Orchestration을 통한 서비스 확장</vt:lpstr>
      <vt:lpstr>8. Multi Agent란?</vt:lpstr>
      <vt:lpstr>9. Agent Orchestration 동작</vt:lpstr>
      <vt:lpstr>10. Orchestration Pattern</vt:lpstr>
      <vt:lpstr>4. Orchestration Pattern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과정(모듈)명</dc:title>
  <dc:creator>한 다운</dc:creator>
  <cp:lastModifiedBy>who_a_uu@naver.com</cp:lastModifiedBy>
  <cp:revision>79</cp:revision>
  <dcterms:created xsi:type="dcterms:W3CDTF">2025-07-16T02:47:39Z</dcterms:created>
  <dcterms:modified xsi:type="dcterms:W3CDTF">2026-07-07T00:24:43Z</dcterms:modified>
</cp:coreProperties>
</file>