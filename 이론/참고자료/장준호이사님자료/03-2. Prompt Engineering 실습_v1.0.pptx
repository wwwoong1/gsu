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1151" r:id="rId5"/>
    <p:sldId id="1188" r:id="rId6"/>
    <p:sldId id="1190" r:id="rId7"/>
    <p:sldId id="1194" r:id="rId8"/>
    <p:sldId id="1191" r:id="rId9"/>
    <p:sldId id="1192" r:id="rId10"/>
    <p:sldId id="1193" r:id="rId11"/>
    <p:sldId id="1195" r:id="rId12"/>
    <p:sldId id="1196" r:id="rId13"/>
    <p:sldId id="1197" r:id="rId14"/>
    <p:sldId id="1198" r:id="rId15"/>
    <p:sldId id="1199" r:id="rId16"/>
    <p:sldId id="1200" r:id="rId17"/>
    <p:sldId id="1152" r:id="rId18"/>
  </p:sldIdLst>
  <p:sldSz cx="9906000" cy="6858000" type="A4"/>
  <p:notesSz cx="6797675" cy="9926638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ix고딕 B" panose="02020603020101020101" pitchFamily="18" charset="-127"/>
      <p:regular r:id="rId25"/>
    </p:embeddedFont>
    <p:embeddedFont>
      <p:font typeface="Rix고딕 EB" panose="02020603020101020101" pitchFamily="18" charset="-127"/>
      <p:regular r:id="rId26"/>
    </p:embeddedFont>
    <p:embeddedFont>
      <p:font typeface="Rix고딕 L" panose="02020603020101020101" pitchFamily="18" charset="-127"/>
      <p:regular r:id="rId27"/>
    </p:embeddedFont>
    <p:embeddedFont>
      <p:font typeface="Rix고딕 M" panose="02020603020101020101" pitchFamily="18" charset="-127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12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26">
          <p15:clr>
            <a:srgbClr val="A4A3A4"/>
          </p15:clr>
        </p15:guide>
        <p15:guide id="7" pos="489">
          <p15:clr>
            <a:srgbClr val="A4A3A4"/>
          </p15:clr>
        </p15:guide>
        <p15:guide id="9" pos="58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FF"/>
    <a:srgbClr val="143F90"/>
    <a:srgbClr val="DFEDF5"/>
    <a:srgbClr val="008E69"/>
    <a:srgbClr val="53FFD2"/>
    <a:srgbClr val="7DA2EB"/>
    <a:srgbClr val="AFC6F3"/>
    <a:srgbClr val="C2D3F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12" autoAdjust="0"/>
    <p:restoredTop sz="96695" autoAdjust="0"/>
  </p:normalViewPr>
  <p:slideViewPr>
    <p:cSldViewPr>
      <p:cViewPr varScale="1">
        <p:scale>
          <a:sx n="74" d="100"/>
          <a:sy n="74" d="100"/>
        </p:scale>
        <p:origin x="1723" y="283"/>
      </p:cViewPr>
      <p:guideLst>
        <p:guide orient="horz" pos="2160"/>
        <p:guide pos="3120"/>
        <p:guide orient="horz" pos="4020"/>
        <p:guide orient="horz" pos="1026"/>
        <p:guide pos="489"/>
        <p:guide pos="588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26292"/>
    </p:cViewPr>
  </p:sorterViewPr>
  <p:notesViewPr>
    <p:cSldViewPr>
      <p:cViewPr varScale="1">
        <p:scale>
          <a:sx n="55" d="100"/>
          <a:sy n="55" d="100"/>
        </p:scale>
        <p:origin x="3318" y="9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750" y="0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3E81C32A-3A80-4A7D-8BDE-AAC2FB4FD2B9}" type="datetimeFigureOut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2025-12-18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305"/>
            <a:ext cx="2945406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750" y="9429305"/>
            <a:ext cx="2945405" cy="49579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DA551EA-9673-4CB8-9725-DCAE777531BB}" type="slidenum">
              <a:rPr lang="ko-KR" altLang="en-US" smtClean="0">
                <a:latin typeface="Rix고딕 B" panose="02020603020101020101" pitchFamily="18" charset="-127"/>
                <a:ea typeface="Rix고딕 B" panose="02020603020101020101" pitchFamily="18" charset="-127"/>
              </a:rPr>
              <a:t>‹#›</a:t>
            </a:fld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23600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fld id="{EA943608-30A2-4DD3-A5E1-F7D1EE9D25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8" y="98425"/>
            <a:ext cx="6729412" cy="4660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5" tIns="44092" rIns="88185" bIns="44092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9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82740" y="5172842"/>
            <a:ext cx="6623411" cy="4320482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1116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B" panose="02020603020101020101" pitchFamily="18" charset="-127"/>
        <a:ea typeface="Rix고딕 B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638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57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43608-30A2-4DD3-A5E1-F7D1EE9D253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04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80167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Chapter1. Prompt Engineering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실습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(VS Code)</a:t>
            </a:r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2025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302684991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  <a:scene3d>
              <a:camera prst="orthographicFront"/>
              <a:lightRig rig="threePt" dir="t"/>
            </a:scene3d>
            <a:sp3d prstMaterial="softEdge">
              <a:contourClr>
                <a:schemeClr val="bg1"/>
              </a:contourClr>
            </a:sp3d>
          </a:bodyPr>
          <a:lstStyle>
            <a:lvl1pPr marL="0" indent="0" algn="l" rtl="0" eaLnBrk="0" fontAlgn="base" latinLnBrk="1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1" lang="ko-KR" altLang="en-US" sz="2600" b="0" kern="0" spc="0" baseline="0" dirty="0">
                <a:ln w="1905"/>
                <a:gradFill>
                  <a:gsLst>
                    <a:gs pos="63750">
                      <a:srgbClr val="0070C0"/>
                    </a:gs>
                    <a:gs pos="75000">
                      <a:srgbClr val="0070C0"/>
                    </a:gs>
                  </a:gsLst>
                  <a:lin ang="5400000" scaled="0"/>
                </a:gradFill>
                <a:effectLst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178"/>
          <p:cNvSpPr>
            <a:spLocks noChangeArrowheads="1"/>
          </p:cNvSpPr>
          <p:nvPr userDrawn="1"/>
        </p:nvSpPr>
        <p:spPr bwMode="auto">
          <a:xfrm>
            <a:off x="4859074" y="6572035"/>
            <a:ext cx="4115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0" lang="en-US" altLang="ko-KR" sz="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Rix고딕 M" panose="02020603020101020101" pitchFamily="18" charset="-127"/>
                <a:ea typeface="Rix고딕 M" panose="02020603020101020101" pitchFamily="18" charset="-127"/>
              </a:rPr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780528" y="431468"/>
            <a:ext cx="2804320" cy="16801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noAutofit/>
          </a:bodyPr>
          <a:lstStyle>
            <a:defPPr>
              <a:defRPr lang="ko-KR"/>
            </a:defPPr>
            <a:lvl1pPr>
              <a:defRPr sz="900">
                <a:solidFill>
                  <a:schemeClr val="accent2"/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Chapter2. Engineering </a:t>
            </a:r>
            <a:r>
              <a:rPr lang="ko-KR" altLang="en-US" dirty="0">
                <a:latin typeface="Rix고딕 B" panose="02020603020101020101" pitchFamily="18" charset="-127"/>
                <a:ea typeface="Rix고딕 B" panose="02020603020101020101" pitchFamily="18" charset="-127"/>
              </a:rPr>
              <a:t>실습</a:t>
            </a:r>
            <a:r>
              <a:rPr lang="en-US" altLang="ko-KR" dirty="0">
                <a:latin typeface="Rix고딕 B" panose="02020603020101020101" pitchFamily="18" charset="-127"/>
                <a:ea typeface="Rix고딕 B" panose="02020603020101020101" pitchFamily="18" charset="-127"/>
              </a:rPr>
              <a:t>(Watsonx.ai)</a:t>
            </a:r>
            <a:endParaRPr lang="ko-KR" altLang="en-US" dirty="0"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A4BA3C-9FF2-4E45-ACCE-87171600FA3F}"/>
              </a:ext>
            </a:extLst>
          </p:cNvPr>
          <p:cNvSpPr/>
          <p:nvPr userDrawn="1"/>
        </p:nvSpPr>
        <p:spPr>
          <a:xfrm>
            <a:off x="295276" y="6560440"/>
            <a:ext cx="18806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©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2023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DataSolution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Rix고딕 B" panose="02020603020101020101" pitchFamily="18" charset="-127"/>
                <a:cs typeface="Arial" pitchFamily="34" charset="0"/>
              </a:rPr>
              <a:t> Inc. | Education</a:t>
            </a:r>
          </a:p>
        </p:txBody>
      </p:sp>
    </p:spTree>
    <p:extLst>
      <p:ext uri="{BB962C8B-B14F-4D97-AF65-F5344CB8AC3E}">
        <p14:creationId xmlns:p14="http://schemas.microsoft.com/office/powerpoint/2010/main" val="1938080393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9" r:id="rId2"/>
    <p:sldLayoutId id="2147483700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04721" y="2023562"/>
            <a:ext cx="4689617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1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Prompt Engineering</a:t>
            </a:r>
            <a:r>
              <a:rPr lang="ko-KR" altLang="en-US" sz="31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EB" panose="02020603020101020101" pitchFamily="18" charset="-127"/>
                <a:ea typeface="Rix고딕 EB" panose="02020603020101020101" pitchFamily="18" charset="-127"/>
              </a:rPr>
              <a:t>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2969" y="2737937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300" dirty="0">
                <a:gradFill>
                  <a:gsLst>
                    <a:gs pos="54583">
                      <a:srgbClr val="143F90"/>
                    </a:gs>
                    <a:gs pos="47500">
                      <a:srgbClr val="143F90"/>
                    </a:gs>
                  </a:gsLst>
                  <a:lin ang="5400000" scaled="0"/>
                </a:gradFill>
                <a:latin typeface="Rix고딕 B" panose="02020603020101020101" pitchFamily="18" charset="-127"/>
                <a:ea typeface="Rix고딕 B" panose="02020603020101020101" pitchFamily="18" charset="-127"/>
              </a:rPr>
              <a:t>장준호</a:t>
            </a:r>
            <a:endParaRPr lang="en-US" altLang="ko-KR" sz="1600" spc="300" dirty="0">
              <a:gradFill>
                <a:gsLst>
                  <a:gs pos="54583">
                    <a:srgbClr val="143F90"/>
                  </a:gs>
                  <a:gs pos="47500">
                    <a:srgbClr val="143F90"/>
                  </a:gs>
                </a:gsLst>
                <a:lin ang="5400000" scaled="0"/>
              </a:gra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B766D6-D24B-4EF3-99AB-0E700B49FB76}"/>
              </a:ext>
            </a:extLst>
          </p:cNvPr>
          <p:cNvSpPr/>
          <p:nvPr/>
        </p:nvSpPr>
        <p:spPr>
          <a:xfrm>
            <a:off x="4973950" y="116632"/>
            <a:ext cx="473398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ko-KR" sz="9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NOTICE: Proprietary and Confidential Copyright © </a:t>
            </a:r>
            <a:r>
              <a:rPr kumimoji="0" lang="en-US" altLang="ko-KR" sz="900" dirty="0" err="1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9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643F-0F61-4F13-995A-D52EF8C8A027}"/>
              </a:ext>
            </a:extLst>
          </p:cNvPr>
          <p:cNvSpPr txBox="1"/>
          <p:nvPr/>
        </p:nvSpPr>
        <p:spPr>
          <a:xfrm>
            <a:off x="436687" y="101243"/>
            <a:ext cx="2230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ko-KR" sz="1000" dirty="0" err="1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DataSolution</a:t>
            </a:r>
            <a:r>
              <a:rPr kumimoji="0" lang="en-US" altLang="ko-KR" sz="1000" dirty="0">
                <a:gradFill>
                  <a:gsLst>
                    <a:gs pos="8750">
                      <a:schemeClr val="tx1">
                        <a:lumMod val="50000"/>
                        <a:lumOff val="50000"/>
                      </a:schemeClr>
                    </a:gs>
                    <a:gs pos="16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Rix고딕 M" panose="02020603020101020101" pitchFamily="18" charset="-127"/>
                <a:ea typeface="Rix고딕 M" panose="02020603020101020101" pitchFamily="18" charset="-127"/>
                <a:cs typeface="Arial" pitchFamily="34" charset="0"/>
              </a:rPr>
              <a:t> Inc. Consulting Dept. </a:t>
            </a:r>
          </a:p>
        </p:txBody>
      </p:sp>
    </p:spTree>
    <p:extLst>
      <p:ext uri="{BB962C8B-B14F-4D97-AF65-F5344CB8AC3E}">
        <p14:creationId xmlns:p14="http://schemas.microsoft.com/office/powerpoint/2010/main" val="78233089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367B-6345-E8D1-0C9B-2E53F91F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85F3F-164C-9772-ADFC-A396923D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ko-KR" altLang="en-US" dirty="0"/>
              <a:t>프롬프트 엔지니어링 기술 </a:t>
            </a:r>
            <a:r>
              <a:rPr lang="en-US" altLang="ko-KR" dirty="0"/>
              <a:t>: </a:t>
            </a:r>
            <a:r>
              <a:rPr lang="ko-KR" altLang="en-US" dirty="0"/>
              <a:t>원칙과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02EB7-62B6-5B70-F512-BD54A5A1CDE4}"/>
              </a:ext>
            </a:extLst>
          </p:cNvPr>
          <p:cNvSpPr txBox="1"/>
          <p:nvPr/>
        </p:nvSpPr>
        <p:spPr>
          <a:xfrm>
            <a:off x="3080792" y="1647243"/>
            <a:ext cx="6449836" cy="264585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원칙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1 : 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명확하고 구체적인 지침</a:t>
            </a:r>
            <a:endParaRPr lang="en-US" altLang="ko-KR" sz="1400" b="1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구분 기호를 사용하여 입력의 개별 부분을 명확하게 표시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구조화된 출력형식 요청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3.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조건이 만족되는지 확인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4. “N-shot” </a:t>
            </a:r>
            <a:r>
              <a:rPr lang="ko-KR" altLang="en-US" sz="1400" dirty="0" err="1">
                <a:latin typeface="Rix고딕 M" panose="02020603020101020101" pitchFamily="18" charset="-127"/>
                <a:ea typeface="Rix고딕 M" panose="02020603020101020101" pitchFamily="18" charset="-127"/>
              </a:rPr>
              <a:t>프롬프팅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원칙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2 :  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모델에게 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"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생각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"</a:t>
            </a: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할 시간을 주세요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작업을 완료하는 데 필요한 단계 지정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전략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성급하게 결론을 내리기 전에 모델에게 자체 솔루션을 마련하도록 지시</a:t>
            </a:r>
            <a:endParaRPr lang="en-US" altLang="ko-KR" sz="1400" dirty="0">
              <a:latin typeface="Rix고딕 M" panose="02020603020101020101" pitchFamily="18" charset="-127"/>
              <a:ea typeface="Rix고딕 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9E074-8507-1F2F-F2A6-D5263C67DBCB}"/>
              </a:ext>
            </a:extLst>
          </p:cNvPr>
          <p:cNvSpPr txBox="1"/>
          <p:nvPr/>
        </p:nvSpPr>
        <p:spPr>
          <a:xfrm>
            <a:off x="3080791" y="4381806"/>
            <a:ext cx="6264822" cy="1999522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>
              <a:lnSpc>
                <a:spcPct val="150000"/>
              </a:lnSpc>
            </a:pPr>
            <a:r>
              <a:rPr lang="ko-KR" altLang="en-US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추가 전략</a:t>
            </a:r>
            <a:r>
              <a:rPr lang="en-US" altLang="ko-KR" sz="1400" b="1" dirty="0">
                <a:latin typeface="Rix고딕 M" panose="02020603020101020101" pitchFamily="18" charset="-127"/>
                <a:ea typeface="Rix고딕 M" panose="02020603020101020101" pitchFamily="18" charset="-127"/>
              </a:rPr>
              <a:t> : 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1.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단계적 생각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COT(Chain-of-Thought) :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다단계 문제에 대한 최종 답변을 제공하기 전에 중간 추론 단계를 생성합니다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2. 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생성된 지식 프롬프트 사용 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: AI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에게 주어진 질문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프롬프트에 대해 잠재적으로 유용한 정보를 생성하도록 요청한 다음 제공된 지식을 최종 질문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/</a:t>
            </a:r>
            <a:r>
              <a:rPr lang="ko-KR" altLang="en-US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프롬프트 생성을 위한 추가 입력으로 활용하는 것입니다</a:t>
            </a:r>
            <a:r>
              <a:rPr lang="en-US" altLang="ko-KR" sz="1400" dirty="0">
                <a:latin typeface="Rix고딕 M" panose="02020603020101020101" pitchFamily="18" charset="-127"/>
                <a:ea typeface="Rix고딕 M" panose="02020603020101020101" pitchFamily="18" charset="-127"/>
              </a:rPr>
              <a:t>.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19316151-FF4A-C112-8773-8089DD0C6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2658774"/>
            <a:ext cx="1920648" cy="154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2225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5E1F-4B4E-022A-F181-A0D821934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00A3E-E70D-6371-2AE6-7481EBC0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68A98-5F86-AB23-F5BC-ABA8C11D0B61}"/>
              </a:ext>
            </a:extLst>
          </p:cNvPr>
          <p:cNvSpPr txBox="1"/>
          <p:nvPr/>
        </p:nvSpPr>
        <p:spPr>
          <a:xfrm>
            <a:off x="920551" y="3177183"/>
            <a:ext cx="8425061" cy="295298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load_dotenv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ibm_cloud_url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'https://us-south.ml.cloud.ibm.com'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project_id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'78753f00-619f-4a80-aa50-52242582d89f'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api_key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'rg_5Rx3rLg0YSK1rp4uYqXKJ9tebwbIa9cA7AwH4-aug'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creds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ibm_cloud_url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apikey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api_key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모델 인스턴스 준비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model_id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ibm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/granite-3-3-8b-instruct'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credentials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creds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project_id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project_id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94BE9-3903-FF46-4010-E042AE3150F7}"/>
              </a:ext>
            </a:extLst>
          </p:cNvPr>
          <p:cNvSpPr txBox="1"/>
          <p:nvPr/>
        </p:nvSpPr>
        <p:spPr>
          <a:xfrm>
            <a:off x="920551" y="1988840"/>
            <a:ext cx="8425061" cy="7985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dotenv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load_dotenv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ibm_watson_machine_learning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foundation_models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ibm_watson_machine_learning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metanames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GenTextParamsMetaNames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GenParams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6AD7D-9BD0-0123-37E5-CA481AC0C6DD}"/>
              </a:ext>
            </a:extLst>
          </p:cNvPr>
          <p:cNvSpPr txBox="1"/>
          <p:nvPr/>
        </p:nvSpPr>
        <p:spPr>
          <a:xfrm>
            <a:off x="848544" y="1599049"/>
            <a:ext cx="4954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초기 설정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971D3-822A-6C11-2A45-CED048A9E7E4}"/>
              </a:ext>
            </a:extLst>
          </p:cNvPr>
          <p:cNvSpPr txBox="1"/>
          <p:nvPr/>
        </p:nvSpPr>
        <p:spPr>
          <a:xfrm>
            <a:off x="3512840" y="2188061"/>
            <a:ext cx="22906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2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sz="1000" dirty="0"/>
              <a:t>환경 변수들을 불러오는 함수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DF518-3CBF-05B7-F892-13218395A5DE}"/>
              </a:ext>
            </a:extLst>
          </p:cNvPr>
          <p:cNvSpPr txBox="1"/>
          <p:nvPr/>
        </p:nvSpPr>
        <p:spPr>
          <a:xfrm>
            <a:off x="6912846" y="2564904"/>
            <a:ext cx="25308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2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sz="1000" dirty="0">
                <a:sym typeface="Wingdings" panose="05000000000000000000" pitchFamily="2" charset="2"/>
              </a:rPr>
              <a:t>사용할 수 있는 파라미터 이름 목록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43E3E-0FCD-396E-F582-CA624DBF2959}"/>
              </a:ext>
            </a:extLst>
          </p:cNvPr>
          <p:cNvSpPr txBox="1"/>
          <p:nvPr/>
        </p:nvSpPr>
        <p:spPr>
          <a:xfrm>
            <a:off x="848544" y="2849619"/>
            <a:ext cx="4954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IBM Watson</a:t>
            </a:r>
            <a:r>
              <a:rPr lang="ko-KR" altLang="en-US" sz="1600" dirty="0"/>
              <a:t>의 </a:t>
            </a:r>
            <a:r>
              <a:rPr lang="en-US" altLang="ko-KR" sz="1600" dirty="0"/>
              <a:t>LLM</a:t>
            </a:r>
            <a:r>
              <a:rPr lang="ko-KR" altLang="en-US" sz="1600" dirty="0"/>
              <a:t> 모델을 사용하기 위한 셋업</a:t>
            </a:r>
          </a:p>
        </p:txBody>
      </p:sp>
    </p:spTree>
    <p:extLst>
      <p:ext uri="{BB962C8B-B14F-4D97-AF65-F5344CB8AC3E}">
        <p14:creationId xmlns:p14="http://schemas.microsoft.com/office/powerpoint/2010/main" val="33119347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9A0CD-0136-78C3-C756-B8F87FF8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5657E-73DB-726E-2A83-24BEB81E158B}"/>
              </a:ext>
            </a:extLst>
          </p:cNvPr>
          <p:cNvSpPr txBox="1"/>
          <p:nvPr/>
        </p:nvSpPr>
        <p:spPr>
          <a:xfrm>
            <a:off x="992560" y="2420888"/>
            <a:ext cx="8208912" cy="18876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LLM </a:t>
            </a:r>
            <a:r>
              <a:rPr lang="ko-KR" altLang="en-US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모델에게 요청을 보내고 응답을 반환하는 함수</a:t>
            </a:r>
            <a:endParaRPr lang="ko-KR" altLang="en-US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generate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GenParams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MAX_NEW_TOKENS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GenParams</a:t>
            </a:r>
            <a:r>
              <a:rPr lang="en-US" altLang="ko-KR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'results'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generated_text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D68B2-7DBF-965B-93C7-040EB5169701}"/>
              </a:ext>
            </a:extLst>
          </p:cNvPr>
          <p:cNvSpPr txBox="1"/>
          <p:nvPr/>
        </p:nvSpPr>
        <p:spPr>
          <a:xfrm>
            <a:off x="848544" y="1916832"/>
            <a:ext cx="49549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LLM </a:t>
            </a:r>
            <a:r>
              <a:rPr lang="ko-KR" altLang="en-US" sz="1600" dirty="0"/>
              <a:t>모델에게 요청을 보내고 응답을 반환하는 함수 정의</a:t>
            </a:r>
          </a:p>
        </p:txBody>
      </p:sp>
    </p:spTree>
    <p:extLst>
      <p:ext uri="{BB962C8B-B14F-4D97-AF65-F5344CB8AC3E}">
        <p14:creationId xmlns:p14="http://schemas.microsoft.com/office/powerpoint/2010/main" val="206095587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6C30B-26D0-28F8-551B-3CF32AD04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명확하고</a:t>
            </a:r>
            <a:r>
              <a:rPr lang="en-US" altLang="ko-KR" dirty="0"/>
              <a:t> </a:t>
            </a:r>
            <a:r>
              <a:rPr lang="ko-KR" altLang="en-US" dirty="0"/>
              <a:t>구체적인 지침 작성 </a:t>
            </a:r>
            <a:r>
              <a:rPr lang="en-US" altLang="ko-KR" dirty="0"/>
              <a:t>– S1 : Use Delimiters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76DB3-774B-AED1-286E-9BF871F3FA26}"/>
              </a:ext>
            </a:extLst>
          </p:cNvPr>
          <p:cNvSpPr txBox="1"/>
          <p:nvPr/>
        </p:nvSpPr>
        <p:spPr>
          <a:xfrm>
            <a:off x="1136576" y="2132856"/>
            <a:ext cx="78718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입력 테스트의 범위를 명확하게 하기 위해 **</a:t>
            </a:r>
            <a:r>
              <a:rPr lang="ko-KR" altLang="en-US" sz="1400" dirty="0" err="1"/>
              <a:t>구분자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Delimeters</a:t>
            </a:r>
            <a:r>
              <a:rPr lang="en-US" altLang="ko-KR" sz="1400" dirty="0"/>
              <a:t>)** </a:t>
            </a:r>
            <a:r>
              <a:rPr lang="ko-KR" altLang="en-US" sz="1400" dirty="0"/>
              <a:t>를 사용합니다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특히 긴 프롬프트나 여러 개의 입력 요소가 포함된 경우</a:t>
            </a:r>
            <a:r>
              <a:rPr lang="en-US" altLang="ko-KR" sz="1400" dirty="0"/>
              <a:t>, </a:t>
            </a:r>
            <a:r>
              <a:rPr lang="ko-KR" altLang="en-US" sz="1400" dirty="0"/>
              <a:t>구분자를 통해 </a:t>
            </a:r>
            <a:r>
              <a:rPr lang="ko-KR" altLang="en-US" sz="1400" dirty="0" err="1"/>
              <a:t>어디까지가</a:t>
            </a:r>
            <a:r>
              <a:rPr lang="ko-KR" altLang="en-US" sz="1400" dirty="0"/>
              <a:t> 입력인지</a:t>
            </a:r>
            <a:r>
              <a:rPr lang="en-US" altLang="ko-KR" sz="1400" dirty="0"/>
              <a:t>, </a:t>
            </a:r>
            <a:r>
              <a:rPr lang="ko-KR" altLang="en-US" sz="1400" dirty="0"/>
              <a:t>어떤 부분이 지시 사항인지를 명확히 구분할 수 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**</a:t>
            </a:r>
            <a:r>
              <a:rPr lang="ko-KR" altLang="en-US" sz="1400" dirty="0"/>
              <a:t>자주 사용하는 </a:t>
            </a:r>
            <a:r>
              <a:rPr lang="ko-KR" altLang="en-US" sz="1400" dirty="0" err="1"/>
              <a:t>구분자</a:t>
            </a:r>
            <a:r>
              <a:rPr lang="ko-KR" altLang="en-US" sz="1400" dirty="0"/>
              <a:t> 예시**</a:t>
            </a:r>
            <a:r>
              <a:rPr lang="en-US" altLang="ko-KR" sz="1400" dirty="0"/>
              <a:t>:  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Triple quotes: """</a:t>
            </a:r>
          </a:p>
          <a:p>
            <a:r>
              <a:rPr lang="en-US" altLang="ko-KR" sz="1400" dirty="0"/>
              <a:t>- Triple backticks: ```</a:t>
            </a:r>
          </a:p>
          <a:p>
            <a:r>
              <a:rPr lang="en-US" altLang="ko-KR" sz="1400" dirty="0"/>
              <a:t>- Triple dashes: ---</a:t>
            </a:r>
          </a:p>
          <a:p>
            <a:r>
              <a:rPr lang="en-US" altLang="ko-KR" sz="1400" dirty="0"/>
              <a:t>- Angle brackets: &lt;&gt;</a:t>
            </a:r>
          </a:p>
          <a:p>
            <a:r>
              <a:rPr lang="en-US" altLang="ko-KR" sz="1400" dirty="0"/>
              <a:t>- XML tags: \&lt;tag&gt;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3697197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BF3D0-40FD-2EA4-1AA7-9F5B4CCE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명확하고 구체적인 지침 작성 </a:t>
            </a:r>
            <a:r>
              <a:rPr lang="en-US" altLang="ko-KR" dirty="0"/>
              <a:t>– S1 : Use Delimiters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9AB98-E02D-6FEB-7C86-A4F63021EBCB}"/>
              </a:ext>
            </a:extLst>
          </p:cNvPr>
          <p:cNvSpPr txBox="1"/>
          <p:nvPr/>
        </p:nvSpPr>
        <p:spPr>
          <a:xfrm>
            <a:off x="776288" y="2352831"/>
            <a:ext cx="8569325" cy="296619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 should express what you want a model to do by providing instructions that are as clear and specific as you can possibly make them.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This will guide the model towards the desired output, and reduce the chances of receiving irrelevant or incorrect responses.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Don't confuse writing a clear prompt with writing a short prompt.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 many cases, longer prompts provide more clarity and context for the model, which can lead to more detailed and relevant outputs.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Summarize the text delimited by triple backticks into a single sentence.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```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{text}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```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CA583-78B8-371F-0DA2-BEB1F60FAF5D}"/>
              </a:ext>
            </a:extLst>
          </p:cNvPr>
          <p:cNvSpPr txBox="1"/>
          <p:nvPr/>
        </p:nvSpPr>
        <p:spPr>
          <a:xfrm>
            <a:off x="6969224" y="4352210"/>
            <a:ext cx="20988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2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sz="1000" dirty="0"/>
              <a:t>한문장으로</a:t>
            </a:r>
            <a:r>
              <a:rPr lang="en-US" altLang="ko-KR" sz="1000" dirty="0"/>
              <a:t> </a:t>
            </a:r>
            <a:r>
              <a:rPr lang="ko-KR" altLang="en-US" sz="1000" dirty="0"/>
              <a:t>요약</a:t>
            </a:r>
          </a:p>
        </p:txBody>
      </p:sp>
    </p:spTree>
    <p:extLst>
      <p:ext uri="{BB962C8B-B14F-4D97-AF65-F5344CB8AC3E}">
        <p14:creationId xmlns:p14="http://schemas.microsoft.com/office/powerpoint/2010/main" val="2101105156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9EC2-276E-6ADC-86DB-D2AAF1570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B91BE-970F-B533-8933-2B371408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7" y="740369"/>
            <a:ext cx="8565085" cy="400110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명확하고 구체적인 지침 작성 </a:t>
            </a:r>
            <a:r>
              <a:rPr lang="en-US" altLang="ko-KR" dirty="0"/>
              <a:t>– S2 : </a:t>
            </a:r>
            <a:r>
              <a:rPr lang="ko-KR" altLang="en-US" dirty="0"/>
              <a:t>구조화된 결과 요청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F69C8-020C-CC52-CEE3-617529960A2F}"/>
              </a:ext>
            </a:extLst>
          </p:cNvPr>
          <p:cNvSpPr txBox="1"/>
          <p:nvPr/>
        </p:nvSpPr>
        <p:spPr>
          <a:xfrm>
            <a:off x="7030876" y="3835930"/>
            <a:ext cx="20988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한문장으로</a:t>
            </a:r>
            <a:r>
              <a:rPr lang="en-US" altLang="ko-KR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rPr>
              <a:t>요약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31457-B544-B51A-5AB3-1FD49EDA5C67}"/>
              </a:ext>
            </a:extLst>
          </p:cNvPr>
          <p:cNvSpPr txBox="1"/>
          <p:nvPr/>
        </p:nvSpPr>
        <p:spPr>
          <a:xfrm>
            <a:off x="704527" y="1556792"/>
            <a:ext cx="86410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모델의 출력을 </a:t>
            </a:r>
            <a:r>
              <a:rPr lang="en-US" altLang="ko-KR" sz="1400" dirty="0"/>
              <a:t>JSON </a:t>
            </a:r>
            <a:r>
              <a:rPr lang="ko-KR" altLang="en-US" sz="1400" dirty="0"/>
              <a:t>등 구조화된 형태로 요구하면</a:t>
            </a:r>
            <a:r>
              <a:rPr lang="en-US" altLang="ko-KR" sz="1400" dirty="0"/>
              <a:t>, </a:t>
            </a:r>
            <a:r>
              <a:rPr lang="ko-KR" altLang="en-US" sz="1400" dirty="0"/>
              <a:t>결과를 다른 프로그램이나 코드에서 바로 사용할 수 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예를 들어</a:t>
            </a:r>
            <a:r>
              <a:rPr lang="en-US" altLang="ko-KR" sz="1400" dirty="0"/>
              <a:t>, "JSON </a:t>
            </a:r>
            <a:r>
              <a:rPr lang="ko-KR" altLang="en-US" sz="1400" dirty="0"/>
              <a:t>형식으로 답변해줘</a:t>
            </a:r>
            <a:r>
              <a:rPr lang="en-US" altLang="ko-KR" sz="1400" dirty="0"/>
              <a:t>"</a:t>
            </a:r>
            <a:r>
              <a:rPr lang="ko-KR" altLang="en-US" sz="1400" dirty="0"/>
              <a:t>라고 지시하면 데이터 파싱</a:t>
            </a:r>
            <a:r>
              <a:rPr lang="en-US" altLang="ko-KR" sz="1400" dirty="0"/>
              <a:t>, </a:t>
            </a:r>
            <a:r>
              <a:rPr lang="ko-KR" altLang="en-US" sz="1400" dirty="0"/>
              <a:t>후처리</a:t>
            </a:r>
            <a:r>
              <a:rPr lang="en-US" altLang="ko-KR" sz="1400" dirty="0"/>
              <a:t>, API </a:t>
            </a:r>
            <a:r>
              <a:rPr lang="ko-KR" altLang="en-US" sz="1400" dirty="0"/>
              <a:t>응답 처리 등에 유리해집니다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58778-0E94-37B5-EA1B-0CC72B1C468D}"/>
              </a:ext>
            </a:extLst>
          </p:cNvPr>
          <p:cNvSpPr txBox="1"/>
          <p:nvPr/>
        </p:nvSpPr>
        <p:spPr>
          <a:xfrm>
            <a:off x="797174" y="2731855"/>
            <a:ext cx="8548437" cy="11576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Generate a list of three made-up book titles along with their authors and genres.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Provide them in JSON format with the following keys: 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book_id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title, author, genre.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F4870-3859-CEDF-21AF-92A220F4ED89}"/>
              </a:ext>
            </a:extLst>
          </p:cNvPr>
          <p:cNvSpPr txBox="1"/>
          <p:nvPr/>
        </p:nvSpPr>
        <p:spPr>
          <a:xfrm>
            <a:off x="6886612" y="3022070"/>
            <a:ext cx="2098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2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sz="1000" dirty="0">
                <a:sym typeface="Wingdings" panose="05000000000000000000" pitchFamily="2" charset="2"/>
              </a:rPr>
              <a:t>가상의 책 제목 </a:t>
            </a:r>
            <a:r>
              <a:rPr lang="en-US" altLang="ko-KR" sz="1000" dirty="0">
                <a:sym typeface="Wingdings" panose="05000000000000000000" pitchFamily="2" charset="2"/>
              </a:rPr>
              <a:t>3</a:t>
            </a:r>
            <a:r>
              <a:rPr lang="ko-KR" altLang="en-US" sz="1000" dirty="0">
                <a:sym typeface="Wingdings" panose="05000000000000000000" pitchFamily="2" charset="2"/>
              </a:rPr>
              <a:t>개를 </a:t>
            </a:r>
            <a:r>
              <a:rPr lang="en-US" altLang="ko-KR" sz="1000" dirty="0">
                <a:sym typeface="Wingdings" panose="05000000000000000000" pitchFamily="2" charset="2"/>
              </a:rPr>
              <a:t>JSON</a:t>
            </a:r>
            <a:r>
              <a:rPr lang="ko-KR" altLang="en-US" sz="1000" dirty="0">
                <a:sym typeface="Wingdings" panose="05000000000000000000" pitchFamily="2" charset="2"/>
              </a:rPr>
              <a:t>형식으로 요청</a:t>
            </a:r>
            <a:endParaRPr lang="en-US" altLang="ko-KR" sz="1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529287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F80AC-80E4-C833-1443-18C63889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명확하고 구체적인 지침 작성 </a:t>
            </a:r>
            <a:r>
              <a:rPr lang="en-US" altLang="ko-KR" dirty="0"/>
              <a:t>– S3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조건 충족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915B1-CA11-94BD-018F-9E8280FCEADF}"/>
              </a:ext>
            </a:extLst>
          </p:cNvPr>
          <p:cNvSpPr txBox="1"/>
          <p:nvPr/>
        </p:nvSpPr>
        <p:spPr>
          <a:xfrm>
            <a:off x="780528" y="1394192"/>
            <a:ext cx="77231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모델에게 작업을 시작하기 전에 특정 조건이 충족되었는지를 먼저 확인하도록 지시할 수 있습니다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ko-KR" altLang="en-US" sz="1400" dirty="0">
                <a:latin typeface="+mn-ea"/>
              </a:rPr>
              <a:t>조건이 충족되지 않을 경우</a:t>
            </a:r>
            <a:r>
              <a:rPr lang="en-US" altLang="ko-KR" sz="1400" dirty="0">
                <a:latin typeface="+mn-ea"/>
              </a:rPr>
              <a:t>, **</a:t>
            </a:r>
            <a:r>
              <a:rPr lang="ko-KR" altLang="en-US" sz="1400" dirty="0">
                <a:latin typeface="+mn-ea"/>
              </a:rPr>
              <a:t>작업을 중단하라** 는 지시도 함께 주면 불필요한 실행을 줄이고 출력 신뢰도와 제어 가능성을 높일 수 있습니다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7F9EB-D470-A7EB-47E4-DCFFC5C6B60F}"/>
              </a:ext>
            </a:extLst>
          </p:cNvPr>
          <p:cNvSpPr txBox="1"/>
          <p:nvPr/>
        </p:nvSpPr>
        <p:spPr>
          <a:xfrm>
            <a:off x="780528" y="2132856"/>
            <a:ext cx="8565085" cy="438927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text_1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Making a cup of tea is easy!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First, you need to get some water boiling.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While that's happening, grab a cup and put a tea bag in it.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Once the water is hot enough, just pour it over the tea bag.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Let it sit for a bit so the tea can steep.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After a few minutes, take out the tea bag.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If you like, you can add some sugar or milk to taste.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And that's it! You've got yourself a delicious cup of tea to enjoy.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 will be provided with text delimited by triple quotes.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If it contains a sequence of instructions, re-write those instructions in the following format: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Step 1 - ...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Step 2 - …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Step N - …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If the text does not contain a sequence of instructions, then simply write "No steps provided."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\"\"\"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{text_1}</a:t>
            </a:r>
            <a:r>
              <a:rPr lang="en-US" altLang="ko-KR" sz="1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\"\"\"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"Completion  for Text 1:"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F657A-9AE5-E854-7DAF-7F436F71E4B3}"/>
              </a:ext>
            </a:extLst>
          </p:cNvPr>
          <p:cNvSpPr txBox="1"/>
          <p:nvPr/>
        </p:nvSpPr>
        <p:spPr>
          <a:xfrm>
            <a:off x="5241032" y="4751344"/>
            <a:ext cx="3960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00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r>
              <a:rPr lang="ko-KR" altLang="en-US" dirty="0">
                <a:latin typeface="+mn-ea"/>
                <a:ea typeface="+mn-ea"/>
              </a:rPr>
              <a:t>텍스트에 명령 순서가 포함되어 있는 경우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B42AC5-878E-34AA-7448-B053C89301F2}"/>
              </a:ext>
            </a:extLst>
          </p:cNvPr>
          <p:cNvSpPr txBox="1"/>
          <p:nvPr/>
        </p:nvSpPr>
        <p:spPr>
          <a:xfrm>
            <a:off x="5241032" y="6004865"/>
            <a:ext cx="3960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000">
                <a:solidFill>
                  <a:schemeClr val="bg1"/>
                </a:solidFill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r>
              <a:rPr lang="ko-KR" altLang="en-US" dirty="0">
                <a:latin typeface="+mn-ea"/>
                <a:ea typeface="+mn-ea"/>
              </a:rPr>
              <a:t>텍스트에 명령 순서가 포함되어 있지 않은 경우</a:t>
            </a:r>
          </a:p>
        </p:txBody>
      </p:sp>
    </p:spTree>
    <p:extLst>
      <p:ext uri="{BB962C8B-B14F-4D97-AF65-F5344CB8AC3E}">
        <p14:creationId xmlns:p14="http://schemas.microsoft.com/office/powerpoint/2010/main" val="267190340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B8D86-0827-53D5-AB84-2A7C1D59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명확하고 구체적인 지침 작성 </a:t>
            </a:r>
            <a:r>
              <a:rPr lang="en-US" altLang="ko-KR" dirty="0"/>
              <a:t>– S4 : N-Shot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E9516-B42E-5A1F-4FF8-B6D8992D5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2276872"/>
            <a:ext cx="4347470" cy="969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A134C-D9F1-2C88-B035-93D92580A61C}"/>
              </a:ext>
            </a:extLst>
          </p:cNvPr>
          <p:cNvSpPr txBox="1"/>
          <p:nvPr/>
        </p:nvSpPr>
        <p:spPr>
          <a:xfrm>
            <a:off x="780528" y="1610216"/>
            <a:ext cx="7723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모델에게 예시를 함께 제공해 예상 출력 형식과 스타일을 명확히 전달합니다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D3BCC-EDB8-E2FB-A817-5F6CA407CC4E}"/>
              </a:ext>
            </a:extLst>
          </p:cNvPr>
          <p:cNvSpPr txBox="1"/>
          <p:nvPr/>
        </p:nvSpPr>
        <p:spPr>
          <a:xfrm>
            <a:off x="992559" y="3717032"/>
            <a:ext cx="8353053" cy="169623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 task is to answer in a consistent style.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&lt;child&gt;: Teach me about patience.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&lt;grandparent&gt;: The river that carves the deepest valley flows from a modest spring; the grandest symphony originates from a single note; the most intricate tapestry begins with a solitary thread.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&lt;child&gt;: Teach me about resilience.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147A47-6052-52F8-A627-3BEBBF2790B9}"/>
              </a:ext>
            </a:extLst>
          </p:cNvPr>
          <p:cNvSpPr txBox="1"/>
          <p:nvPr/>
        </p:nvSpPr>
        <p:spPr>
          <a:xfrm>
            <a:off x="5145427" y="3861048"/>
            <a:ext cx="24755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à"/>
              <a:defRPr sz="12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ko-KR" altLang="en-US" sz="1000" dirty="0"/>
              <a:t>인내에 대한 질문</a:t>
            </a:r>
          </a:p>
        </p:txBody>
      </p:sp>
    </p:spTree>
    <p:extLst>
      <p:ext uri="{BB962C8B-B14F-4D97-AF65-F5344CB8AC3E}">
        <p14:creationId xmlns:p14="http://schemas.microsoft.com/office/powerpoint/2010/main" val="241797152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F52BC-4865-EEEB-7772-051E4202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28" y="740369"/>
            <a:ext cx="7871884" cy="400110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모델이 생각할 시간 주기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A7614-22FA-0182-1DCB-06B5F58FEF58}"/>
              </a:ext>
            </a:extLst>
          </p:cNvPr>
          <p:cNvSpPr txBox="1"/>
          <p:nvPr/>
        </p:nvSpPr>
        <p:spPr>
          <a:xfrm>
            <a:off x="780527" y="1700808"/>
            <a:ext cx="85650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복잡한 문제를 한 번에 해결하려 하기보다</a:t>
            </a:r>
            <a:r>
              <a:rPr lang="en-US" altLang="ko-KR" sz="1400" dirty="0"/>
              <a:t>, </a:t>
            </a:r>
          </a:p>
          <a:p>
            <a:endParaRPr lang="en-US" altLang="ko-KR" sz="1400" dirty="0"/>
          </a:p>
          <a:p>
            <a:r>
              <a:rPr lang="en-US" altLang="ko-KR" sz="1400" dirty="0"/>
              <a:t>**</a:t>
            </a:r>
            <a:r>
              <a:rPr lang="ko-KR" altLang="en-US" sz="1400" dirty="0"/>
              <a:t>단계를 나눠 순차적으로 해결하도록 유도** 하면 모델이 보다 정확하고 논리적인 결과를 도출할 수 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이를 **</a:t>
            </a:r>
            <a:r>
              <a:rPr lang="en-US" altLang="ko-KR" sz="1400" dirty="0"/>
              <a:t>Chain-of-Thought(</a:t>
            </a:r>
            <a:r>
              <a:rPr lang="ko-KR" altLang="en-US" sz="1400" dirty="0"/>
              <a:t>사고의 연쇄</a:t>
            </a:r>
            <a:r>
              <a:rPr lang="en-US" altLang="ko-KR" sz="1400" dirty="0"/>
              <a:t>)** </a:t>
            </a:r>
            <a:r>
              <a:rPr lang="ko-KR" altLang="en-US" sz="1400" dirty="0"/>
              <a:t>전략이라고 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8332400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11E86-5456-91C5-F6BB-984345F4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모델이 생각할 시간 주기 </a:t>
            </a:r>
            <a:r>
              <a:rPr lang="en-US" altLang="ko-KR" dirty="0"/>
              <a:t>– S1:</a:t>
            </a:r>
            <a:r>
              <a:rPr lang="ko-KR" altLang="en-US" dirty="0"/>
              <a:t>작업단계 명시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7CF96-5AEC-3261-6FBA-15C75AA2733E}"/>
              </a:ext>
            </a:extLst>
          </p:cNvPr>
          <p:cNvSpPr txBox="1"/>
          <p:nvPr/>
        </p:nvSpPr>
        <p:spPr>
          <a:xfrm>
            <a:off x="776287" y="1628775"/>
            <a:ext cx="8569325" cy="1030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다음은 텍스트 요약</a:t>
            </a:r>
            <a:r>
              <a:rPr lang="en-US" altLang="ko-KR" sz="1400" dirty="0"/>
              <a:t>, </a:t>
            </a:r>
            <a:r>
              <a:rPr lang="ko-KR" altLang="en-US" sz="1400" dirty="0"/>
              <a:t>프랑스어 번역</a:t>
            </a:r>
            <a:r>
              <a:rPr lang="en-US" altLang="ko-KR" sz="1400" dirty="0"/>
              <a:t>, </a:t>
            </a:r>
            <a:r>
              <a:rPr lang="ko-KR" altLang="en-US" sz="1400" dirty="0"/>
              <a:t>프랑스어 요약본에 포함된 이름 목록 작성</a:t>
            </a:r>
            <a:r>
              <a:rPr lang="en-US" altLang="ko-KR" sz="1400" dirty="0"/>
              <a:t>, JSON </a:t>
            </a:r>
            <a:r>
              <a:rPr lang="ko-KR" altLang="en-US" sz="1400" dirty="0"/>
              <a:t>형식으로 데이터를 출력하는 예시입니다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필요한 단계를 제공함으로써 모델은 **이전 단계의 결과를 참조** 하고 출력의 정확성을 향상시킬 수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BACC3-2349-CBA1-8BD5-95BA65C05A36}"/>
              </a:ext>
            </a:extLst>
          </p:cNvPr>
          <p:cNvSpPr txBox="1"/>
          <p:nvPr/>
        </p:nvSpPr>
        <p:spPr>
          <a:xfrm>
            <a:off x="776286" y="2780928"/>
            <a:ext cx="8569325" cy="331206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 task is to perform the following actions: 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1 - Summarize the following text delimited by &lt;&gt; with 1 sentence.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2 - Translate the summary into French.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3 - List each name in the French summary.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4 - Output a 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object that contains the following keys: 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french_summary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num_names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 the following format: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Text: &lt;text to summarize&gt;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Summary: &lt;summary&gt;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Translation: &lt;summary translation&gt;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Names: &lt;list of names in French summary&gt;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 JSON: &lt;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with summary and 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num_names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Text: &lt;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{text}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get_completion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ko-KR" sz="1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203874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CCB0A-2030-9DBB-CCC6-062353E6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모델이 생각할 시간 주기 </a:t>
            </a:r>
            <a:r>
              <a:rPr lang="en-US" altLang="ko-KR" dirty="0"/>
              <a:t>– S2:</a:t>
            </a:r>
            <a:r>
              <a:rPr lang="ko-KR" altLang="en-US" dirty="0"/>
              <a:t>해결책을</a:t>
            </a:r>
            <a:r>
              <a:rPr lang="en-US" altLang="ko-KR" dirty="0"/>
              <a:t> </a:t>
            </a:r>
            <a:r>
              <a:rPr lang="ko-KR" altLang="en-US" dirty="0"/>
              <a:t>제시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9ED89-274A-D5C0-72C7-E68D088B5A5F}"/>
              </a:ext>
            </a:extLst>
          </p:cNvPr>
          <p:cNvSpPr txBox="1"/>
          <p:nvPr/>
        </p:nvSpPr>
        <p:spPr>
          <a:xfrm>
            <a:off x="780528" y="1628775"/>
            <a:ext cx="8492952" cy="70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과제가 너무 복잡하거나 정보가 불충분할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모델은 추측을 통해 답을 내려고 할 가능성이 높습니다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이런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모델에게 **먼저 문제를 분석하고</a:t>
            </a:r>
            <a:r>
              <a:rPr lang="en-US" altLang="ko-KR" sz="1400" dirty="0"/>
              <a:t>, </a:t>
            </a:r>
            <a:r>
              <a:rPr lang="ko-KR" altLang="en-US" sz="1400" dirty="0"/>
              <a:t>스스로 논리를 전개한 뒤에 결론을 내리라고** 지시할 수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B400E-9F13-BC1A-24DE-DB3420247816}"/>
              </a:ext>
            </a:extLst>
          </p:cNvPr>
          <p:cNvSpPr txBox="1"/>
          <p:nvPr/>
        </p:nvSpPr>
        <p:spPr>
          <a:xfrm>
            <a:off x="780528" y="2418055"/>
            <a:ext cx="8492952" cy="1676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1) </a:t>
            </a:r>
            <a:r>
              <a:rPr lang="en-US" altLang="ko-KR" sz="1400" dirty="0" err="1"/>
              <a:t>CoT</a:t>
            </a:r>
            <a:r>
              <a:rPr lang="en-US" altLang="ko-KR" sz="1400" dirty="0"/>
              <a:t>(Chain-of-Thought) Prompting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2022</a:t>
            </a:r>
            <a:r>
              <a:rPr lang="ko-KR" altLang="en-US" sz="1400" dirty="0"/>
              <a:t>년 </a:t>
            </a:r>
            <a:r>
              <a:rPr lang="en-US" altLang="ko-KR" sz="1400" dirty="0"/>
              <a:t>Google </a:t>
            </a:r>
            <a:r>
              <a:rPr lang="ko-KR" altLang="en-US" sz="1400" dirty="0"/>
              <a:t>연구진이 소개한 방식으로</a:t>
            </a:r>
            <a:r>
              <a:rPr lang="en-US" altLang="ko-KR" sz="1400" dirty="0"/>
              <a:t>, </a:t>
            </a:r>
            <a:r>
              <a:rPr lang="ko-KR" altLang="en-US" sz="1400" dirty="0"/>
              <a:t>복잡한 문제를 푸는 과정에서 중간 추론 단계를 명시적으로 생성하도록 유도하는 프롬프트 방식입니다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이 방법은 모델이 다단계 문제를 중간 단계로 분해할 수 있도록 하여</a:t>
            </a:r>
            <a:r>
              <a:rPr lang="en-US" altLang="ko-KR" sz="1400" dirty="0"/>
              <a:t>, </a:t>
            </a:r>
            <a:r>
              <a:rPr lang="ko-KR" altLang="en-US" sz="1400" dirty="0"/>
              <a:t>표준 </a:t>
            </a:r>
            <a:r>
              <a:rPr lang="ko-KR" altLang="en-US" sz="1400" dirty="0" err="1"/>
              <a:t>프롬프팅</a:t>
            </a:r>
            <a:r>
              <a:rPr lang="ko-KR" altLang="en-US" sz="1400" dirty="0"/>
              <a:t> 방식으로는 해결할 수 없는 복잡한 추론 문제를 해결할 수 있게 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C2AD50-50D0-ABC5-6603-1421F247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998" y="4463179"/>
            <a:ext cx="7236003" cy="1918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7E015E-C4F3-87AF-AAA9-3D86591C1ED1}"/>
              </a:ext>
            </a:extLst>
          </p:cNvPr>
          <p:cNvSpPr txBox="1"/>
          <p:nvPr/>
        </p:nvSpPr>
        <p:spPr>
          <a:xfrm>
            <a:off x="3629626" y="4076900"/>
            <a:ext cx="2033145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/>
              <a:t>CoT</a:t>
            </a:r>
            <a:r>
              <a:rPr lang="en-US" altLang="ko-KR" sz="1400" dirty="0"/>
              <a:t> </a:t>
            </a:r>
            <a:r>
              <a:rPr lang="ko-KR" altLang="en-US" sz="1400" dirty="0"/>
              <a:t>유형별 전략 및 예시</a:t>
            </a:r>
          </a:p>
        </p:txBody>
      </p:sp>
    </p:spTree>
    <p:extLst>
      <p:ext uri="{BB962C8B-B14F-4D97-AF65-F5344CB8AC3E}">
        <p14:creationId xmlns:p14="http://schemas.microsoft.com/office/powerpoint/2010/main" val="94144638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5DA02-C7C7-EB1E-F0F6-059AF26C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1742E-BD48-04D9-D16F-60269F75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모델이 생각할 시간 주기 </a:t>
            </a:r>
            <a:r>
              <a:rPr lang="en-US" altLang="ko-KR" dirty="0"/>
              <a:t>– S2:</a:t>
            </a:r>
            <a:r>
              <a:rPr lang="ko-KR" altLang="en-US" dirty="0"/>
              <a:t>해결책을</a:t>
            </a:r>
            <a:r>
              <a:rPr lang="en-US" altLang="ko-KR" dirty="0"/>
              <a:t> </a:t>
            </a:r>
            <a:r>
              <a:rPr lang="ko-KR" altLang="en-US" dirty="0"/>
              <a:t>제시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A5C1D-0901-8453-BB16-068AB3DC3B2B}"/>
              </a:ext>
            </a:extLst>
          </p:cNvPr>
          <p:cNvSpPr txBox="1"/>
          <p:nvPr/>
        </p:nvSpPr>
        <p:spPr>
          <a:xfrm>
            <a:off x="780528" y="2204864"/>
            <a:ext cx="8492952" cy="135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모델에게 최종 작업을 바로 수행하도록 지시하는 대신</a:t>
            </a:r>
            <a:r>
              <a:rPr lang="en-US" altLang="ko-KR" sz="1400" dirty="0"/>
              <a:t>, </a:t>
            </a:r>
            <a:r>
              <a:rPr lang="ko-KR" altLang="en-US" sz="1400" dirty="0"/>
              <a:t>먼저 관련된 배경 지식이나 핵심 정보를 생성하도록 유도한 뒤</a:t>
            </a:r>
            <a:r>
              <a:rPr lang="en-US" altLang="ko-KR" sz="1400" dirty="0"/>
              <a:t>, </a:t>
            </a:r>
            <a:r>
              <a:rPr lang="ko-KR" altLang="en-US" sz="1400" dirty="0"/>
              <a:t>이를 활용해 최종 출력을 생성하게 하는 전략입니다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사이버 보안에 대한 블로그 글을 작성하기 전에 </a:t>
            </a:r>
            <a:r>
              <a:rPr lang="en-US" altLang="ko-KR" sz="1400" dirty="0"/>
              <a:t>"</a:t>
            </a:r>
            <a:r>
              <a:rPr lang="ko-KR" altLang="en-US" sz="1400" dirty="0"/>
              <a:t>쿠키 탈취의 위험 요소와 방지 방법</a:t>
            </a:r>
            <a:r>
              <a:rPr lang="en-US" altLang="ko-KR" sz="1400" dirty="0"/>
              <a:t>"</a:t>
            </a:r>
            <a:r>
              <a:rPr lang="ko-KR" altLang="en-US" sz="1400" dirty="0"/>
              <a:t>에 대한 정보를 먼저 생성하게 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해당 내용을 바탕으로 본문을 작성하도록 하면 더 풍부하고 유익한 결과물을 얻을 수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AEF56-C69C-C22A-E72B-4EF73FBE9EE3}"/>
              </a:ext>
            </a:extLst>
          </p:cNvPr>
          <p:cNvSpPr txBox="1"/>
          <p:nvPr/>
        </p:nvSpPr>
        <p:spPr>
          <a:xfrm>
            <a:off x="780528" y="1628775"/>
            <a:ext cx="8492952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2) Generated Knowledge Prompting</a:t>
            </a:r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EE0C0-6789-F360-54F7-52B1C7BB3C7C}"/>
              </a:ext>
            </a:extLst>
          </p:cNvPr>
          <p:cNvSpPr txBox="1"/>
          <p:nvPr/>
        </p:nvSpPr>
        <p:spPr>
          <a:xfrm>
            <a:off x="780528" y="3722920"/>
            <a:ext cx="8492952" cy="383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3) Prompt Tuning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CDF66-C5B6-4FB1-91A8-0EBFDAC0BADC}"/>
              </a:ext>
            </a:extLst>
          </p:cNvPr>
          <p:cNvSpPr txBox="1"/>
          <p:nvPr/>
        </p:nvSpPr>
        <p:spPr>
          <a:xfrm>
            <a:off x="780528" y="4271480"/>
            <a:ext cx="8492952" cy="199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Prompt Tuning</a:t>
            </a:r>
            <a:r>
              <a:rPr lang="ko-KR" altLang="en-US" sz="1400" dirty="0"/>
              <a:t>은 기존의 텍스트 기반 프롬프트 대신</a:t>
            </a:r>
            <a:r>
              <a:rPr lang="en-US" altLang="ko-KR" sz="1400" dirty="0"/>
              <a:t>, "</a:t>
            </a:r>
            <a:r>
              <a:rPr lang="ko-KR" altLang="en-US" sz="1400" dirty="0"/>
              <a:t>소프트 프롬프트</a:t>
            </a:r>
            <a:r>
              <a:rPr lang="en-US" altLang="ko-KR" sz="1400" dirty="0"/>
              <a:t>"</a:t>
            </a:r>
            <a:r>
              <a:rPr lang="ko-KR" altLang="en-US" sz="1400" dirty="0"/>
              <a:t>라 불리는 학습 가능한 </a:t>
            </a:r>
            <a:r>
              <a:rPr lang="ko-KR" altLang="en-US" sz="1400" dirty="0" err="1"/>
              <a:t>임베딩</a:t>
            </a:r>
            <a:r>
              <a:rPr lang="ko-KR" altLang="en-US" sz="1400" dirty="0"/>
              <a:t> 벡터를 사용해 언어 모델을 미세 조정하는 기법입니다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GPT-3</a:t>
            </a:r>
            <a:r>
              <a:rPr lang="ko-KR" altLang="en-US" sz="1400" dirty="0"/>
              <a:t>에서 일반적으로 사용되는 이산적 텍스트 프롬프트와 달리</a:t>
            </a:r>
            <a:r>
              <a:rPr lang="en-US" altLang="ko-KR" sz="1400" dirty="0"/>
              <a:t>, </a:t>
            </a:r>
            <a:r>
              <a:rPr lang="ko-KR" altLang="en-US" sz="1400" dirty="0"/>
              <a:t>소프트 프롬프트는 </a:t>
            </a:r>
            <a:r>
              <a:rPr lang="ko-KR" altLang="en-US" sz="1400" dirty="0" err="1"/>
              <a:t>역전파</a:t>
            </a:r>
            <a:r>
              <a:rPr lang="en-US" altLang="ko-KR" sz="1400" dirty="0"/>
              <a:t>(backpropagation) </a:t>
            </a:r>
            <a:r>
              <a:rPr lang="ko-KR" altLang="en-US" sz="1400" dirty="0"/>
              <a:t>과정을 통해 훈련되며</a:t>
            </a:r>
            <a:r>
              <a:rPr lang="en-US" altLang="ko-KR" sz="1400" dirty="0"/>
              <a:t>, </a:t>
            </a:r>
            <a:r>
              <a:rPr lang="ko-KR" altLang="en-US" sz="1400" dirty="0"/>
              <a:t>레이블이 지정된 소수의 예시로부터 학습 신호를 통합할 수 있도록 조정됩니다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이 방법은 </a:t>
            </a:r>
            <a:r>
              <a:rPr lang="en-US" altLang="ko-KR" sz="1400" dirty="0"/>
              <a:t>GPT-3</a:t>
            </a:r>
            <a:r>
              <a:rPr lang="ko-KR" altLang="en-US" sz="1400" dirty="0"/>
              <a:t>의 </a:t>
            </a:r>
            <a:r>
              <a:rPr lang="en-US" altLang="ko-KR" sz="1400" dirty="0"/>
              <a:t>few-shot learning</a:t>
            </a:r>
            <a:r>
              <a:rPr lang="ko-KR" altLang="en-US" sz="1400" dirty="0"/>
              <a:t>보다 더 높은 성능을 보이는 경우가 많으며</a:t>
            </a:r>
            <a:r>
              <a:rPr lang="en-US" altLang="ko-KR" sz="1400" dirty="0"/>
              <a:t>, </a:t>
            </a:r>
            <a:r>
              <a:rPr lang="ko-KR" altLang="en-US" sz="1400" dirty="0"/>
              <a:t>전체 모델 파라미터를 조정하지 않아도 되기 때문에 효율성과 확장성 측면에서 매우 유리합니다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9564214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47409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데이타솔루션 강의교재 템플릿">
  <a:themeElements>
    <a:clrScheme name="20181213 정부설명회">
      <a:dk1>
        <a:sysClr val="windowText" lastClr="000000"/>
      </a:dk1>
      <a:lt1>
        <a:sysClr val="window" lastClr="FFFFFF"/>
      </a:lt1>
      <a:dk2>
        <a:srgbClr val="4897C9"/>
      </a:dk2>
      <a:lt2>
        <a:srgbClr val="184478"/>
      </a:lt2>
      <a:accent1>
        <a:srgbClr val="FAE87E"/>
      </a:accent1>
      <a:accent2>
        <a:srgbClr val="0E69AA"/>
      </a:accent2>
      <a:accent3>
        <a:srgbClr val="7F7F7F"/>
      </a:accent3>
      <a:accent4>
        <a:srgbClr val="5F83BD"/>
      </a:accent4>
      <a:accent5>
        <a:srgbClr val="EF413D"/>
      </a:accent5>
      <a:accent6>
        <a:srgbClr val="28985B"/>
      </a:accent6>
      <a:hlink>
        <a:srgbClr val="0000FF"/>
      </a:hlink>
      <a:folHlink>
        <a:srgbClr val="800080"/>
      </a:folHlink>
    </a:clrScheme>
    <a:fontScheme name="발표장표">
      <a:majorFont>
        <a:latin typeface="Rix고딕 EB"/>
        <a:ea typeface="Rix고딕 EB"/>
        <a:cs typeface=""/>
      </a:majorFont>
      <a:minorFont>
        <a:latin typeface="Rix고딕 B"/>
        <a:ea typeface="Rix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ee6bc1-0cc9-4e46-8ad1-06966e0af576" xsi:nil="true"/>
    <lcf76f155ced4ddcb4097134ff3c332f xmlns="382c30e0-7576-4e95-a177-a5c3bb3c843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66AEC0CE2B0649A4DC52DFA1A6E776" ma:contentTypeVersion="14" ma:contentTypeDescription="새 문서를 만듭니다." ma:contentTypeScope="" ma:versionID="d5fadfcdb36d6a12fa0ac89bc39230ff">
  <xsd:schema xmlns:xsd="http://www.w3.org/2001/XMLSchema" xmlns:xs="http://www.w3.org/2001/XMLSchema" xmlns:p="http://schemas.microsoft.com/office/2006/metadata/properties" xmlns:ns2="382c30e0-7576-4e95-a177-a5c3bb3c843c" xmlns:ns3="93ee6bc1-0cc9-4e46-8ad1-06966e0af576" targetNamespace="http://schemas.microsoft.com/office/2006/metadata/properties" ma:root="true" ma:fieldsID="b8de1353a943f69c8e297ce92e8a3196" ns2:_="" ns3:_="">
    <xsd:import namespace="382c30e0-7576-4e95-a177-a5c3bb3c843c"/>
    <xsd:import namespace="93ee6bc1-0cc9-4e46-8ad1-06966e0af5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c30e0-7576-4e95-a177-a5c3bb3c8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90dc74e-6eb3-46f1-ade9-58df10c7b2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ee6bc1-0cc9-4e46-8ad1-06966e0af5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904ae34-c886-4f54-b29a-e1595417945d}" ma:internalName="TaxCatchAll" ma:showField="CatchAllData" ma:web="93ee6bc1-0cc9-4e46-8ad1-06966e0af5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263310-DE5B-4613-858A-1989E90F19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E36AB9-C258-4D77-8831-5F3926BF390E}">
  <ds:schemaRefs>
    <ds:schemaRef ds:uri="http://schemas.microsoft.com/office/2006/metadata/properties"/>
    <ds:schemaRef ds:uri="http://schemas.microsoft.com/office/infopath/2007/PartnerControls"/>
    <ds:schemaRef ds:uri="93ee6bc1-0cc9-4e46-8ad1-06966e0af576"/>
    <ds:schemaRef ds:uri="382c30e0-7576-4e95-a177-a5c3bb3c843c"/>
  </ds:schemaRefs>
</ds:datastoreItem>
</file>

<file path=customXml/itemProps3.xml><?xml version="1.0" encoding="utf-8"?>
<ds:datastoreItem xmlns:ds="http://schemas.openxmlformats.org/officeDocument/2006/customXml" ds:itemID="{B93E0A86-2C73-4F7B-BAEB-403F3890611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13544</TotalTime>
  <Words>1571</Words>
  <Application>Microsoft Office PowerPoint</Application>
  <PresentationFormat>A4 용지(210x297mm)</PresentationFormat>
  <Paragraphs>171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Consolas</vt:lpstr>
      <vt:lpstr>Rix고딕 EB</vt:lpstr>
      <vt:lpstr>Rix고딕 M</vt:lpstr>
      <vt:lpstr>Arial</vt:lpstr>
      <vt:lpstr>Wingdings</vt:lpstr>
      <vt:lpstr>Rix고딕 L</vt:lpstr>
      <vt:lpstr>Rix고딕 B</vt:lpstr>
      <vt:lpstr>데이타솔루션 강의교재 템플릿</vt:lpstr>
      <vt:lpstr>PowerPoint 프레젠테이션</vt:lpstr>
      <vt:lpstr>프롬프트 엔지니어링 기술 : 원칙과 전략</vt:lpstr>
      <vt:lpstr>환경 설정</vt:lpstr>
      <vt:lpstr>환경 설정</vt:lpstr>
      <vt:lpstr>1. 명확하고 구체적인 지침 작성 – S1 : Use Delimiters</vt:lpstr>
      <vt:lpstr>1. 명확하고 구체적인 지침 작성 – S1 : Use Delimiters</vt:lpstr>
      <vt:lpstr>1. 명확하고 구체적인 지침 작성 – S2 : 구조화된 결과 요청</vt:lpstr>
      <vt:lpstr>1. 명확하고 구체적인 지침 작성 – S3 : 조건 충족 확인</vt:lpstr>
      <vt:lpstr>1. 명확하고 구체적인 지침 작성 – S4 : N-Shot</vt:lpstr>
      <vt:lpstr>2. 모델이 생각할 시간 주기</vt:lpstr>
      <vt:lpstr>2. 모델이 생각할 시간 주기 – S1:작업단계 명시</vt:lpstr>
      <vt:lpstr>2. 모델이 생각할 시간 주기 – S2:해결책을 제시</vt:lpstr>
      <vt:lpstr>2. 모델이 생각할 시간 주기 – S2:해결책을 제시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DS-17-D9-016</dc:creator>
  <cp:lastModifiedBy>시대 야만의</cp:lastModifiedBy>
  <cp:revision>1060</cp:revision>
  <cp:lastPrinted>2025-07-27T13:28:21Z</cp:lastPrinted>
  <dcterms:created xsi:type="dcterms:W3CDTF">2013-11-05T14:26:13Z</dcterms:created>
  <dcterms:modified xsi:type="dcterms:W3CDTF">2025-12-18T05:04:11Z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0x0101001D66AEC0CE2B0649A4DC52DFA1A6E776</vt:lpwstr>
  </property>
  <property fmtid="{D5CDD505-2E9C-101B-9397-08002B2CF9AE}" pid="3" name="MediaServiceImageTags">
    <vt:lpwstr/>
  </property>
</Properties>
</file>