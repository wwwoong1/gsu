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1151" r:id="rId5"/>
    <p:sldId id="1203" r:id="rId6"/>
    <p:sldId id="1167" r:id="rId7"/>
    <p:sldId id="1186" r:id="rId8"/>
    <p:sldId id="1192" r:id="rId9"/>
    <p:sldId id="1198" r:id="rId10"/>
    <p:sldId id="1199" r:id="rId11"/>
    <p:sldId id="1194" r:id="rId12"/>
    <p:sldId id="1193" r:id="rId13"/>
    <p:sldId id="1191" r:id="rId14"/>
    <p:sldId id="1195" r:id="rId15"/>
    <p:sldId id="1190" r:id="rId16"/>
    <p:sldId id="1201" r:id="rId17"/>
    <p:sldId id="1202" r:id="rId18"/>
    <p:sldId id="1188" r:id="rId19"/>
    <p:sldId id="1152" r:id="rId20"/>
  </p:sldIdLst>
  <p:sldSz cx="9906000" cy="6858000" type="A4"/>
  <p:notesSz cx="6797675" cy="9926638"/>
  <p:embeddedFontLst>
    <p:embeddedFont>
      <p:font typeface="G마켓 산스 TTF Bold" panose="02000000000000000000" pitchFamily="2" charset="-127"/>
      <p:bold r:id="rId23"/>
    </p:embeddedFont>
    <p:embeddedFont>
      <p:font typeface="Rix고딕 B" panose="02020603020101020101" pitchFamily="18" charset="-127"/>
      <p:regular r:id="rId24"/>
    </p:embeddedFont>
    <p:embeddedFont>
      <p:font typeface="Rix고딕 EB" panose="02020603020101020101" pitchFamily="18" charset="-127"/>
      <p:regular r:id="rId25"/>
    </p:embeddedFont>
    <p:embeddedFont>
      <p:font typeface="Rix고딕 L" panose="02020603020101020101" pitchFamily="18" charset="-127"/>
      <p:regular r:id="rId26"/>
    </p:embeddedFont>
    <p:embeddedFont>
      <p:font typeface="Rix고딕 M" panose="02020603020101020101" pitchFamily="18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12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pos="489">
          <p15:clr>
            <a:srgbClr val="A4A3A4"/>
          </p15:clr>
        </p15:guide>
        <p15:guide id="9" pos="5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FF"/>
    <a:srgbClr val="143F90"/>
    <a:srgbClr val="DFEDF5"/>
    <a:srgbClr val="008E69"/>
    <a:srgbClr val="53FFD2"/>
    <a:srgbClr val="7DA2EB"/>
    <a:srgbClr val="AFC6F3"/>
    <a:srgbClr val="C2D3F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12" autoAdjust="0"/>
    <p:restoredTop sz="96695" autoAdjust="0"/>
  </p:normalViewPr>
  <p:slideViewPr>
    <p:cSldViewPr>
      <p:cViewPr varScale="1">
        <p:scale>
          <a:sx n="74" d="100"/>
          <a:sy n="74" d="100"/>
        </p:scale>
        <p:origin x="1723" y="283"/>
      </p:cViewPr>
      <p:guideLst>
        <p:guide orient="horz" pos="2160"/>
        <p:guide pos="3120"/>
        <p:guide orient="horz" pos="4020"/>
        <p:guide orient="horz" pos="1026"/>
        <p:guide pos="489"/>
        <p:guide pos="588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26292"/>
    </p:cViewPr>
  </p:sorterViewPr>
  <p:notesViewPr>
    <p:cSldViewPr>
      <p:cViewPr varScale="1">
        <p:scale>
          <a:sx n="55" d="100"/>
          <a:sy n="55" d="100"/>
        </p:scale>
        <p:origin x="3318" y="9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750" y="0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3E81C32A-3A80-4A7D-8BDE-AAC2FB4FD2B9}" type="datetimeFigureOut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2025-12-22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305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29305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DA551EA-9673-4CB8-9725-DCAE777531BB}" type="slidenum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‹#›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360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fld id="{EA943608-30A2-4DD3-A5E1-F7D1EE9D25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8" y="98425"/>
            <a:ext cx="6729412" cy="4660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5" tIns="44092" rIns="88185" bIns="44092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9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2740" y="5172842"/>
            <a:ext cx="6623411" cy="4320482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1116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638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9AB7-6131-0853-1215-CDB24D56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91102-95E6-761A-ED22-7F5531911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DDB416-9BE4-B498-CD5B-C8BDA71A2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2C4D7-80CC-9E78-CC19-062471BF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62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10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45A0-A3F9-198F-E613-4DF6DFE7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FCBB64-BA8A-0957-2532-DC26523E4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0D7CCD-642B-ED75-6051-DC66807F7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D31466-F93D-C74C-7C92-80F6BD523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356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3056-1901-F5F7-BC32-AB418F97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3E86BF-C6C9-9F4C-6D2E-5D963B4A6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AE473B-9CCE-AE5D-87DF-0D679D6DC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3AAC5-C6C2-6CD5-1428-761E57779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2995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573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04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80167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Prompt Engineering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이해 및 실습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2025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302684991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Chapter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２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.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생성형 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AI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적용 사례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2023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938080393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9" r:id="rId2"/>
    <p:sldLayoutId id="214748370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atsonx.demohub.techzone.ibm.com/details/0f6661ac-7369-11ee-b435-acde48001122" TargetMode="External"/><Relationship Id="rId2" Type="http://schemas.openxmlformats.org/officeDocument/2006/relationships/hyperlink" Target="https://www.artefact.com/blog/how-generative-ai-reinvents-data-sharing-for-more-personalized-secure-market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surex-car-insurance.turbonomic-eu-de-1-bx2-8x-d0ffe740e3ba3b543adeba35ace3816f-0000.eu-de.containers.appdomain.cloud/" TargetMode="External"/><Relationship Id="rId4" Type="http://schemas.openxmlformats.org/officeDocument/2006/relationships/hyperlink" Target="https://watsonx.demohub.techzone.ibm.com/details/987d0060-0d6d-11ef-afa8-890ca6bdcd5b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5618" y="2023562"/>
            <a:ext cx="5867825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1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Prompt Engineering </a:t>
            </a:r>
            <a:r>
              <a:rPr lang="ko-KR" altLang="en-US" sz="31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이해 및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2968" y="2737937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3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장준호</a:t>
            </a:r>
            <a:endParaRPr lang="en-US" altLang="ko-KR" sz="1600" spc="300" dirty="0">
              <a:gradFill>
                <a:gsLst>
                  <a:gs pos="54583">
                    <a:srgbClr val="143F90"/>
                  </a:gs>
                  <a:gs pos="47500">
                    <a:srgbClr val="143F90"/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B766D6-D24B-4EF3-99AB-0E700B49FB76}"/>
              </a:ext>
            </a:extLst>
          </p:cNvPr>
          <p:cNvSpPr/>
          <p:nvPr/>
        </p:nvSpPr>
        <p:spPr>
          <a:xfrm>
            <a:off x="4973950" y="116632"/>
            <a:ext cx="473398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ko-KR" sz="9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NOTICE: Proprietary and Confidential Copyright © </a:t>
            </a:r>
            <a:r>
              <a:rPr kumimoji="0" lang="en-US" altLang="ko-KR" sz="900" dirty="0" err="1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9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643F-0F61-4F13-995A-D52EF8C8A027}"/>
              </a:ext>
            </a:extLst>
          </p:cNvPr>
          <p:cNvSpPr txBox="1"/>
          <p:nvPr/>
        </p:nvSpPr>
        <p:spPr>
          <a:xfrm>
            <a:off x="436687" y="101243"/>
            <a:ext cx="2230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1000" dirty="0" err="1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10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Consulting Dept. </a:t>
            </a:r>
          </a:p>
        </p:txBody>
      </p:sp>
    </p:spTree>
    <p:extLst>
      <p:ext uri="{BB962C8B-B14F-4D97-AF65-F5344CB8AC3E}">
        <p14:creationId xmlns:p14="http://schemas.microsoft.com/office/powerpoint/2010/main" val="78233089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EBA17-5155-7389-5C4C-1703DBE2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엔지니어링</a:t>
            </a:r>
            <a:r>
              <a:rPr lang="en-US" altLang="ko-KR" dirty="0"/>
              <a:t>(Prompt Engineering)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738F07-D10C-FD61-93B5-0B79ADFDE219}"/>
              </a:ext>
            </a:extLst>
          </p:cNvPr>
          <p:cNvGrpSpPr/>
          <p:nvPr/>
        </p:nvGrpSpPr>
        <p:grpSpPr>
          <a:xfrm>
            <a:off x="442801" y="1717297"/>
            <a:ext cx="9092009" cy="4448007"/>
            <a:chOff x="442801" y="1880249"/>
            <a:chExt cx="9092009" cy="4448007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975AF1A5-E64D-9011-80E7-226B0B038531}"/>
                </a:ext>
              </a:extLst>
            </p:cNvPr>
            <p:cNvCxnSpPr>
              <a:cxnSpLocks/>
            </p:cNvCxnSpPr>
            <p:nvPr/>
          </p:nvCxnSpPr>
          <p:spPr>
            <a:xfrm>
              <a:off x="566515" y="2276840"/>
              <a:ext cx="8772968" cy="0"/>
            </a:xfrm>
            <a:prstGeom prst="line">
              <a:avLst/>
            </a:prstGeom>
            <a:noFill/>
            <a:ln w="28575" cap="flat" cmpd="sng" algn="ctr">
              <a:solidFill>
                <a:srgbClr val="E8E8E8"/>
              </a:solidFill>
              <a:prstDash val="solid"/>
            </a:ln>
            <a:effectLst/>
          </p:spPr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17825E3-2710-7A44-B086-4C94D356DBD6}"/>
                </a:ext>
              </a:extLst>
            </p:cNvPr>
            <p:cNvSpPr/>
            <p:nvPr/>
          </p:nvSpPr>
          <p:spPr>
            <a:xfrm rot="10800000" flipV="1">
              <a:off x="1891557" y="1880249"/>
              <a:ext cx="6122887" cy="271543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lvl="0" algn="ctr" defTabSz="914127" fontAlgn="base" latinLnBrk="0">
                <a:lnSpc>
                  <a:spcPct val="110000"/>
                </a:lnSpc>
                <a:spcBef>
                  <a:spcPct val="0"/>
                </a:spcBef>
                <a:spcAft>
                  <a:spcPts val="700"/>
                </a:spcAft>
                <a:defRPr/>
              </a:pPr>
              <a:r>
                <a:rPr kumimoji="1" lang="en-US" altLang="ko-KR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  <a:effectLst/>
                  <a:uLnTx/>
                  <a:uFillTx/>
                </a:rPr>
                <a:t>LLM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  <a:effectLst/>
                  <a:uLnTx/>
                  <a:uFillTx/>
                </a:rPr>
                <a:t>에게 원하는 결과를 얻기 위해 프롬프트를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EF5703"/>
                  </a:solidFill>
                  <a:effectLst/>
                  <a:uLnTx/>
                  <a:uFillTx/>
                </a:rPr>
                <a:t> 최적화</a:t>
              </a:r>
              <a:r>
                <a:rPr kumimoji="1" lang="ko-KR" altLang="en-US" sz="1500" kern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</a:rPr>
                <a:t>하는 방법</a:t>
              </a:r>
              <a:endParaRPr kumimoji="1" lang="ko-KR" altLang="en-US" sz="1500" b="0" i="0" u="none" strike="noStrike" kern="0" cap="none" spc="0" normalizeH="0" baseline="0" noProof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EF5703"/>
                </a:solidFill>
                <a:effectLst/>
                <a:uLnTx/>
                <a:uFillTx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63A4B1B-A784-F30B-E6B6-E4B0B133DF08}"/>
                </a:ext>
              </a:extLst>
            </p:cNvPr>
            <p:cNvGrpSpPr/>
            <p:nvPr/>
          </p:nvGrpSpPr>
          <p:grpSpPr>
            <a:xfrm>
              <a:off x="6535632" y="2362819"/>
              <a:ext cx="2848859" cy="1442036"/>
              <a:chOff x="593724" y="1543662"/>
              <a:chExt cx="4816186" cy="1772550"/>
            </a:xfrm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616EDF6A-A35C-4EAE-E509-5DEAB741D4DD}"/>
                  </a:ext>
                </a:extLst>
              </p:cNvPr>
              <p:cNvSpPr/>
              <p:nvPr/>
            </p:nvSpPr>
            <p:spPr>
              <a:xfrm>
                <a:off x="601940" y="2118528"/>
                <a:ext cx="4807970" cy="119768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도메인 관련 정보를 </a:t>
                </a:r>
                <a:r>
                  <a:rPr kumimoji="0" lang="en-US" altLang="ko-KR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FM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모델에 학습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시키는 방법으로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 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사용자 프롬프트에 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도메인에 특화된 답변을 생성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하는 방법  </a:t>
                </a: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</a:endParaRPr>
              </a:p>
            </p:txBody>
          </p:sp>
          <p:sp>
            <p:nvSpPr>
              <p:cNvPr id="89" name="사각형: 둥근 위쪽 모서리 5">
                <a:extLst>
                  <a:ext uri="{FF2B5EF4-FFF2-40B4-BE49-F238E27FC236}">
                    <a16:creationId xmlns:a16="http://schemas.microsoft.com/office/drawing/2014/main" id="{D67901AF-F34D-AFE2-0878-90530D603F19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파인 튜닝</a:t>
                </a:r>
                <a:endParaRPr kumimoji="0" lang="en-US" altLang="ko-KR" sz="16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(Fine Tuning)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8FB7DFB-B8F7-DB9A-830D-97AA84DC949B}"/>
                </a:ext>
              </a:extLst>
            </p:cNvPr>
            <p:cNvGrpSpPr/>
            <p:nvPr/>
          </p:nvGrpSpPr>
          <p:grpSpPr>
            <a:xfrm>
              <a:off x="566515" y="2362819"/>
              <a:ext cx="2844000" cy="1442740"/>
              <a:chOff x="593724" y="1543662"/>
              <a:chExt cx="4807972" cy="1773415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54353782-E0B1-4C42-288D-4A74839538CC}"/>
                  </a:ext>
                </a:extLst>
              </p:cNvPr>
              <p:cNvSpPr/>
              <p:nvPr/>
            </p:nvSpPr>
            <p:spPr>
              <a:xfrm>
                <a:off x="593726" y="2082913"/>
                <a:ext cx="4807970" cy="123416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LLM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에게 원하는 결과를 얻기 위해 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프롬프트를 최적화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하는 방법</a:t>
                </a: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</a:endParaRPr>
              </a:p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System/Assistant/User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로 구분될 수 있음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. </a:t>
                </a:r>
              </a:p>
            </p:txBody>
          </p:sp>
          <p:sp>
            <p:nvSpPr>
              <p:cNvPr id="87" name="사각형: 둥근 위쪽 모서리 5">
                <a:extLst>
                  <a:ext uri="{FF2B5EF4-FFF2-40B4-BE49-F238E27FC236}">
                    <a16:creationId xmlns:a16="http://schemas.microsoft.com/office/drawing/2014/main" id="{279410F8-8DF0-ED80-300B-D3462C42F67A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chemeClr val="tx1"/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프롬프트 엔지니어링</a:t>
                </a:r>
                <a:endParaRPr kumimoji="0" lang="en-US" altLang="ko-KR" sz="16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FFC000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(Prompt Engineering)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FFC000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CE3DE22-A12D-B54A-5E5E-BA82658D3DF3}"/>
                </a:ext>
              </a:extLst>
            </p:cNvPr>
            <p:cNvGrpSpPr/>
            <p:nvPr/>
          </p:nvGrpSpPr>
          <p:grpSpPr>
            <a:xfrm>
              <a:off x="3459487" y="2362819"/>
              <a:ext cx="3024000" cy="1442036"/>
              <a:chOff x="593724" y="1543662"/>
              <a:chExt cx="4807972" cy="1772550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D6A01DD7-62EF-2D62-1CF1-D86496051996}"/>
                  </a:ext>
                </a:extLst>
              </p:cNvPr>
              <p:cNvSpPr/>
              <p:nvPr/>
            </p:nvSpPr>
            <p:spPr>
              <a:xfrm>
                <a:off x="593726" y="2082913"/>
                <a:ext cx="4807970" cy="1233299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도메인 관련 정보를 </a:t>
                </a:r>
                <a:r>
                  <a:rPr kumimoji="0" lang="en-US" altLang="ko-KR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Vector DB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로 구성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하여 사용자 프롬프트에 가장 유사한 정보를 검색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,</a:t>
                </a:r>
                <a:b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</a:b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도메인에 특화된 답변을 생성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하는 방법</a:t>
                </a:r>
                <a:b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</a:b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  <a:sym typeface="Wingdings" panose="05000000000000000000" pitchFamily="2" charset="2"/>
                </a:endParaRPr>
              </a:p>
            </p:txBody>
          </p:sp>
          <p:sp>
            <p:nvSpPr>
              <p:cNvPr id="85" name="사각형: 둥근 위쪽 모서리 5">
                <a:extLst>
                  <a:ext uri="{FF2B5EF4-FFF2-40B4-BE49-F238E27FC236}">
                    <a16:creationId xmlns:a16="http://schemas.microsoft.com/office/drawing/2014/main" id="{7EAF5AF4-8562-1191-2B1C-675057E42F2B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RAG(</a:t>
                </a: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검색증강생성</a:t>
                </a:r>
                <a:r>
                  <a:rPr kumimoji="0" lang="en-US" altLang="ko-KR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)</a:t>
                </a: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(Retrieval Augmented Generation)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79D1302-6B51-09F7-1AE7-7ACF4F016F75}"/>
                </a:ext>
              </a:extLst>
            </p:cNvPr>
            <p:cNvGrpSpPr/>
            <p:nvPr/>
          </p:nvGrpSpPr>
          <p:grpSpPr>
            <a:xfrm>
              <a:off x="566515" y="3927174"/>
              <a:ext cx="5177007" cy="1119588"/>
              <a:chOff x="566515" y="3927174"/>
              <a:chExt cx="5177007" cy="1119588"/>
            </a:xfrm>
          </p:grpSpPr>
          <p:cxnSp>
            <p:nvCxnSpPr>
              <p:cNvPr id="73" name="직선 화살표 연결선 72">
                <a:extLst>
                  <a:ext uri="{FF2B5EF4-FFF2-40B4-BE49-F238E27FC236}">
                    <a16:creationId xmlns:a16="http://schemas.microsoft.com/office/drawing/2014/main" id="{D0C6E422-1FCF-A8A1-A0D1-072E7BDD5913}"/>
                  </a:ext>
                </a:extLst>
              </p:cNvPr>
              <p:cNvCxnSpPr/>
              <p:nvPr/>
            </p:nvCxnSpPr>
            <p:spPr>
              <a:xfrm flipH="1">
                <a:off x="1961153" y="4437140"/>
                <a:ext cx="242231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29292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0D8E4170-F735-6FD8-9035-A44A8A3B429A}"/>
                  </a:ext>
                </a:extLst>
              </p:cNvPr>
              <p:cNvGrpSpPr/>
              <p:nvPr/>
            </p:nvGrpSpPr>
            <p:grpSpPr>
              <a:xfrm>
                <a:off x="566515" y="3927174"/>
                <a:ext cx="5177007" cy="1109833"/>
                <a:chOff x="365777" y="4087406"/>
                <a:chExt cx="3712543" cy="1017581"/>
              </a:xfrm>
            </p:grpSpPr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D1212DA5-EAD5-14BC-F95C-E6006410A66E}"/>
                    </a:ext>
                  </a:extLst>
                </p:cNvPr>
                <p:cNvSpPr/>
                <p:nvPr/>
              </p:nvSpPr>
              <p:spPr>
                <a:xfrm>
                  <a:off x="365777" y="4087406"/>
                  <a:ext cx="3712543" cy="1017581"/>
                </a:xfrm>
                <a:prstGeom prst="rect">
                  <a:avLst/>
                </a:prstGeom>
                <a:noFill/>
                <a:ln w="25400" cap="flat" cmpd="sng" algn="ctr">
                  <a:solidFill>
                    <a:srgbClr val="FF66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A07CEF22-2AAC-B120-2D3B-0729F58DAEC1}"/>
                    </a:ext>
                  </a:extLst>
                </p:cNvPr>
                <p:cNvSpPr txBox="1"/>
                <p:nvPr/>
              </p:nvSpPr>
              <p:spPr>
                <a:xfrm>
                  <a:off x="368973" y="4093451"/>
                  <a:ext cx="1032864" cy="148152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C000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Prompt</a:t>
                  </a: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 </a:t>
                  </a: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C000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Engineering</a:t>
                  </a:r>
                  <a:endPara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</p:grpSp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F194B7C1-745B-54DC-A3E1-79C15563F8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4370584" y="4005078"/>
                <a:ext cx="1207003" cy="1041684"/>
              </a:xfrm>
              <a:prstGeom prst="rect">
                <a:avLst/>
              </a:prstGeom>
            </p:spPr>
          </p:pic>
          <p:pic>
            <p:nvPicPr>
              <p:cNvPr id="76" name="그래픽 75" descr="남성 사무직 근로자 단색으로 채워진">
                <a:extLst>
                  <a:ext uri="{FF2B5EF4-FFF2-40B4-BE49-F238E27FC236}">
                    <a16:creationId xmlns:a16="http://schemas.microsoft.com/office/drawing/2014/main" id="{3989E8DC-CDFA-70C3-1B98-34F7F4AAB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149309" y="4139042"/>
                <a:ext cx="861955" cy="861955"/>
              </a:xfrm>
              <a:prstGeom prst="rect">
                <a:avLst/>
              </a:prstGeom>
            </p:spPr>
          </p:pic>
          <p:sp>
            <p:nvSpPr>
              <p:cNvPr id="77" name="모서리가 둥근 직사각형 3">
                <a:extLst>
                  <a:ext uri="{FF2B5EF4-FFF2-40B4-BE49-F238E27FC236}">
                    <a16:creationId xmlns:a16="http://schemas.microsoft.com/office/drawing/2014/main" id="{BB2C113A-B7AE-C0C7-D39B-6119F199FE64}"/>
                  </a:ext>
                </a:extLst>
              </p:cNvPr>
              <p:cNvSpPr/>
              <p:nvPr/>
            </p:nvSpPr>
            <p:spPr>
              <a:xfrm>
                <a:off x="4278609" y="4674146"/>
                <a:ext cx="1347625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FM(Pre-trained LLM)</a:t>
                </a: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A4D301EE-DDC5-ADC1-1EEE-E33BE39EF692}"/>
                  </a:ext>
                </a:extLst>
              </p:cNvPr>
              <p:cNvSpPr/>
              <p:nvPr/>
            </p:nvSpPr>
            <p:spPr>
              <a:xfrm>
                <a:off x="2064470" y="4289196"/>
                <a:ext cx="2318994" cy="0"/>
              </a:xfrm>
              <a:custGeom>
                <a:avLst/>
                <a:gdLst>
                  <a:gd name="connsiteX0" fmla="*/ 2318994 w 2318994"/>
                  <a:gd name="connsiteY0" fmla="*/ 0 h 0"/>
                  <a:gd name="connsiteX1" fmla="*/ 0 w 2318994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18994">
                    <a:moveTo>
                      <a:pt x="23189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AB522DF8-2435-8175-E60F-68ADA2ECCA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153" y="4591372"/>
                <a:ext cx="240943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29292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sp>
            <p:nvSpPr>
              <p:cNvPr id="80" name="모서리가 둥근 직사각형 3">
                <a:extLst>
                  <a:ext uri="{FF2B5EF4-FFF2-40B4-BE49-F238E27FC236}">
                    <a16:creationId xmlns:a16="http://schemas.microsoft.com/office/drawing/2014/main" id="{8DDC2C88-2A90-F55C-6FCB-117923FAD2C4}"/>
                  </a:ext>
                </a:extLst>
              </p:cNvPr>
              <p:cNvSpPr/>
              <p:nvPr/>
            </p:nvSpPr>
            <p:spPr>
              <a:xfrm>
                <a:off x="1988364" y="4611318"/>
                <a:ext cx="758847" cy="163659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Prompt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81" name="모서리가 둥근 직사각형 3">
                <a:extLst>
                  <a:ext uri="{FF2B5EF4-FFF2-40B4-BE49-F238E27FC236}">
                    <a16:creationId xmlns:a16="http://schemas.microsoft.com/office/drawing/2014/main" id="{080C31AF-E813-2A20-5B15-A5A51D1DF51E}"/>
                  </a:ext>
                </a:extLst>
              </p:cNvPr>
              <p:cNvSpPr/>
              <p:nvPr/>
            </p:nvSpPr>
            <p:spPr>
              <a:xfrm>
                <a:off x="3677823" y="4239179"/>
                <a:ext cx="758847" cy="163659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Answer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5EEB7EB-2517-6449-FF39-3FD70DE94894}"/>
                </a:ext>
              </a:extLst>
            </p:cNvPr>
            <p:cNvGrpSpPr/>
            <p:nvPr/>
          </p:nvGrpSpPr>
          <p:grpSpPr>
            <a:xfrm>
              <a:off x="5666029" y="3677438"/>
              <a:ext cx="3868781" cy="2646488"/>
              <a:chOff x="5666029" y="3677438"/>
              <a:chExt cx="3868781" cy="2646488"/>
            </a:xfrm>
          </p:grpSpPr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990264B5-8942-A752-94CC-E282E9AF4B29}"/>
                  </a:ext>
                </a:extLst>
              </p:cNvPr>
              <p:cNvSpPr/>
              <p:nvPr/>
            </p:nvSpPr>
            <p:spPr>
              <a:xfrm>
                <a:off x="5938887" y="4496586"/>
                <a:ext cx="1861223" cy="348791"/>
              </a:xfrm>
              <a:custGeom>
                <a:avLst/>
                <a:gdLst>
                  <a:gd name="connsiteX0" fmla="*/ 0 w 1923068"/>
                  <a:gd name="connsiteY0" fmla="*/ 0 h 348791"/>
                  <a:gd name="connsiteX1" fmla="*/ 1451727 w 1923068"/>
                  <a:gd name="connsiteY1" fmla="*/ 0 h 348791"/>
                  <a:gd name="connsiteX2" fmla="*/ 1451727 w 1923068"/>
                  <a:gd name="connsiteY2" fmla="*/ 348791 h 348791"/>
                  <a:gd name="connsiteX3" fmla="*/ 1923068 w 1923068"/>
                  <a:gd name="connsiteY3" fmla="*/ 348791 h 348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068" h="348791">
                    <a:moveTo>
                      <a:pt x="0" y="0"/>
                    </a:moveTo>
                    <a:lnTo>
                      <a:pt x="1451727" y="0"/>
                    </a:lnTo>
                    <a:lnTo>
                      <a:pt x="1451727" y="348791"/>
                    </a:lnTo>
                    <a:lnTo>
                      <a:pt x="1923068" y="348791"/>
                    </a:lnTo>
                  </a:path>
                </a:pathLst>
              </a:custGeom>
              <a:noFill/>
              <a:ln w="12700" cap="flat" cmpd="sng" algn="ctr">
                <a:solidFill>
                  <a:srgbClr val="143F91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5FB03F5D-3BE0-EBA9-F11C-27F44A780290}"/>
                  </a:ext>
                </a:extLst>
              </p:cNvPr>
              <p:cNvSpPr/>
              <p:nvPr/>
            </p:nvSpPr>
            <p:spPr>
              <a:xfrm>
                <a:off x="5837707" y="3922933"/>
                <a:ext cx="3543950" cy="2400993"/>
              </a:xfrm>
              <a:prstGeom prst="rect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28D85FA6-E935-115E-C62D-D553A5678C98}"/>
                  </a:ext>
                </a:extLst>
              </p:cNvPr>
              <p:cNvSpPr/>
              <p:nvPr/>
            </p:nvSpPr>
            <p:spPr>
              <a:xfrm>
                <a:off x="5666029" y="4400134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4B67DBD8-0294-7846-09FC-23CC26D375BE}"/>
                  </a:ext>
                </a:extLst>
              </p:cNvPr>
              <p:cNvSpPr/>
              <p:nvPr/>
            </p:nvSpPr>
            <p:spPr>
              <a:xfrm>
                <a:off x="5686752" y="4377872"/>
                <a:ext cx="223667" cy="233415"/>
              </a:xfrm>
              <a:prstGeom prst="ellipse">
                <a:avLst/>
              </a:prstGeom>
              <a:solidFill>
                <a:srgbClr val="143F91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srgbClr val="EF5703">
                          <a:lumMod val="60000"/>
                          <a:lumOff val="40000"/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rPr>
                  <a:t>+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srgbClr val="EF5703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52" name="모서리가 둥근 직사각형 3">
                <a:extLst>
                  <a:ext uri="{FF2B5EF4-FFF2-40B4-BE49-F238E27FC236}">
                    <a16:creationId xmlns:a16="http://schemas.microsoft.com/office/drawing/2014/main" id="{8FEA81A1-6253-9DE1-DA23-24DABF54BE23}"/>
                  </a:ext>
                </a:extLst>
              </p:cNvPr>
              <p:cNvSpPr/>
              <p:nvPr/>
            </p:nvSpPr>
            <p:spPr>
              <a:xfrm>
                <a:off x="7459202" y="4112259"/>
                <a:ext cx="1765675" cy="378571"/>
              </a:xfrm>
              <a:prstGeom prst="roundRect">
                <a:avLst>
                  <a:gd name="adj" fmla="val 9005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Full Fine Tuning : </a:t>
                </a:r>
                <a:b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Update All Parameter</a:t>
                </a:r>
              </a:p>
            </p:txBody>
          </p:sp>
          <p:sp>
            <p:nvSpPr>
              <p:cNvPr id="53" name="모서리가 둥근 직사각형 3">
                <a:extLst>
                  <a:ext uri="{FF2B5EF4-FFF2-40B4-BE49-F238E27FC236}">
                    <a16:creationId xmlns:a16="http://schemas.microsoft.com/office/drawing/2014/main" id="{EBCC86FC-A4D0-9545-2A43-7C28344A39AC}"/>
                  </a:ext>
                </a:extLst>
              </p:cNvPr>
              <p:cNvSpPr/>
              <p:nvPr/>
            </p:nvSpPr>
            <p:spPr>
              <a:xfrm>
                <a:off x="7240629" y="5180981"/>
                <a:ext cx="2107725" cy="326845"/>
              </a:xfrm>
              <a:prstGeom prst="roundRect">
                <a:avLst>
                  <a:gd name="adj" fmla="val 9005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Parameter Efficient Fine Tuning :  </a:t>
                </a:r>
                <a:b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Update  Some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Paramerer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F119F59-560F-FF99-87E1-2313CB054D45}"/>
                  </a:ext>
                </a:extLst>
              </p:cNvPr>
              <p:cNvSpPr txBox="1"/>
              <p:nvPr/>
            </p:nvSpPr>
            <p:spPr>
              <a:xfrm>
                <a:off x="7936907" y="3924286"/>
                <a:ext cx="1440292" cy="16158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Fine Tuning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23EBEC06-4E14-305A-E2BA-B661A31CE6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prstClr val="black"/>
                  <a:srgbClr val="00AEEF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7964364" y="4487489"/>
                <a:ext cx="789003" cy="680935"/>
              </a:xfrm>
              <a:prstGeom prst="rect">
                <a:avLst/>
              </a:prstGeom>
            </p:spPr>
          </p:pic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DEF748D5-BAAA-231C-422D-C7CD909DE02B}"/>
                  </a:ext>
                </a:extLst>
              </p:cNvPr>
              <p:cNvSpPr/>
              <p:nvPr/>
            </p:nvSpPr>
            <p:spPr>
              <a:xfrm>
                <a:off x="5935178" y="4543720"/>
                <a:ext cx="1840481" cy="1255923"/>
              </a:xfrm>
              <a:custGeom>
                <a:avLst/>
                <a:gdLst>
                  <a:gd name="connsiteX0" fmla="*/ 0 w 1989056"/>
                  <a:gd name="connsiteY0" fmla="*/ 0 h 1244338"/>
                  <a:gd name="connsiteX1" fmla="*/ 1508289 w 1989056"/>
                  <a:gd name="connsiteY1" fmla="*/ 0 h 1244338"/>
                  <a:gd name="connsiteX2" fmla="*/ 1508289 w 1989056"/>
                  <a:gd name="connsiteY2" fmla="*/ 1244338 h 1244338"/>
                  <a:gd name="connsiteX3" fmla="*/ 1989056 w 1989056"/>
                  <a:gd name="connsiteY3" fmla="*/ 1244338 h 1244338"/>
                  <a:gd name="connsiteX0" fmla="*/ 0 w 2280116"/>
                  <a:gd name="connsiteY0" fmla="*/ 0 h 1244338"/>
                  <a:gd name="connsiteX1" fmla="*/ 1508289 w 2280116"/>
                  <a:gd name="connsiteY1" fmla="*/ 0 h 1244338"/>
                  <a:gd name="connsiteX2" fmla="*/ 1508289 w 2280116"/>
                  <a:gd name="connsiteY2" fmla="*/ 1244338 h 1244338"/>
                  <a:gd name="connsiteX3" fmla="*/ 2280116 w 2280116"/>
                  <a:gd name="connsiteY3" fmla="*/ 1244338 h 124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0116" h="1244338">
                    <a:moveTo>
                      <a:pt x="0" y="0"/>
                    </a:moveTo>
                    <a:lnTo>
                      <a:pt x="1508289" y="0"/>
                    </a:lnTo>
                    <a:lnTo>
                      <a:pt x="1508289" y="1244338"/>
                    </a:lnTo>
                    <a:lnTo>
                      <a:pt x="2280116" y="1244338"/>
                    </a:lnTo>
                  </a:path>
                </a:pathLst>
              </a:custGeom>
              <a:noFill/>
              <a:ln w="12700" cap="flat" cmpd="sng" algn="ctr">
                <a:solidFill>
                  <a:srgbClr val="143F91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B56DCEE2-D46B-269B-3DFF-AD90E9946EDF}"/>
                  </a:ext>
                </a:extLst>
              </p:cNvPr>
              <p:cNvGrpSpPr/>
              <p:nvPr/>
            </p:nvGrpSpPr>
            <p:grpSpPr>
              <a:xfrm>
                <a:off x="5944312" y="4149100"/>
                <a:ext cx="758847" cy="690378"/>
                <a:chOff x="6511016" y="4426370"/>
                <a:chExt cx="758847" cy="690378"/>
              </a:xfrm>
            </p:grpSpPr>
            <p:grpSp>
              <p:nvGrpSpPr>
                <p:cNvPr id="60" name="그룹 59">
                  <a:extLst>
                    <a:ext uri="{FF2B5EF4-FFF2-40B4-BE49-F238E27FC236}">
                      <a16:creationId xmlns:a16="http://schemas.microsoft.com/office/drawing/2014/main" id="{4397A73D-E331-8C55-9674-996F59D272B5}"/>
                    </a:ext>
                  </a:extLst>
                </p:cNvPr>
                <p:cNvGrpSpPr/>
                <p:nvPr/>
              </p:nvGrpSpPr>
              <p:grpSpPr>
                <a:xfrm>
                  <a:off x="6624217" y="4426370"/>
                  <a:ext cx="613862" cy="582059"/>
                  <a:chOff x="871373" y="5484913"/>
                  <a:chExt cx="613862" cy="582059"/>
                </a:xfrm>
              </p:grpSpPr>
              <p:sp>
                <p:nvSpPr>
                  <p:cNvPr id="62" name="사각형: 둥근 모서리 61">
                    <a:extLst>
                      <a:ext uri="{FF2B5EF4-FFF2-40B4-BE49-F238E27FC236}">
                        <a16:creationId xmlns:a16="http://schemas.microsoft.com/office/drawing/2014/main" id="{77E74863-F922-CD01-2F75-F6C51F5D9BF8}"/>
                      </a:ext>
                    </a:extLst>
                  </p:cNvPr>
                  <p:cNvSpPr/>
                  <p:nvPr/>
                </p:nvSpPr>
                <p:spPr>
                  <a:xfrm>
                    <a:off x="1004282" y="5484913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63" name="사각형: 둥근 모서리 62">
                    <a:extLst>
                      <a:ext uri="{FF2B5EF4-FFF2-40B4-BE49-F238E27FC236}">
                        <a16:creationId xmlns:a16="http://schemas.microsoft.com/office/drawing/2014/main" id="{E1A0CB79-041B-F929-1383-B50A7526605E}"/>
                      </a:ext>
                    </a:extLst>
                  </p:cNvPr>
                  <p:cNvSpPr/>
                  <p:nvPr/>
                </p:nvSpPr>
                <p:spPr>
                  <a:xfrm>
                    <a:off x="937826" y="5529547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64" name="사각형: 둥근 모서리 63">
                    <a:extLst>
                      <a:ext uri="{FF2B5EF4-FFF2-40B4-BE49-F238E27FC236}">
                        <a16:creationId xmlns:a16="http://schemas.microsoft.com/office/drawing/2014/main" id="{289585B6-4A8A-F104-B120-08D6167E32DE}"/>
                      </a:ext>
                    </a:extLst>
                  </p:cNvPr>
                  <p:cNvSpPr/>
                  <p:nvPr/>
                </p:nvSpPr>
                <p:spPr>
                  <a:xfrm>
                    <a:off x="871373" y="5583705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cxnSp>
                <p:nvCxnSpPr>
                  <p:cNvPr id="65" name="직선 연결선 64">
                    <a:extLst>
                      <a:ext uri="{FF2B5EF4-FFF2-40B4-BE49-F238E27FC236}">
                        <a16:creationId xmlns:a16="http://schemas.microsoft.com/office/drawing/2014/main" id="{CE5FAF94-DCC8-1E03-A719-B90C55EAE6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659291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66" name="직선 연결선 65">
                    <a:extLst>
                      <a:ext uri="{FF2B5EF4-FFF2-40B4-BE49-F238E27FC236}">
                        <a16:creationId xmlns:a16="http://schemas.microsoft.com/office/drawing/2014/main" id="{A180F472-FED3-794B-76FA-807145DDEA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808922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67" name="직선 연결선 66">
                    <a:extLst>
                      <a:ext uri="{FF2B5EF4-FFF2-40B4-BE49-F238E27FC236}">
                        <a16:creationId xmlns:a16="http://schemas.microsoft.com/office/drawing/2014/main" id="{E0BA2905-7256-D0EB-6570-8338715D9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759045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68" name="직선 연결선 67">
                    <a:extLst>
                      <a:ext uri="{FF2B5EF4-FFF2-40B4-BE49-F238E27FC236}">
                        <a16:creationId xmlns:a16="http://schemas.microsoft.com/office/drawing/2014/main" id="{A9CB35EE-1CF7-923F-0E8D-6A115025C5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958554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69" name="직선 연결선 68">
                    <a:extLst>
                      <a:ext uri="{FF2B5EF4-FFF2-40B4-BE49-F238E27FC236}">
                        <a16:creationId xmlns:a16="http://schemas.microsoft.com/office/drawing/2014/main" id="{590A3AD6-1C8F-471B-9514-651A91AAC3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858800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62F94FA1-E1B3-C065-3B8E-7F648F06A4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709168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F3FED54A-A3FE-3F1E-BEE2-4994353B49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6008435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9A9543CF-6592-BBB2-C95D-AD6110404E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908677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1" name="모서리가 둥근 직사각형 3">
                  <a:extLst>
                    <a:ext uri="{FF2B5EF4-FFF2-40B4-BE49-F238E27FC236}">
                      <a16:creationId xmlns:a16="http://schemas.microsoft.com/office/drawing/2014/main" id="{7E01ADFF-3469-24C0-1502-0E0356BA77D0}"/>
                    </a:ext>
                  </a:extLst>
                </p:cNvPr>
                <p:cNvSpPr/>
                <p:nvPr/>
              </p:nvSpPr>
              <p:spPr>
                <a:xfrm>
                  <a:off x="6511016" y="4895033"/>
                  <a:ext cx="758847" cy="221715"/>
                </a:xfrm>
                <a:prstGeom prst="roundRect">
                  <a:avLst>
                    <a:gd name="adj" fmla="val 28317"/>
                  </a:avLst>
                </a:prstGeom>
                <a:solidFill>
                  <a:srgbClr val="FFFFFF"/>
                </a:solidFill>
                <a:ln w="3175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0" cap="none" spc="0" normalizeH="0" baseline="0" noProof="0" dirty="0">
                      <a:ln>
                        <a:solidFill>
                          <a:srgbClr val="262626"/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도메인 정보</a:t>
                  </a:r>
                </a:p>
              </p:txBody>
            </p:sp>
          </p:grpSp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D0E815F9-6426-30B4-887D-138026092C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srgbClr val="00AEEF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7964364" y="5525814"/>
                <a:ext cx="789003" cy="680935"/>
              </a:xfrm>
              <a:prstGeom prst="rect">
                <a:avLst/>
              </a:prstGeom>
            </p:spPr>
          </p:pic>
          <p:pic>
            <p:nvPicPr>
              <p:cNvPr id="59" name="그림 58" descr="문구용품, 메탈웨어, 압정이(가) 표시된 사진&#10;&#10;자동 생성된 설명">
                <a:extLst>
                  <a:ext uri="{FF2B5EF4-FFF2-40B4-BE49-F238E27FC236}">
                    <a16:creationId xmlns:a16="http://schemas.microsoft.com/office/drawing/2014/main" id="{61E8AA35-6EE3-08E1-3838-D38DB9148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prstClr val="black"/>
                  <a:srgbClr val="EF570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61898" y="3677438"/>
                <a:ext cx="372912" cy="372912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FEA7AB1-4F34-F5A8-3430-6C0654A791E0}"/>
                </a:ext>
              </a:extLst>
            </p:cNvPr>
            <p:cNvGrpSpPr/>
            <p:nvPr/>
          </p:nvGrpSpPr>
          <p:grpSpPr>
            <a:xfrm>
              <a:off x="442801" y="4600282"/>
              <a:ext cx="5300721" cy="1727974"/>
              <a:chOff x="442801" y="4600282"/>
              <a:chExt cx="5300721" cy="1727974"/>
            </a:xfrm>
          </p:grpSpPr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4AC01E1E-245A-7724-B41A-6B4AA58A1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496925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2C18F17D-37CF-CF31-5399-429D5397A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721417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75B9340D-FFCB-D3AD-31F3-4A797C0C5A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614174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05FECF83-C54F-93E8-DBCD-581641D85CE3}"/>
                  </a:ext>
                </a:extLst>
              </p:cNvPr>
              <p:cNvGrpSpPr/>
              <p:nvPr/>
            </p:nvGrpSpPr>
            <p:grpSpPr>
              <a:xfrm>
                <a:off x="2974620" y="5301260"/>
                <a:ext cx="608602" cy="623158"/>
                <a:chOff x="2954705" y="6319536"/>
                <a:chExt cx="196457" cy="269712"/>
              </a:xfrm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DF4F353C-877B-C60A-24E1-88764C9B30BA}"/>
                    </a:ext>
                  </a:extLst>
                </p:cNvPr>
                <p:cNvGrpSpPr/>
                <p:nvPr/>
              </p:nvGrpSpPr>
              <p:grpSpPr>
                <a:xfrm>
                  <a:off x="2954705" y="6319536"/>
                  <a:ext cx="196457" cy="269712"/>
                  <a:chOff x="2954705" y="6319536"/>
                  <a:chExt cx="196457" cy="269712"/>
                </a:xfrm>
              </p:grpSpPr>
              <p:sp>
                <p:nvSpPr>
                  <p:cNvPr id="45" name="원통형 44">
                    <a:extLst>
                      <a:ext uri="{FF2B5EF4-FFF2-40B4-BE49-F238E27FC236}">
                        <a16:creationId xmlns:a16="http://schemas.microsoft.com/office/drawing/2014/main" id="{212A837D-B0FA-2E0E-7FF4-A0329380BF91}"/>
                      </a:ext>
                    </a:extLst>
                  </p:cNvPr>
                  <p:cNvSpPr/>
                  <p:nvPr/>
                </p:nvSpPr>
                <p:spPr>
                  <a:xfrm>
                    <a:off x="2954705" y="6453420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46" name="원통형 45">
                    <a:extLst>
                      <a:ext uri="{FF2B5EF4-FFF2-40B4-BE49-F238E27FC236}">
                        <a16:creationId xmlns:a16="http://schemas.microsoft.com/office/drawing/2014/main" id="{2D811F49-5C85-CE0C-7F13-EB0C2F7E9305}"/>
                      </a:ext>
                    </a:extLst>
                  </p:cNvPr>
                  <p:cNvSpPr/>
                  <p:nvPr/>
                </p:nvSpPr>
                <p:spPr>
                  <a:xfrm>
                    <a:off x="2954705" y="6386478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47" name="원통형 46">
                    <a:extLst>
                      <a:ext uri="{FF2B5EF4-FFF2-40B4-BE49-F238E27FC236}">
                        <a16:creationId xmlns:a16="http://schemas.microsoft.com/office/drawing/2014/main" id="{4D6A049E-7E25-FAD7-C602-C7B7AF27B685}"/>
                      </a:ext>
                    </a:extLst>
                  </p:cNvPr>
                  <p:cNvSpPr/>
                  <p:nvPr/>
                </p:nvSpPr>
                <p:spPr>
                  <a:xfrm>
                    <a:off x="2954705" y="6319536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</p:grpSp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FBFD9210-BF4C-4E9B-68A7-335CC2D9A4C9}"/>
                    </a:ext>
                  </a:extLst>
                </p:cNvPr>
                <p:cNvSpPr/>
                <p:nvPr/>
              </p:nvSpPr>
              <p:spPr>
                <a:xfrm>
                  <a:off x="2972316" y="6400339"/>
                  <a:ext cx="10800" cy="10800"/>
                </a:xfrm>
                <a:prstGeom prst="ellipse">
                  <a:avLst/>
                </a:prstGeom>
                <a:solidFill>
                  <a:srgbClr val="262626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1B2458D7-F714-4B70-36B9-5C82BF969F13}"/>
                  </a:ext>
                </a:extLst>
              </p:cNvPr>
              <p:cNvGrpSpPr/>
              <p:nvPr/>
            </p:nvGrpSpPr>
            <p:grpSpPr>
              <a:xfrm>
                <a:off x="871373" y="5330981"/>
                <a:ext cx="613862" cy="582059"/>
                <a:chOff x="871373" y="5484913"/>
                <a:chExt cx="613862" cy="582059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72DC6C39-C9EF-ABF5-8C41-3F8E8FF6057D}"/>
                    </a:ext>
                  </a:extLst>
                </p:cNvPr>
                <p:cNvSpPr/>
                <p:nvPr/>
              </p:nvSpPr>
              <p:spPr>
                <a:xfrm>
                  <a:off x="1004282" y="5484913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CD89F576-B8AA-C776-E2D2-8699513267A2}"/>
                    </a:ext>
                  </a:extLst>
                </p:cNvPr>
                <p:cNvSpPr/>
                <p:nvPr/>
              </p:nvSpPr>
              <p:spPr>
                <a:xfrm>
                  <a:off x="937826" y="5529547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43AA9A66-3160-92C4-0203-4706C347A5AB}"/>
                    </a:ext>
                  </a:extLst>
                </p:cNvPr>
                <p:cNvSpPr/>
                <p:nvPr/>
              </p:nvSpPr>
              <p:spPr>
                <a:xfrm>
                  <a:off x="871373" y="5583705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E669A756-5DAD-4F03-636A-41EE49086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659291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9D9AA3AA-4D36-76E0-2D86-C2D412D5A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808922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4C1D66E3-69DD-10F5-FE09-739904EDF0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759045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09C9BCEF-1C64-4FA0-53E5-4F8A56E19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958554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F15CA0E5-4B26-154F-669D-003AFB4266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858800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626B391B-F4F6-ACE8-3E68-AF8491A3E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709168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96FEA438-9B0D-03B2-2AED-7BF298C53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6008435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9B74118-A574-0CBB-D35F-8853757ECD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908677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9" name="모서리가 둥근 직사각형 3">
                <a:extLst>
                  <a:ext uri="{FF2B5EF4-FFF2-40B4-BE49-F238E27FC236}">
                    <a16:creationId xmlns:a16="http://schemas.microsoft.com/office/drawing/2014/main" id="{14F7DF0D-1172-65E5-0E16-7D1E1EFB52C4}"/>
                  </a:ext>
                </a:extLst>
              </p:cNvPr>
              <p:cNvSpPr/>
              <p:nvPr/>
            </p:nvSpPr>
            <p:spPr>
              <a:xfrm>
                <a:off x="758172" y="5799644"/>
                <a:ext cx="758847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도메인 정보</a:t>
                </a:r>
              </a:p>
            </p:txBody>
          </p:sp>
          <p:sp>
            <p:nvSpPr>
              <p:cNvPr id="20" name="모서리가 둥근 직사각형 3">
                <a:extLst>
                  <a:ext uri="{FF2B5EF4-FFF2-40B4-BE49-F238E27FC236}">
                    <a16:creationId xmlns:a16="http://schemas.microsoft.com/office/drawing/2014/main" id="{E9A90ABA-4B4A-04C4-F577-0EDD009C1053}"/>
                  </a:ext>
                </a:extLst>
              </p:cNvPr>
              <p:cNvSpPr/>
              <p:nvPr/>
            </p:nvSpPr>
            <p:spPr>
              <a:xfrm>
                <a:off x="2863130" y="5599924"/>
                <a:ext cx="834732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Vector DB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AA8C7128-D821-A647-1C33-63386CB75725}"/>
                  </a:ext>
                </a:extLst>
              </p:cNvPr>
              <p:cNvGrpSpPr/>
              <p:nvPr/>
            </p:nvGrpSpPr>
            <p:grpSpPr>
              <a:xfrm>
                <a:off x="566515" y="5113856"/>
                <a:ext cx="5177007" cy="1214400"/>
                <a:chOff x="365777" y="3828852"/>
                <a:chExt cx="3712543" cy="1113456"/>
              </a:xfrm>
            </p:grpSpPr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2326EBD7-F916-3655-4485-6F5B2A6835A7}"/>
                    </a:ext>
                  </a:extLst>
                </p:cNvPr>
                <p:cNvSpPr/>
                <p:nvPr/>
              </p:nvSpPr>
              <p:spPr>
                <a:xfrm>
                  <a:off x="365777" y="3828852"/>
                  <a:ext cx="3712543" cy="1109486"/>
                </a:xfrm>
                <a:prstGeom prst="rect">
                  <a:avLst/>
                </a:prstGeom>
                <a:noFill/>
                <a:ln w="254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D8F4F34-EEA6-6B3A-CBB0-873C5527FFF9}"/>
                    </a:ext>
                  </a:extLst>
                </p:cNvPr>
                <p:cNvSpPr txBox="1"/>
                <p:nvPr/>
              </p:nvSpPr>
              <p:spPr>
                <a:xfrm>
                  <a:off x="372616" y="4794156"/>
                  <a:ext cx="1029221" cy="14815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RAG(</a:t>
                  </a:r>
                  <a:r>
                    <a:rPr kumimoji="0" lang="ko-KR" altLang="en-US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검색증강생성</a:t>
                  </a: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)</a:t>
                  </a:r>
                  <a:endPara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</p:grp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326FBB7-77F8-21D6-8DA5-F08E7BABF68B}"/>
                  </a:ext>
                </a:extLst>
              </p:cNvPr>
              <p:cNvSpPr/>
              <p:nvPr/>
            </p:nvSpPr>
            <p:spPr>
              <a:xfrm>
                <a:off x="3151162" y="5000997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9409C915-4506-60A0-811F-118CA62BEAF7}"/>
                  </a:ext>
                </a:extLst>
              </p:cNvPr>
              <p:cNvSpPr/>
              <p:nvPr/>
            </p:nvSpPr>
            <p:spPr>
              <a:xfrm>
                <a:off x="2215300" y="4600282"/>
                <a:ext cx="1065326" cy="1489544"/>
              </a:xfrm>
              <a:custGeom>
                <a:avLst/>
                <a:gdLst>
                  <a:gd name="connsiteX0" fmla="*/ 1036948 w 1055802"/>
                  <a:gd name="connsiteY0" fmla="*/ 0 h 1536569"/>
                  <a:gd name="connsiteX1" fmla="*/ 1036948 w 1055802"/>
                  <a:gd name="connsiteY1" fmla="*/ 669304 h 1536569"/>
                  <a:gd name="connsiteX2" fmla="*/ 0 w 1055802"/>
                  <a:gd name="connsiteY2" fmla="*/ 669304 h 1536569"/>
                  <a:gd name="connsiteX3" fmla="*/ 0 w 1055802"/>
                  <a:gd name="connsiteY3" fmla="*/ 1536569 h 1536569"/>
                  <a:gd name="connsiteX4" fmla="*/ 1055802 w 1055802"/>
                  <a:gd name="connsiteY4" fmla="*/ 1536569 h 1536569"/>
                  <a:gd name="connsiteX5" fmla="*/ 1055802 w 1055802"/>
                  <a:gd name="connsiteY5" fmla="*/ 1319753 h 1536569"/>
                  <a:gd name="connsiteX0" fmla="*/ 1036948 w 1055802"/>
                  <a:gd name="connsiteY0" fmla="*/ 0 h 1536569"/>
                  <a:gd name="connsiteX1" fmla="*/ 1036948 w 1055802"/>
                  <a:gd name="connsiteY1" fmla="*/ 669304 h 1536569"/>
                  <a:gd name="connsiteX2" fmla="*/ 0 w 1055802"/>
                  <a:gd name="connsiteY2" fmla="*/ 669304 h 1536569"/>
                  <a:gd name="connsiteX3" fmla="*/ 0 w 1055802"/>
                  <a:gd name="connsiteY3" fmla="*/ 1536569 h 1536569"/>
                  <a:gd name="connsiteX4" fmla="*/ 1055802 w 1055802"/>
                  <a:gd name="connsiteY4" fmla="*/ 1536569 h 1536569"/>
                  <a:gd name="connsiteX5" fmla="*/ 1055802 w 1055802"/>
                  <a:gd name="connsiteY5" fmla="*/ 1397549 h 1536569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65228 w 1065228"/>
                  <a:gd name="connsiteY4" fmla="*/ 1536569 h 1607920"/>
                  <a:gd name="connsiteX5" fmla="*/ 1065228 w 1065228"/>
                  <a:gd name="connsiteY5" fmla="*/ 1397549 h 1607920"/>
                  <a:gd name="connsiteX0" fmla="*/ 1046374 w 1065228"/>
                  <a:gd name="connsiteY0" fmla="*/ 0 h 1618113"/>
                  <a:gd name="connsiteX1" fmla="*/ 1046374 w 1065228"/>
                  <a:gd name="connsiteY1" fmla="*/ 669304 h 1618113"/>
                  <a:gd name="connsiteX2" fmla="*/ 9426 w 1065228"/>
                  <a:gd name="connsiteY2" fmla="*/ 669304 h 1618113"/>
                  <a:gd name="connsiteX3" fmla="*/ 0 w 1065228"/>
                  <a:gd name="connsiteY3" fmla="*/ 1607920 h 1618113"/>
                  <a:gd name="connsiteX4" fmla="*/ 1065228 w 1065228"/>
                  <a:gd name="connsiteY4" fmla="*/ 1618113 h 1618113"/>
                  <a:gd name="connsiteX5" fmla="*/ 1065228 w 1065228"/>
                  <a:gd name="connsiteY5" fmla="*/ 1397549 h 1618113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65228 w 1065228"/>
                  <a:gd name="connsiteY4" fmla="*/ 1587535 h 1607920"/>
                  <a:gd name="connsiteX5" fmla="*/ 1065228 w 1065228"/>
                  <a:gd name="connsiteY5" fmla="*/ 1397549 h 1607920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55801 w 1065228"/>
                  <a:gd name="connsiteY4" fmla="*/ 1607920 h 1607920"/>
                  <a:gd name="connsiteX5" fmla="*/ 1065228 w 1065228"/>
                  <a:gd name="connsiteY5" fmla="*/ 1397549 h 1607920"/>
                  <a:gd name="connsiteX0" fmla="*/ 1046374 w 1074654"/>
                  <a:gd name="connsiteY0" fmla="*/ 0 h 1618113"/>
                  <a:gd name="connsiteX1" fmla="*/ 1046374 w 1074654"/>
                  <a:gd name="connsiteY1" fmla="*/ 669304 h 1618113"/>
                  <a:gd name="connsiteX2" fmla="*/ 9426 w 1074654"/>
                  <a:gd name="connsiteY2" fmla="*/ 669304 h 1618113"/>
                  <a:gd name="connsiteX3" fmla="*/ 0 w 1074654"/>
                  <a:gd name="connsiteY3" fmla="*/ 1607920 h 1618113"/>
                  <a:gd name="connsiteX4" fmla="*/ 1074654 w 1074654"/>
                  <a:gd name="connsiteY4" fmla="*/ 1618113 h 1618113"/>
                  <a:gd name="connsiteX5" fmla="*/ 1065228 w 1074654"/>
                  <a:gd name="connsiteY5" fmla="*/ 1397549 h 1618113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55801 w 1065228"/>
                  <a:gd name="connsiteY4" fmla="*/ 1597727 h 1607920"/>
                  <a:gd name="connsiteX5" fmla="*/ 1065228 w 1065228"/>
                  <a:gd name="connsiteY5" fmla="*/ 1397549 h 1607920"/>
                  <a:gd name="connsiteX0" fmla="*/ 1046374 w 1079614"/>
                  <a:gd name="connsiteY0" fmla="*/ 0 h 1618325"/>
                  <a:gd name="connsiteX1" fmla="*/ 1046374 w 1079614"/>
                  <a:gd name="connsiteY1" fmla="*/ 669304 h 1618325"/>
                  <a:gd name="connsiteX2" fmla="*/ 9426 w 1079614"/>
                  <a:gd name="connsiteY2" fmla="*/ 669304 h 1618325"/>
                  <a:gd name="connsiteX3" fmla="*/ 0 w 1079614"/>
                  <a:gd name="connsiteY3" fmla="*/ 1607920 h 1618325"/>
                  <a:gd name="connsiteX4" fmla="*/ 1079614 w 1079614"/>
                  <a:gd name="connsiteY4" fmla="*/ 1618325 h 1618325"/>
                  <a:gd name="connsiteX5" fmla="*/ 1065228 w 1079614"/>
                  <a:gd name="connsiteY5" fmla="*/ 1397549 h 1618325"/>
                  <a:gd name="connsiteX0" fmla="*/ 1046374 w 1065326"/>
                  <a:gd name="connsiteY0" fmla="*/ 0 h 1608026"/>
                  <a:gd name="connsiteX1" fmla="*/ 1046374 w 1065326"/>
                  <a:gd name="connsiteY1" fmla="*/ 669304 h 1608026"/>
                  <a:gd name="connsiteX2" fmla="*/ 9426 w 1065326"/>
                  <a:gd name="connsiteY2" fmla="*/ 669304 h 1608026"/>
                  <a:gd name="connsiteX3" fmla="*/ 0 w 1065326"/>
                  <a:gd name="connsiteY3" fmla="*/ 1607920 h 1608026"/>
                  <a:gd name="connsiteX4" fmla="*/ 1065326 w 1065326"/>
                  <a:gd name="connsiteY4" fmla="*/ 1608026 h 1608026"/>
                  <a:gd name="connsiteX5" fmla="*/ 1065228 w 1065326"/>
                  <a:gd name="connsiteY5" fmla="*/ 1397549 h 1608026"/>
                  <a:gd name="connsiteX0" fmla="*/ 1046374 w 1065326"/>
                  <a:gd name="connsiteY0" fmla="*/ 0 h 1608026"/>
                  <a:gd name="connsiteX1" fmla="*/ 1046374 w 1065326"/>
                  <a:gd name="connsiteY1" fmla="*/ 669304 h 1608026"/>
                  <a:gd name="connsiteX2" fmla="*/ 9426 w 1065326"/>
                  <a:gd name="connsiteY2" fmla="*/ 669304 h 1608026"/>
                  <a:gd name="connsiteX3" fmla="*/ 0 w 1065326"/>
                  <a:gd name="connsiteY3" fmla="*/ 1607920 h 1608026"/>
                  <a:gd name="connsiteX4" fmla="*/ 1065326 w 1065326"/>
                  <a:gd name="connsiteY4" fmla="*/ 1608026 h 1608026"/>
                  <a:gd name="connsiteX5" fmla="*/ 1065228 w 1065326"/>
                  <a:gd name="connsiteY5" fmla="*/ 1457715 h 1608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5326" h="1608026">
                    <a:moveTo>
                      <a:pt x="1046374" y="0"/>
                    </a:moveTo>
                    <a:lnTo>
                      <a:pt x="1046374" y="669304"/>
                    </a:lnTo>
                    <a:lnTo>
                      <a:pt x="9426" y="669304"/>
                    </a:lnTo>
                    <a:lnTo>
                      <a:pt x="0" y="1607920"/>
                    </a:lnTo>
                    <a:lnTo>
                      <a:pt x="1065326" y="1608026"/>
                    </a:lnTo>
                    <a:cubicBezTo>
                      <a:pt x="1065293" y="1537867"/>
                      <a:pt x="1065261" y="1527874"/>
                      <a:pt x="1065228" y="1457715"/>
                    </a:cubicBezTo>
                  </a:path>
                </a:pathLst>
              </a:custGeom>
              <a:noFill/>
              <a:ln w="12700" cap="flat" cmpd="sng" algn="ctr">
                <a:solidFill>
                  <a:srgbClr val="00AEEF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24" name="모서리가 둥근 직사각형 3">
                <a:extLst>
                  <a:ext uri="{FF2B5EF4-FFF2-40B4-BE49-F238E27FC236}">
                    <a16:creationId xmlns:a16="http://schemas.microsoft.com/office/drawing/2014/main" id="{A7A9D513-DC60-076C-5002-272D383455D8}"/>
                  </a:ext>
                </a:extLst>
              </p:cNvPr>
              <p:cNvSpPr/>
              <p:nvPr/>
            </p:nvSpPr>
            <p:spPr>
              <a:xfrm>
                <a:off x="1807392" y="5325321"/>
                <a:ext cx="834732" cy="599096"/>
              </a:xfrm>
              <a:prstGeom prst="roundRect">
                <a:avLst>
                  <a:gd name="adj" fmla="val 16873"/>
                </a:avLst>
              </a:prstGeom>
              <a:solidFill>
                <a:srgbClr val="FFFFFF"/>
              </a:solidFill>
              <a:ln w="25400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Embedding</a:t>
                </a: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Model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25" name="모서리가 둥근 직사각형 3">
                <a:extLst>
                  <a:ext uri="{FF2B5EF4-FFF2-40B4-BE49-F238E27FC236}">
                    <a16:creationId xmlns:a16="http://schemas.microsoft.com/office/drawing/2014/main" id="{91611B0D-3A9B-98B5-5467-D47D4F769CA3}"/>
                  </a:ext>
                </a:extLst>
              </p:cNvPr>
              <p:cNvSpPr/>
              <p:nvPr/>
            </p:nvSpPr>
            <p:spPr>
              <a:xfrm>
                <a:off x="2162072" y="6079084"/>
                <a:ext cx="2304320" cy="214347"/>
              </a:xfrm>
              <a:prstGeom prst="roundRect">
                <a:avLst>
                  <a:gd name="adj" fmla="val 16873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Sematic Search 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→ 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Response Ranking</a:t>
                </a:r>
                <a:endParaRPr kumimoji="0" lang="ko-KR" altLang="en-US" sz="9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191C0C8-7DB2-F3DC-9803-632DE6058B68}"/>
                  </a:ext>
                </a:extLst>
              </p:cNvPr>
              <p:cNvSpPr/>
              <p:nvPr/>
            </p:nvSpPr>
            <p:spPr>
              <a:xfrm>
                <a:off x="4849900" y="5000997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4FB097A9-E12B-FDB4-2EEF-1826814E8CAD}"/>
                  </a:ext>
                </a:extLst>
              </p:cNvPr>
              <p:cNvSpPr/>
              <p:nvPr/>
            </p:nvSpPr>
            <p:spPr>
              <a:xfrm>
                <a:off x="3771900" y="4998720"/>
                <a:ext cx="1188720" cy="594360"/>
              </a:xfrm>
              <a:custGeom>
                <a:avLst/>
                <a:gdLst>
                  <a:gd name="connsiteX0" fmla="*/ 0 w 1188720"/>
                  <a:gd name="connsiteY0" fmla="*/ 594360 h 594360"/>
                  <a:gd name="connsiteX1" fmla="*/ 1188720 w 1188720"/>
                  <a:gd name="connsiteY1" fmla="*/ 594360 h 594360"/>
                  <a:gd name="connsiteX2" fmla="*/ 1188720 w 1188720"/>
                  <a:gd name="connsiteY2" fmla="*/ 0 h 594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720" h="594360">
                    <a:moveTo>
                      <a:pt x="0" y="594360"/>
                    </a:moveTo>
                    <a:lnTo>
                      <a:pt x="1188720" y="594360"/>
                    </a:lnTo>
                    <a:lnTo>
                      <a:pt x="1188720" y="0"/>
                    </a:lnTo>
                  </a:path>
                </a:pathLst>
              </a:custGeom>
              <a:noFill/>
              <a:ln w="12700" cap="flat" cmpd="sng" algn="ctr">
                <a:solidFill>
                  <a:srgbClr val="00AEEF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28" name="모서리가 둥근 직사각형 3">
                <a:extLst>
                  <a:ext uri="{FF2B5EF4-FFF2-40B4-BE49-F238E27FC236}">
                    <a16:creationId xmlns:a16="http://schemas.microsoft.com/office/drawing/2014/main" id="{F31E9DA9-72F9-0FCB-5449-014EC33058EC}"/>
                  </a:ext>
                </a:extLst>
              </p:cNvPr>
              <p:cNvSpPr/>
              <p:nvPr/>
            </p:nvSpPr>
            <p:spPr>
              <a:xfrm>
                <a:off x="3883001" y="5245548"/>
                <a:ext cx="1785128" cy="181529"/>
              </a:xfrm>
              <a:prstGeom prst="roundRect">
                <a:avLst>
                  <a:gd name="adj" fmla="val 16873"/>
                </a:avLst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User Prompt &amp; Top Response</a:t>
                </a:r>
                <a:endParaRPr kumimoji="0" lang="ko-KR" altLang="en-US" sz="9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pic>
            <p:nvPicPr>
              <p:cNvPr id="29" name="그림 28" descr="문구용품, 메탈웨어, 압정이(가) 표시된 사진&#10;&#10;자동 생성된 설명">
                <a:extLst>
                  <a:ext uri="{FF2B5EF4-FFF2-40B4-BE49-F238E27FC236}">
                    <a16:creationId xmlns:a16="http://schemas.microsoft.com/office/drawing/2014/main" id="{A11A2FEB-7C16-E8DF-8B63-9F21D64158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prstClr val="black"/>
                  <a:srgbClr val="EF570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332465">
                <a:off x="442801" y="5880109"/>
                <a:ext cx="372912" cy="3729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1456964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1D43-00B8-6C3B-CF25-B0221C2B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E1591-F576-F365-35BB-FC71EF9C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엔지니어링</a:t>
            </a:r>
            <a:r>
              <a:rPr lang="en-US" altLang="ko-KR" dirty="0"/>
              <a:t>(Prompt Engineering)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2EF55-2B66-241F-F1F6-C671A541BEFA}"/>
              </a:ext>
            </a:extLst>
          </p:cNvPr>
          <p:cNvSpPr txBox="1"/>
          <p:nvPr/>
        </p:nvSpPr>
        <p:spPr>
          <a:xfrm>
            <a:off x="780529" y="1793233"/>
            <a:ext cx="8565084" cy="353943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00FF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는 생성형 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모델에 제공된 입력 텍스트 또는 명령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모델이 수행해야 할 작업이나 생성해야 하는 결과의 유형에 대한 정보를 제공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질문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문장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단락 또는 글 전체에 사용될 수 있으며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모델이 원하는 응답이나 출력을 생성하는 데 사용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프롬프트의 품질은 결과의 정확성과 직결되기 때문에 신중한 설계가 필요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FF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은 대형 언어 모델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(LLM)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과 상호작용하도록 프롬프트를 설계하고 최적화하는 작업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모델 자체를 수정하지 않고도 기대한 결과를 얻는 방법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질문 응답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산술 추론 등 다양한 복잡한 작업에서 생성형 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모델의 성능을 높이는 데 유용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－　이를 효과적으로 활용하면 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LLM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이 더욱 정확한 결과를 출력하고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여러 작업 및 도메인에 유연하게 적응하도록 만들 수 있음</a:t>
            </a:r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endParaRPr lang="en-US" altLang="ko-KR" sz="1600" dirty="0">
              <a:solidFill>
                <a:srgbClr val="000000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엔지니어링의 </a:t>
            </a:r>
            <a:r>
              <a:rPr lang="ko-KR" altLang="en-US" sz="1600" dirty="0">
                <a:solidFill>
                  <a:srgbClr val="0000FF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목표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는 생성형 </a:t>
            </a:r>
            <a:r>
              <a:rPr lang="en-US" altLang="ko-KR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 </a:t>
            </a:r>
            <a:r>
              <a:rPr lang="ko-KR" altLang="en-US" sz="16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모델이 사용자 의도에 맞는 정확하고 관련성 높은 결과를 생성하도록 돕는 것</a:t>
            </a:r>
          </a:p>
        </p:txBody>
      </p:sp>
    </p:spTree>
    <p:extLst>
      <p:ext uri="{BB962C8B-B14F-4D97-AF65-F5344CB8AC3E}">
        <p14:creationId xmlns:p14="http://schemas.microsoft.com/office/powerpoint/2010/main" val="133765096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B05F8-DB64-E1D7-ED6B-72D8D1BA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엔지니어링의 기본 요소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4B18B-4FF8-1F67-5CE8-5470B3F86F4C}"/>
              </a:ext>
            </a:extLst>
          </p:cNvPr>
          <p:cNvSpPr txBox="1"/>
          <p:nvPr/>
        </p:nvSpPr>
        <p:spPr>
          <a:xfrm>
            <a:off x="780529" y="1793233"/>
            <a:ext cx="8565084" cy="374929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엔지니어링의 중요한 </a:t>
            </a:r>
            <a:r>
              <a:rPr lang="en-US" altLang="ko-KR" sz="1600" b="1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4</a:t>
            </a:r>
            <a:r>
              <a:rPr lang="ko-KR" altLang="en-US" sz="1600" b="1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가지 요소</a:t>
            </a:r>
            <a:endParaRPr lang="en-US" altLang="ko-KR" sz="1600" b="1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1)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지시사항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(Instruction)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    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언어 모델이 실행해야 하는 특정 작업이나 명령을 명확하게 설명함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2)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맥락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(Context)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    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언어 모델이 명령을 정확히 이해하고 응답할 수 있도록 외부 정보나 추가적인 맥락을 제공함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3)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입력 데이터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(Input data)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    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사용자가 제공한 내용이나 질문을 포함하여 모델이 출력을 생성하는 기반이 되는 정보를 제공함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4)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출력 명세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(Output specification)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    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원하는 출력 유형이나 형식을 명시함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8556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B6EE-5535-00FA-F60F-C4313EC0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C64AA-9BD3-DB47-0FC4-31114796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엔지니어링의 역할 및 중요성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E5DF5-F4F3-A3B0-966C-421114087EFD}"/>
              </a:ext>
            </a:extLst>
          </p:cNvPr>
          <p:cNvSpPr txBox="1"/>
          <p:nvPr/>
        </p:nvSpPr>
        <p:spPr>
          <a:xfrm>
            <a:off x="780529" y="1628800"/>
            <a:ext cx="8565084" cy="22719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엔지니어링의 역할</a:t>
            </a:r>
            <a:endParaRPr lang="en-US" altLang="ko-KR" sz="1600" b="1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생성형 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모델이 최적의 결과를 생성할 수 있도록 프롬프트를 설계하고 조정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프롬프트를 효과적으로 설계하면 모델의 정확도와 관련성이 높아지고 학습 데이터 편향을 완화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복잡한 작업의 시간과 비용을 절감하여 생산성을 높임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엔지니어링은 </a:t>
            </a:r>
            <a:r>
              <a:rPr lang="ko-KR" altLang="en-US" sz="1600" dirty="0" err="1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챗봇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콘텐츠 생성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,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데이터 분석 등 다양한 분야에서 활용 가능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사용자에 알맞은 맞춤형 결과를 제공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61437-9FD7-5BA3-07D1-29CF5A34D873}"/>
              </a:ext>
            </a:extLst>
          </p:cNvPr>
          <p:cNvSpPr txBox="1"/>
          <p:nvPr/>
        </p:nvSpPr>
        <p:spPr>
          <a:xfrm>
            <a:off x="780529" y="4109359"/>
            <a:ext cx="8565084" cy="22719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엔지니어링의 중요성</a:t>
            </a:r>
            <a:endParaRPr lang="en-US" altLang="ko-KR" sz="1600" b="1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프롬프트를 효과적으로 설계하면 첫 번째 답변에서 정확도와 관련성 높은 결과를 얻을 수 있습니다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이는 대형 언어 모델의 학습 데이터에 존재하는 편향성을 완화하고 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가 사용자의 의도를 정확히 파악하여 알맞은 답변을 생성할 수 있도록 합니다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.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따라서 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  <a:cs typeface="IBM Plex Sans Light" panose="020B040305020300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-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프롬프트 엔지니어링은 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AI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활용도를 높이고 최소한의 리소스로 더 나은 사용자 경험을 제공할 수 있도록 합니다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  <a:cs typeface="IBM Plex Sans Light" panose="020B040305020300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31345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8D616-B6A4-A0E9-0538-3337A910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엔지니어링의 장점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1A9920-1B18-BFFE-1803-CE0AD16E7EF0}"/>
              </a:ext>
            </a:extLst>
          </p:cNvPr>
          <p:cNvSpPr txBox="1"/>
          <p:nvPr/>
        </p:nvSpPr>
        <p:spPr>
          <a:xfrm>
            <a:off x="992560" y="1700808"/>
            <a:ext cx="80648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1)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정확성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잘 설계된 프롬프트는 정확한 지침을 제공하여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모델의 응답 정확성을 높이고 모호성은 줄입니다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이를 통해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기반 텍스트 제품의 실용성과 우수성을 높일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2)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효율성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명확한 지침을 통해 특정 작업이나 주제에 대한 텍스트 생성 작업을 효율적으로 수행합니다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이러한 자동화는 인간의 개입 필요성을 줄여주어 프로세스를 최적화하고 시간과 리소스를 절약할 수 있도록 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사용자 경험 개선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프로프트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엔지니어링을 기반으로 향상된 프롬프트를 사용하면 사용자와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의 상호작용이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원활해져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더 나은 사용자 경험을 제공할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3)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제어 능력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모델에 대한 사용자 제어를 강화합니다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높아진 사용자 제어 능력은 결과적으로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의 응답이 사용자의 요구와 일치하도록 보장합니다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맞춤화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특정 작업에 대한 사용자 정의를 가능하게 하여 고객의 요구 사항이나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취향 등을 기반으로 한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제품을 설계할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이를 통해 다양하게 응용이 가능하며 특정 목표나 대상에 맞게 콘텐츠 수정이 쉬워집니다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4)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비용 절감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의 도움으로 작업에 소요되는 시간을 줄여 일의 효율성을 높이고 더 높은 산출량을 얻을 수 있도록 하여 기업에 이익을 가져옵니다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431613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30165-25ED-63EF-75FB-BF0FECAA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엔지니어링의 단점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8EAEC-FDF8-AA7D-13F4-FEF00603D0F3}"/>
              </a:ext>
            </a:extLst>
          </p:cNvPr>
          <p:cNvSpPr txBox="1"/>
          <p:nvPr/>
        </p:nvSpPr>
        <p:spPr>
          <a:xfrm>
            <a:off x="920552" y="1700808"/>
            <a:ext cx="787188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1)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데이터 편향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모델은 학습 데이터에 기반하여 학습하므로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프롬프트에 대한 응답 역시 학습 데이터의 품질과 편견이 반영됩니다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 경우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모델은 의도치 않게 이러한 편향을 지속 및 확대할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예를 들어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특정 인종에 대해 편향된 데이터로 학습한 인공지능 모델은 편향된 응답을 생성할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따라서 윤리적 고려 사항을 염두에 두고 학습 데이터를 준비하는 것이 중요합니다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학습 데이터의 데이터 편향성을 낮추는 방법이 궁금하시다면 이 글을 참고해 주세요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2) </a:t>
            </a:r>
            <a:r>
              <a:rPr lang="ko-KR" altLang="en-US" sz="1400" b="1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과적합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(Overfitting)</a:t>
            </a:r>
          </a:p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프롬프트를 지나치게 구체적이거나 특정한 방식으로 최적화하면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모델이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과적합될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위험이 있으며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모델이 학습 데이터와 너무 밀접하게 일치하게 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이는 모델이 새로운 상황이나 다양한 입력을 마주했을 때 유연하게 대응하지 못하거나 부정확한 출력을 초래할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3)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모델의 한계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 엔지니어링은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모델의 성능에 의존합니다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 자체에 한계가 있다면 아무리 잘 설계된 프롬프트라도 정확한 결과를 보장할 수 없고 모델이 훈련된 데이터에 따라 성능이 좌우됩니다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예를 들어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특정 주제에 대한 데이터가 부족한 상태로 학습된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모델은 해당 주제에 대한 프롬프트의 응답이 부정확할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또한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모델은 인간의 방식으로 언어를 이해할 수 없기 때문에 사용자의 의도를 파악하는 데 한계가 있을 수 있습니다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동일한 프롬프트에 대해서는 사용자에 따라 의도가 다를 수 있으며 인공지능이 이를 완벽하게 이해하는 것은 쉽지 않습니다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307335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93ED867-0378-ED0E-0F7E-8D28F2B7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을 이용한 프롬프트 엔지니어링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5E725BF-80DE-1CCD-EBA0-745416343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350247"/>
              </p:ext>
            </p:extLst>
          </p:nvPr>
        </p:nvGraphicFramePr>
        <p:xfrm>
          <a:off x="681038" y="1825624"/>
          <a:ext cx="8664450" cy="4556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49">
                  <a:extLst>
                    <a:ext uri="{9D8B030D-6E8A-4147-A177-3AD203B41FA5}">
                      <a16:colId xmlns:a16="http://schemas.microsoft.com/office/drawing/2014/main" val="756960344"/>
                    </a:ext>
                  </a:extLst>
                </a:gridCol>
                <a:gridCol w="3212061">
                  <a:extLst>
                    <a:ext uri="{9D8B030D-6E8A-4147-A177-3AD203B41FA5}">
                      <a16:colId xmlns:a16="http://schemas.microsoft.com/office/drawing/2014/main" val="401061272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642702261"/>
                    </a:ext>
                  </a:extLst>
                </a:gridCol>
              </a:tblGrid>
              <a:tr h="4959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구분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설명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예시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965050"/>
                  </a:ext>
                </a:extLst>
              </a:tr>
              <a:tr h="1188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명확하고 구체적인 지침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원하는 작업과 모델이 이에 접근하는 방법에 대한 명시적인 지침을 제공합니다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규칙적으로 반복되는 패턴을 상세한 조건에 따라 지정 </a:t>
                      </a:r>
                    </a:p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사용자가 의도한 질문에 알맞는 답변으로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챕봇의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 </a:t>
                      </a:r>
                    </a:p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품질을 향상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11040"/>
                  </a:ext>
                </a:extLst>
              </a:tr>
              <a:tr h="9573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예제 및 템플릿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예제나 템플릿을 포함하여 원하는 출력을 설명합니다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콜센터 상담 사례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메뉴얼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대응 지침 등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873109"/>
                  </a:ext>
                </a:extLst>
              </a:tr>
              <a:tr h="9573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키워드 및 단서</a:t>
                      </a: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관련 정보와 맥락에 대한 모델의 관심을 유도하기 위해 키워드와 단서를 사용합니다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핵심 용어집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상품 설명서 등</a:t>
                      </a: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808599"/>
                  </a:ext>
                </a:extLst>
              </a:tr>
              <a:tr h="9573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피드백 및 개선</a:t>
                      </a: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모델의 출력을 평가하고 개선을 위한 피드백을 제공합니다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질문 의도와 다르게 표현된 답변을 바로 잡아 향후 같은 질문에 대한 답변 품질을 높임</a:t>
                      </a:r>
                    </a:p>
                  </a:txBody>
                  <a:tcPr marL="45714" marR="45714" marT="22857" marB="22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780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79C50F-ADBF-566D-068E-09F48367B066}"/>
              </a:ext>
            </a:extLst>
          </p:cNvPr>
          <p:cNvSpPr txBox="1"/>
          <p:nvPr/>
        </p:nvSpPr>
        <p:spPr>
          <a:xfrm>
            <a:off x="681038" y="1305609"/>
            <a:ext cx="8664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 엔지니어링은 생성형 </a:t>
            </a:r>
            <a:r>
              <a:rPr lang="en-US" altLang="ko-KR" sz="1600" dirty="0">
                <a:latin typeface="Rix고딕 M" panose="02020603020101020101" pitchFamily="18" charset="-127"/>
                <a:ea typeface="Rix고딕 M" panose="02020603020101020101" pitchFamily="18" charset="-127"/>
              </a:rPr>
              <a:t>AI </a:t>
            </a:r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모델의 잠재력을 최대한 활용하는 핵심 요소</a:t>
            </a:r>
          </a:p>
        </p:txBody>
      </p:sp>
    </p:spTree>
    <p:extLst>
      <p:ext uri="{BB962C8B-B14F-4D97-AF65-F5344CB8AC3E}">
        <p14:creationId xmlns:p14="http://schemas.microsoft.com/office/powerpoint/2010/main" val="105682017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658E9-3B30-B192-1D26-495A3293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비즈니스에서 프롬프트 엔지니어링의 이점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709F9D4-1D63-3F83-D3F3-0BD1BE398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781326"/>
              </p:ext>
            </p:extLst>
          </p:nvPr>
        </p:nvGraphicFramePr>
        <p:xfrm>
          <a:off x="652739" y="1700808"/>
          <a:ext cx="8692873" cy="468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49">
                  <a:extLst>
                    <a:ext uri="{9D8B030D-6E8A-4147-A177-3AD203B41FA5}">
                      <a16:colId xmlns:a16="http://schemas.microsoft.com/office/drawing/2014/main" val="1285768559"/>
                    </a:ext>
                  </a:extLst>
                </a:gridCol>
                <a:gridCol w="2532582">
                  <a:extLst>
                    <a:ext uri="{9D8B030D-6E8A-4147-A177-3AD203B41FA5}">
                      <a16:colId xmlns:a16="http://schemas.microsoft.com/office/drawing/2014/main" val="3805301790"/>
                    </a:ext>
                  </a:extLst>
                </a:gridCol>
                <a:gridCol w="2334171">
                  <a:extLst>
                    <a:ext uri="{9D8B030D-6E8A-4147-A177-3AD203B41FA5}">
                      <a16:colId xmlns:a16="http://schemas.microsoft.com/office/drawing/2014/main" val="1482021776"/>
                    </a:ext>
                  </a:extLst>
                </a:gridCol>
                <a:gridCol w="2334171">
                  <a:extLst>
                    <a:ext uri="{9D8B030D-6E8A-4147-A177-3AD203B41FA5}">
                      <a16:colId xmlns:a16="http://schemas.microsoft.com/office/drawing/2014/main" val="2249395065"/>
                    </a:ext>
                  </a:extLst>
                </a:gridCol>
              </a:tblGrid>
              <a:tr h="404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영역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프롬프트 엔지니어링의 중요성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통계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기술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사례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666162"/>
                  </a:ext>
                </a:extLst>
              </a:tr>
              <a:tr h="968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챗봇 성능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정확하고 관련성이 높은 응답을 보장하여 고객 만족도를 높이고 사람의 개입 필요성을 줄입니다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챗봇은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2023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년까지 기업이 연간 약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110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억 달러를 절약하게 될 것입니다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2438400">
                        <a:buSzPct val="100000"/>
                      </a:pPr>
                      <a:r>
                        <a:rPr lang="en-US" altLang="ko-KR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- </a:t>
                      </a:r>
                      <a:r>
                        <a:rPr lang="ko-KR" altLang="en-US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의도 탐지</a:t>
                      </a:r>
                    </a:p>
                    <a:p>
                      <a:pPr algn="l" defTabSz="2438400">
                        <a:buSzPct val="100000"/>
                      </a:pPr>
                      <a:r>
                        <a:rPr lang="en-US" altLang="ko-KR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- </a:t>
                      </a:r>
                      <a:r>
                        <a:rPr lang="ko-KR" altLang="en-US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부적절성 탐지</a:t>
                      </a:r>
                    </a:p>
                    <a:p>
                      <a:pPr algn="l" defTabSz="2438400">
                        <a:buSzPct val="100000"/>
                      </a:pPr>
                      <a:r>
                        <a:rPr lang="en-US" altLang="ko-KR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- </a:t>
                      </a:r>
                      <a:r>
                        <a:rPr lang="ko-KR" altLang="en-US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개체 감지</a:t>
                      </a:r>
                    </a:p>
                    <a:p>
                      <a:pPr algn="l" defTabSz="2438400">
                        <a:buSzPct val="100000"/>
                      </a:pPr>
                      <a:r>
                        <a:rPr lang="en-US" altLang="ko-KR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- </a:t>
                      </a:r>
                      <a:r>
                        <a:rPr lang="ko-KR" altLang="en-US" sz="1200" b="0" i="0" u="none" strike="noStrike" kern="0" cap="none" spc="0" baseline="0" dirty="0">
                          <a:solidFill>
                            <a:srgbClr val="000000"/>
                          </a:solidFill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  <a:sym typeface="IBM Plex Sans Light"/>
                        </a:rPr>
                        <a:t>자동 수정 감지</a:t>
                      </a:r>
                      <a:endParaRPr lang="ko-KR" altLang="en-US" sz="12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  <a:sym typeface="IBM Plex Sans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26962"/>
                  </a:ext>
                </a:extLst>
              </a:tr>
              <a:tr h="7801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콘텐츠 생성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콘텐츠 생성 프로세스의 효율성과 품질을 향상시킵니다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콘텐츠 마케팅을 우선시하는 기업은 전환율이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배 더 높습니다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2"/>
                        </a:rPr>
                        <a:t>How Generative AI reinvents data sharing for more personalized, secure marketing - Artefact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37410"/>
                  </a:ext>
                </a:extLst>
              </a:tr>
              <a:tr h="7801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개인화 및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추천 시스템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사용자 선호도를 이해하고 관련 제안을 제공하도록 시스템을 안내합니다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개인화는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40%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더 많은 수익을 제공하고 수익을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10~15%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이상 높일 수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2"/>
                        </a:rPr>
                        <a:t>How Generative AI reinvents data sharing for more personalized, secure marketing - Artefact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194764"/>
                  </a:ext>
                </a:extLst>
              </a:tr>
              <a:tr h="7801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감성 분석 및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브랜드 평판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AI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시스템이 정서를 정확하게 분석하고 고객 피드백 및 리뷰의 추세를 식별할 수 있도록 합니다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88%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의 소비자는 긍정적인 고객 경험을 얻은 후 다른 사람에게 회사를 추천할 가능성이 더 높습니다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829287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3"/>
                        </a:rPr>
                        <a:t>Customer Review Insights (ibm.com)</a:t>
                      </a:r>
                      <a:endParaRPr lang="ko-KR" altLang="en-US" sz="12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  <a:sym typeface="IBM Plex Sans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510421"/>
                  </a:ext>
                </a:extLst>
              </a:tr>
              <a:tr h="968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생산성 및 프로세스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최적화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내부 프로세스를 강화하여 조직 내 효율성과 생산성을 높입니다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자동화 기술은 생산성을 연간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0.8%~1.4%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증가시켜 거의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15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조 달러의 임금을 절약할 수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6828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4"/>
                        </a:rPr>
                        <a:t>Call Center Agent Assist with </a:t>
                      </a:r>
                      <a:r>
                        <a:rPr lang="en-US" altLang="ko-KR" sz="1200" dirty="0" err="1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4"/>
                        </a:rPr>
                        <a:t>Watsonx</a:t>
                      </a:r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4"/>
                        </a:rPr>
                        <a:t> (ibm.com)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marL="0" marR="0" indent="0" algn="l" defTabSz="966828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err="1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5"/>
                        </a:rPr>
                        <a:t>insurex</a:t>
                      </a:r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5"/>
                        </a:rPr>
                        <a:t>: Car Insurance Re-imagined with AI (</a:t>
                      </a:r>
                      <a:r>
                        <a:rPr lang="en-US" altLang="ko-KR" sz="1200" dirty="0" err="1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5"/>
                        </a:rPr>
                        <a:t>appdomain.cloud</a:t>
                      </a:r>
                      <a:r>
                        <a:rPr lang="en-US" altLang="ko-KR" sz="12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  <a:hlinkClick r:id="rId5"/>
                        </a:rPr>
                        <a:t>)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2182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52B2FD-CAD9-D846-76BF-4ECFC0625B5B}"/>
              </a:ext>
            </a:extLst>
          </p:cNvPr>
          <p:cNvSpPr txBox="1"/>
          <p:nvPr/>
        </p:nvSpPr>
        <p:spPr>
          <a:xfrm>
            <a:off x="681038" y="1305609"/>
            <a:ext cx="8664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 엔지니어링은 생산성에 긍정적인 영향을 미치고 기업에 다양한 이점을 가져올 수 있음</a:t>
            </a:r>
            <a:endParaRPr lang="en-US" altLang="ko-KR" sz="16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34167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E010-777D-27C7-4900-8708E439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876FC-09E1-B5A2-1B97-2B0C1B43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기술 </a:t>
            </a:r>
            <a:r>
              <a:rPr lang="en-US" altLang="ko-KR" dirty="0"/>
              <a:t>: Zero-shot</a:t>
            </a:r>
            <a:endParaRPr lang="ko-KR" altLang="en-US" dirty="0"/>
          </a:p>
        </p:txBody>
      </p: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86434AE3-FEE6-8A8A-6C50-E8F4D2E21FF0}"/>
              </a:ext>
            </a:extLst>
          </p:cNvPr>
          <p:cNvSpPr/>
          <p:nvPr/>
        </p:nvSpPr>
        <p:spPr>
          <a:xfrm>
            <a:off x="1134881" y="1980726"/>
            <a:ext cx="8122247" cy="512170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-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별도의 예시를 주지 않고 프롬프트를 작성하여 답변을 생성하는 방식으로 가장 기본적인 질의 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–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답변의 형식</a:t>
            </a:r>
            <a:endParaRPr lang="en-US" altLang="ko-KR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  ※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예시 없이 답변 생성 및 글자수를 제한하여 지정하지 않는 이상 문맥으로 답변이 생성</a:t>
            </a:r>
            <a:endParaRPr lang="en-US" altLang="ko-KR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rgbClr val="C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CDEB0198-A171-1E0A-47BB-4B689D3F1FC7}"/>
              </a:ext>
            </a:extLst>
          </p:cNvPr>
          <p:cNvSpPr/>
          <p:nvPr/>
        </p:nvSpPr>
        <p:spPr>
          <a:xfrm>
            <a:off x="947496" y="1741008"/>
            <a:ext cx="837152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개요</a:t>
            </a:r>
            <a:r>
              <a:rPr lang="en-US" altLang="ko-KR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endParaRPr lang="ko-KR" altLang="en-US" sz="1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719408E3-D6A3-B83C-77AD-09C0FE0F7D47}"/>
              </a:ext>
            </a:extLst>
          </p:cNvPr>
          <p:cNvSpPr/>
          <p:nvPr/>
        </p:nvSpPr>
        <p:spPr>
          <a:xfrm>
            <a:off x="947496" y="2852936"/>
            <a:ext cx="837152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활용 예시</a:t>
            </a:r>
          </a:p>
        </p:txBody>
      </p:sp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FF4C8738-489E-94DA-DFA1-DE2F06C4C0C1}"/>
              </a:ext>
            </a:extLst>
          </p:cNvPr>
          <p:cNvSpPr/>
          <p:nvPr/>
        </p:nvSpPr>
        <p:spPr>
          <a:xfrm>
            <a:off x="918852" y="3133925"/>
            <a:ext cx="8338276" cy="1665873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0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1" name="모서리가 둥근 직사각형 3">
            <a:extLst>
              <a:ext uri="{FF2B5EF4-FFF2-40B4-BE49-F238E27FC236}">
                <a16:creationId xmlns:a16="http://schemas.microsoft.com/office/drawing/2014/main" id="{0D36CED1-8EB7-B3B6-BE6E-560E5B90B1E0}"/>
              </a:ext>
            </a:extLst>
          </p:cNvPr>
          <p:cNvSpPr/>
          <p:nvPr/>
        </p:nvSpPr>
        <p:spPr>
          <a:xfrm>
            <a:off x="1037327" y="3241888"/>
            <a:ext cx="778824" cy="251532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" name="모서리가 둥근 직사각형 3">
            <a:extLst>
              <a:ext uri="{FF2B5EF4-FFF2-40B4-BE49-F238E27FC236}">
                <a16:creationId xmlns:a16="http://schemas.microsoft.com/office/drawing/2014/main" id="{3F228A83-EA4F-2330-070C-6701B02B9123}"/>
              </a:ext>
            </a:extLst>
          </p:cNvPr>
          <p:cNvSpPr/>
          <p:nvPr/>
        </p:nvSpPr>
        <p:spPr>
          <a:xfrm>
            <a:off x="1031462" y="4144210"/>
            <a:ext cx="778823" cy="276686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D7DA0-D520-BAD6-0C7B-FB16D93DC084}"/>
              </a:ext>
            </a:extLst>
          </p:cNvPr>
          <p:cNvSpPr txBox="1"/>
          <p:nvPr/>
        </p:nvSpPr>
        <p:spPr>
          <a:xfrm>
            <a:off x="1886677" y="3225320"/>
            <a:ext cx="27062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텍스트를 중립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부정 또는 긍정으로 분류합니다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텍스트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휴가는 괜찮을 것 같아요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감정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D9F4F-CB68-33D9-74FD-EFD1E16AC437}"/>
              </a:ext>
            </a:extLst>
          </p:cNvPr>
          <p:cNvSpPr txBox="1"/>
          <p:nvPr/>
        </p:nvSpPr>
        <p:spPr>
          <a:xfrm>
            <a:off x="1886677" y="4149163"/>
            <a:ext cx="2194283" cy="285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중립</a:t>
            </a:r>
            <a:endParaRPr lang="ko-KR" altLang="en-US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" name="모서리가 둥근 직사각형 3">
            <a:extLst>
              <a:ext uri="{FF2B5EF4-FFF2-40B4-BE49-F238E27FC236}">
                <a16:creationId xmlns:a16="http://schemas.microsoft.com/office/drawing/2014/main" id="{CA4767F7-D1BE-6B7A-C323-D3FCF7B31E83}"/>
              </a:ext>
            </a:extLst>
          </p:cNvPr>
          <p:cNvSpPr/>
          <p:nvPr/>
        </p:nvSpPr>
        <p:spPr>
          <a:xfrm>
            <a:off x="5001665" y="3241888"/>
            <a:ext cx="778824" cy="251532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6" name="모서리가 둥근 직사각형 3">
            <a:extLst>
              <a:ext uri="{FF2B5EF4-FFF2-40B4-BE49-F238E27FC236}">
                <a16:creationId xmlns:a16="http://schemas.microsoft.com/office/drawing/2014/main" id="{C411E436-4EBC-74CA-8870-9959BEE5C43E}"/>
              </a:ext>
            </a:extLst>
          </p:cNvPr>
          <p:cNvSpPr/>
          <p:nvPr/>
        </p:nvSpPr>
        <p:spPr>
          <a:xfrm>
            <a:off x="4995800" y="4144210"/>
            <a:ext cx="778823" cy="276686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2FDD2-B64B-A96C-15DC-CB6263BBDFC8}"/>
              </a:ext>
            </a:extLst>
          </p:cNvPr>
          <p:cNvSpPr txBox="1"/>
          <p:nvPr/>
        </p:nvSpPr>
        <p:spPr>
          <a:xfrm>
            <a:off x="5852667" y="3202224"/>
            <a:ext cx="3276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문제집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과거 두 단어를 이용해서 하나의 문장을 만들어줘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en-US" altLang="ko-KR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AACC1-30B1-502C-3D9B-F87F8C750C82}"/>
              </a:ext>
            </a:extLst>
          </p:cNvPr>
          <p:cNvSpPr txBox="1"/>
          <p:nvPr/>
        </p:nvSpPr>
        <p:spPr>
          <a:xfrm>
            <a:off x="5852667" y="4126066"/>
            <a:ext cx="3071997" cy="4633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나는 오늘 수학 문제집을 사러 과거에 다녔던 서점에 갔다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en-US" altLang="ko-KR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24162989-53C3-70AC-758A-0A56AD4259CE}"/>
              </a:ext>
            </a:extLst>
          </p:cNvPr>
          <p:cNvSpPr/>
          <p:nvPr/>
        </p:nvSpPr>
        <p:spPr>
          <a:xfrm>
            <a:off x="4402947" y="3284407"/>
            <a:ext cx="93731" cy="349725"/>
          </a:xfrm>
          <a:custGeom>
            <a:avLst/>
            <a:gdLst>
              <a:gd name="connsiteX0" fmla="*/ 0 w 92279"/>
              <a:gd name="connsiteY0" fmla="*/ 0 h 302004"/>
              <a:gd name="connsiteX1" fmla="*/ 92279 w 92279"/>
              <a:gd name="connsiteY1" fmla="*/ 0 h 302004"/>
              <a:gd name="connsiteX2" fmla="*/ 92279 w 92279"/>
              <a:gd name="connsiteY2" fmla="*/ 302004 h 30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279" h="302004">
                <a:moveTo>
                  <a:pt x="0" y="0"/>
                </a:moveTo>
                <a:lnTo>
                  <a:pt x="92279" y="0"/>
                </a:lnTo>
                <a:lnTo>
                  <a:pt x="92279" y="302004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0" name="모서리가 둥근 직사각형 12">
            <a:extLst>
              <a:ext uri="{FF2B5EF4-FFF2-40B4-BE49-F238E27FC236}">
                <a16:creationId xmlns:a16="http://schemas.microsoft.com/office/drawing/2014/main" id="{398B127F-7372-A7B9-800B-62E4C0D74B18}"/>
              </a:ext>
            </a:extLst>
          </p:cNvPr>
          <p:cNvSpPr/>
          <p:nvPr/>
        </p:nvSpPr>
        <p:spPr>
          <a:xfrm>
            <a:off x="918852" y="5001562"/>
            <a:ext cx="8338276" cy="1380187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0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1" name="모서리가 둥근 직사각형 3">
            <a:extLst>
              <a:ext uri="{FF2B5EF4-FFF2-40B4-BE49-F238E27FC236}">
                <a16:creationId xmlns:a16="http://schemas.microsoft.com/office/drawing/2014/main" id="{6E0FF2D3-6AFA-B834-16DE-3FBC2F5EF8E6}"/>
              </a:ext>
            </a:extLst>
          </p:cNvPr>
          <p:cNvSpPr/>
          <p:nvPr/>
        </p:nvSpPr>
        <p:spPr>
          <a:xfrm>
            <a:off x="1037327" y="5109525"/>
            <a:ext cx="778824" cy="251532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2" name="모서리가 둥근 직사각형 3">
            <a:extLst>
              <a:ext uri="{FF2B5EF4-FFF2-40B4-BE49-F238E27FC236}">
                <a16:creationId xmlns:a16="http://schemas.microsoft.com/office/drawing/2014/main" id="{26FE23B3-2253-D435-3DB4-A701E6011006}"/>
              </a:ext>
            </a:extLst>
          </p:cNvPr>
          <p:cNvSpPr/>
          <p:nvPr/>
        </p:nvSpPr>
        <p:spPr>
          <a:xfrm>
            <a:off x="1031462" y="5913463"/>
            <a:ext cx="778823" cy="276686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21568-8D84-FA47-F14F-58CFDFABFA71}"/>
              </a:ext>
            </a:extLst>
          </p:cNvPr>
          <p:cNvSpPr txBox="1"/>
          <p:nvPr/>
        </p:nvSpPr>
        <p:spPr>
          <a:xfrm>
            <a:off x="1856656" y="5092957"/>
            <a:ext cx="3996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텍스트를 중립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부정 또는 긍정으로 분류합니다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텍스트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휴가는 괜찮을 것 같아요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감정</a:t>
            </a:r>
            <a:r>
              <a:rPr lang="en-US" altLang="ko-KR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ix고딕 M" panose="02020603020101020101" pitchFamily="18" charset="-127"/>
                <a:ea typeface="Rix고딕 M" panose="02020603020101020101" pitchFamily="18" charset="-127"/>
              </a:rPr>
              <a:t>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386A62-CDF7-B393-5A1E-B16535AF4FB7}"/>
              </a:ext>
            </a:extLst>
          </p:cNvPr>
          <p:cNvSpPr txBox="1"/>
          <p:nvPr/>
        </p:nvSpPr>
        <p:spPr>
          <a:xfrm>
            <a:off x="1856656" y="5918416"/>
            <a:ext cx="6264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주어진 텍스트 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"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휴가는 괜찮을 것 같아요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."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는 긍정적인 감정을 나타냅니다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56387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3ECD-66AF-3443-C244-0FA1FA6A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01717-3D00-3F8E-3CF1-65471A25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기술 </a:t>
            </a:r>
            <a:r>
              <a:rPr lang="en-US" altLang="ko-KR" dirty="0"/>
              <a:t>: N-shot</a:t>
            </a:r>
            <a:endParaRPr lang="ko-KR" altLang="en-US" dirty="0"/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6005A321-892E-1898-E5C6-E95534DBAB86}"/>
              </a:ext>
            </a:extLst>
          </p:cNvPr>
          <p:cNvSpPr/>
          <p:nvPr/>
        </p:nvSpPr>
        <p:spPr>
          <a:xfrm>
            <a:off x="918852" y="4786856"/>
            <a:ext cx="8209138" cy="1594894"/>
          </a:xfrm>
          <a:prstGeom prst="roundRect">
            <a:avLst>
              <a:gd name="adj" fmla="val 5817"/>
            </a:avLst>
          </a:prstGeom>
          <a:noFill/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0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21666EEE-4340-11E1-B953-9170972172F1}"/>
              </a:ext>
            </a:extLst>
          </p:cNvPr>
          <p:cNvSpPr/>
          <p:nvPr/>
        </p:nvSpPr>
        <p:spPr>
          <a:xfrm>
            <a:off x="918852" y="3040910"/>
            <a:ext cx="8209139" cy="1448954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0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271D9836-5321-3BBB-B37B-C4A48C00B6A0}"/>
              </a:ext>
            </a:extLst>
          </p:cNvPr>
          <p:cNvSpPr/>
          <p:nvPr/>
        </p:nvSpPr>
        <p:spPr>
          <a:xfrm>
            <a:off x="1134882" y="2052734"/>
            <a:ext cx="7849090" cy="512170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30000"/>
              </a:lnSpc>
            </a:pPr>
            <a:endParaRPr lang="en-US" altLang="ko-KR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-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두 개 이상의 질의응답 예시와 함께 프롬프트를 작성하여 답변을 생성하는 방식으로 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Zero-Shot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기법에 예시를 추가하여 성능을 높이는 기법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  ※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예시는 모두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동일한 답변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이나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동일 패턴을 사용하지 않아야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하며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제공하는 예시에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사용자가 답을 달아줄 수 있어야 함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rgbClr val="C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endParaRPr lang="ko-KR" altLang="en-US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002B2529-4610-ADE5-3AEB-9E1EC0EA7960}"/>
              </a:ext>
            </a:extLst>
          </p:cNvPr>
          <p:cNvSpPr/>
          <p:nvPr/>
        </p:nvSpPr>
        <p:spPr>
          <a:xfrm>
            <a:off x="915710" y="1700808"/>
            <a:ext cx="1012954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개요</a:t>
            </a:r>
            <a:r>
              <a:rPr lang="en-US" altLang="ko-KR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endParaRPr lang="ko-KR" altLang="en-US" sz="1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6D92B6DC-3526-3E15-2B21-312566938157}"/>
              </a:ext>
            </a:extLst>
          </p:cNvPr>
          <p:cNvSpPr/>
          <p:nvPr/>
        </p:nvSpPr>
        <p:spPr>
          <a:xfrm>
            <a:off x="1048772" y="3134141"/>
            <a:ext cx="697057" cy="217210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1" name="모서리가 둥근 직사각형 3">
            <a:extLst>
              <a:ext uri="{FF2B5EF4-FFF2-40B4-BE49-F238E27FC236}">
                <a16:creationId xmlns:a16="http://schemas.microsoft.com/office/drawing/2014/main" id="{9CCA019F-E3FC-C693-706A-543A79417B0A}"/>
              </a:ext>
            </a:extLst>
          </p:cNvPr>
          <p:cNvSpPr/>
          <p:nvPr/>
        </p:nvSpPr>
        <p:spPr>
          <a:xfrm>
            <a:off x="1042997" y="3992327"/>
            <a:ext cx="697056" cy="238931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" name="모서리가 둥근 직사각형 3">
            <a:extLst>
              <a:ext uri="{FF2B5EF4-FFF2-40B4-BE49-F238E27FC236}">
                <a16:creationId xmlns:a16="http://schemas.microsoft.com/office/drawing/2014/main" id="{6EEC830D-1969-01CB-3574-43CEE2365C67}"/>
              </a:ext>
            </a:extLst>
          </p:cNvPr>
          <p:cNvSpPr/>
          <p:nvPr/>
        </p:nvSpPr>
        <p:spPr>
          <a:xfrm>
            <a:off x="915710" y="2759920"/>
            <a:ext cx="1012954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활용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7C0A8-A028-11D6-E27B-CEC8D9CEA78E}"/>
              </a:ext>
            </a:extLst>
          </p:cNvPr>
          <p:cNvSpPr txBox="1"/>
          <p:nvPr/>
        </p:nvSpPr>
        <p:spPr>
          <a:xfrm>
            <a:off x="1784648" y="3119834"/>
            <a:ext cx="2755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정말 멋지네요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! 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긍정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이건 나쁘다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! 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부정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와우 그 영화 정말 </a:t>
            </a:r>
            <a:r>
              <a:rPr lang="ko-KR" altLang="en-US" sz="12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멋졌어요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! 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긍정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정말 끔찍한 쇼였어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! //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7B096-46DE-51B6-AF23-F2D44F7CD2B9}"/>
              </a:ext>
            </a:extLst>
          </p:cNvPr>
          <p:cNvSpPr txBox="1"/>
          <p:nvPr/>
        </p:nvSpPr>
        <p:spPr>
          <a:xfrm>
            <a:off x="1784648" y="3996604"/>
            <a:ext cx="2160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부정</a:t>
            </a:r>
            <a:endParaRPr lang="en-US" altLang="ko-KR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" name="모서리가 둥근 직사각형 3">
            <a:extLst>
              <a:ext uri="{FF2B5EF4-FFF2-40B4-BE49-F238E27FC236}">
                <a16:creationId xmlns:a16="http://schemas.microsoft.com/office/drawing/2014/main" id="{86C2B715-CC08-6983-90FD-B7F71BDAE219}"/>
              </a:ext>
            </a:extLst>
          </p:cNvPr>
          <p:cNvSpPr/>
          <p:nvPr/>
        </p:nvSpPr>
        <p:spPr>
          <a:xfrm>
            <a:off x="4516218" y="3134141"/>
            <a:ext cx="697057" cy="217210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6" name="모서리가 둥근 직사각형 3">
            <a:extLst>
              <a:ext uri="{FF2B5EF4-FFF2-40B4-BE49-F238E27FC236}">
                <a16:creationId xmlns:a16="http://schemas.microsoft.com/office/drawing/2014/main" id="{DE593CAB-9C16-CA7F-831B-10242053C901}"/>
              </a:ext>
            </a:extLst>
          </p:cNvPr>
          <p:cNvSpPr/>
          <p:nvPr/>
        </p:nvSpPr>
        <p:spPr>
          <a:xfrm>
            <a:off x="4510443" y="3992327"/>
            <a:ext cx="697056" cy="238931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8368C2-3271-CBC0-E4A0-85BB3A64407D}"/>
              </a:ext>
            </a:extLst>
          </p:cNvPr>
          <p:cNvSpPr txBox="1"/>
          <p:nvPr/>
        </p:nvSpPr>
        <p:spPr>
          <a:xfrm>
            <a:off x="5260498" y="3119834"/>
            <a:ext cx="2221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바나나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과일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원숭이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동물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고구마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식물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비둘기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A0CEF-7DD6-065B-5FC7-C7D7A76C5E7A}"/>
              </a:ext>
            </a:extLst>
          </p:cNvPr>
          <p:cNvSpPr txBox="1"/>
          <p:nvPr/>
        </p:nvSpPr>
        <p:spPr>
          <a:xfrm>
            <a:off x="5260498" y="3996604"/>
            <a:ext cx="14331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조류</a:t>
            </a:r>
            <a:endParaRPr lang="en-US" altLang="ko-KR" sz="12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5AE39-6F0A-2ACC-F86F-40FB76628485}"/>
              </a:ext>
            </a:extLst>
          </p:cNvPr>
          <p:cNvSpPr txBox="1"/>
          <p:nvPr/>
        </p:nvSpPr>
        <p:spPr>
          <a:xfrm>
            <a:off x="1784648" y="4979629"/>
            <a:ext cx="2160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코끼리 </a:t>
            </a:r>
            <a:r>
              <a:rPr lang="en-US" altLang="ko-KR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동물</a:t>
            </a:r>
          </a:p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강아지 </a:t>
            </a:r>
            <a:r>
              <a:rPr lang="en-US" altLang="ko-KR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동물</a:t>
            </a:r>
          </a:p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고양이 </a:t>
            </a:r>
            <a:r>
              <a:rPr lang="en-US" altLang="ko-KR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// </a:t>
            </a:r>
            <a:r>
              <a:rPr lang="ko-KR" altLang="en-US" sz="120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동물</a:t>
            </a:r>
          </a:p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비둘기 </a:t>
            </a:r>
            <a:r>
              <a:rPr lang="en-US" altLang="ko-KR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//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50A01-0AAC-65B2-4340-AD97A8B01BE9}"/>
              </a:ext>
            </a:extLst>
          </p:cNvPr>
          <p:cNvSpPr txBox="1"/>
          <p:nvPr/>
        </p:nvSpPr>
        <p:spPr>
          <a:xfrm>
            <a:off x="1784648" y="5953772"/>
            <a:ext cx="2160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동물</a:t>
            </a:r>
            <a:endParaRPr lang="en-US" altLang="ko-KR" sz="1200"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1" name="모서리가 둥근 직사각형 3">
            <a:extLst>
              <a:ext uri="{FF2B5EF4-FFF2-40B4-BE49-F238E27FC236}">
                <a16:creationId xmlns:a16="http://schemas.microsoft.com/office/drawing/2014/main" id="{45DFC084-0B69-B153-FF4B-357F79523821}"/>
              </a:ext>
            </a:extLst>
          </p:cNvPr>
          <p:cNvSpPr/>
          <p:nvPr/>
        </p:nvSpPr>
        <p:spPr>
          <a:xfrm>
            <a:off x="1098273" y="4997778"/>
            <a:ext cx="697057" cy="217210"/>
          </a:xfrm>
          <a:prstGeom prst="roundRect">
            <a:avLst>
              <a:gd name="adj" fmla="val 28317"/>
            </a:avLst>
          </a:prstGeom>
          <a:solidFill>
            <a:srgbClr val="2740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2" name="모서리가 둥근 직사각형 3">
            <a:extLst>
              <a:ext uri="{FF2B5EF4-FFF2-40B4-BE49-F238E27FC236}">
                <a16:creationId xmlns:a16="http://schemas.microsoft.com/office/drawing/2014/main" id="{DDA33CF4-A797-BC2E-2881-A4490ED89213}"/>
              </a:ext>
            </a:extLst>
          </p:cNvPr>
          <p:cNvSpPr/>
          <p:nvPr/>
        </p:nvSpPr>
        <p:spPr>
          <a:xfrm>
            <a:off x="1092498" y="5953337"/>
            <a:ext cx="697056" cy="238931"/>
          </a:xfrm>
          <a:prstGeom prst="roundRect">
            <a:avLst>
              <a:gd name="adj" fmla="val 28317"/>
            </a:avLst>
          </a:prstGeom>
          <a:solidFill>
            <a:srgbClr val="2740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3" name="모서리가 둥근 직사각형 3">
            <a:extLst>
              <a:ext uri="{FF2B5EF4-FFF2-40B4-BE49-F238E27FC236}">
                <a16:creationId xmlns:a16="http://schemas.microsoft.com/office/drawing/2014/main" id="{F02029A3-061D-2108-4B9A-93FC472D37F6}"/>
              </a:ext>
            </a:extLst>
          </p:cNvPr>
          <p:cNvSpPr/>
          <p:nvPr/>
        </p:nvSpPr>
        <p:spPr>
          <a:xfrm>
            <a:off x="4598399" y="4997778"/>
            <a:ext cx="697057" cy="217210"/>
          </a:xfrm>
          <a:prstGeom prst="roundRect">
            <a:avLst>
              <a:gd name="adj" fmla="val 28317"/>
            </a:avLst>
          </a:prstGeom>
          <a:solidFill>
            <a:srgbClr val="2740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4" name="모서리가 둥근 직사각형 3">
            <a:extLst>
              <a:ext uri="{FF2B5EF4-FFF2-40B4-BE49-F238E27FC236}">
                <a16:creationId xmlns:a16="http://schemas.microsoft.com/office/drawing/2014/main" id="{A01DA54E-4AE1-D78A-B7D5-2DF9A5693CC9}"/>
              </a:ext>
            </a:extLst>
          </p:cNvPr>
          <p:cNvSpPr/>
          <p:nvPr/>
        </p:nvSpPr>
        <p:spPr>
          <a:xfrm>
            <a:off x="4592624" y="6033417"/>
            <a:ext cx="697056" cy="238931"/>
          </a:xfrm>
          <a:prstGeom prst="roundRect">
            <a:avLst>
              <a:gd name="adj" fmla="val 28317"/>
            </a:avLst>
          </a:prstGeom>
          <a:solidFill>
            <a:srgbClr val="2740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91140D-AD8E-2089-1A10-F71C254BCE9C}"/>
              </a:ext>
            </a:extLst>
          </p:cNvPr>
          <p:cNvSpPr txBox="1"/>
          <p:nvPr/>
        </p:nvSpPr>
        <p:spPr>
          <a:xfrm>
            <a:off x="5341294" y="6049905"/>
            <a:ext cx="14331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연필</a:t>
            </a:r>
            <a:endParaRPr lang="en-US" altLang="ko-KR" sz="1200" dirty="0"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A40863-C512-7071-656B-19815A625A5A}"/>
              </a:ext>
            </a:extLst>
          </p:cNvPr>
          <p:cNvSpPr txBox="1"/>
          <p:nvPr/>
        </p:nvSpPr>
        <p:spPr>
          <a:xfrm>
            <a:off x="5358072" y="4964975"/>
            <a:ext cx="29072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쥐와 </a:t>
            </a:r>
            <a:r>
              <a:rPr lang="ko-KR" altLang="en-US" sz="1200" dirty="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코끼리</a:t>
            </a:r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중 무거운 것은</a:t>
            </a:r>
            <a:r>
              <a:rPr lang="en-US" altLang="ko-KR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?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코끼리</a:t>
            </a:r>
            <a:br>
              <a:rPr lang="en-US" altLang="ko-KR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쥐와 </a:t>
            </a:r>
            <a:r>
              <a:rPr lang="ko-KR" altLang="en-US" sz="1200" dirty="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토스터기</a:t>
            </a:r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중 무거운 것은</a:t>
            </a:r>
            <a:r>
              <a:rPr lang="en-US" altLang="ko-KR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?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토스터기</a:t>
            </a:r>
            <a:endParaRPr lang="en-US" altLang="ko-KR" sz="1200" dirty="0"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토스터기와 </a:t>
            </a:r>
            <a:r>
              <a:rPr lang="ko-KR" altLang="en-US" sz="1200" dirty="0"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연필</a:t>
            </a:r>
            <a:r>
              <a:rPr lang="ko-KR" altLang="en-US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중 무거운 것은</a:t>
            </a:r>
            <a:r>
              <a:rPr lang="en-US" altLang="ko-KR" sz="12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?</a:t>
            </a:r>
          </a:p>
        </p:txBody>
      </p:sp>
      <p:sp>
        <p:nvSpPr>
          <p:cNvPr id="27" name="모서리가 둥근 직사각형 3">
            <a:extLst>
              <a:ext uri="{FF2B5EF4-FFF2-40B4-BE49-F238E27FC236}">
                <a16:creationId xmlns:a16="http://schemas.microsoft.com/office/drawing/2014/main" id="{934B476E-BCB6-D3D3-A17C-3B04152DB199}"/>
              </a:ext>
            </a:extLst>
          </p:cNvPr>
          <p:cNvSpPr/>
          <p:nvPr/>
        </p:nvSpPr>
        <p:spPr>
          <a:xfrm>
            <a:off x="1052278" y="4675707"/>
            <a:ext cx="1308434" cy="243888"/>
          </a:xfrm>
          <a:prstGeom prst="roundRect">
            <a:avLst>
              <a:gd name="adj" fmla="val 28317"/>
            </a:avLst>
          </a:prstGeom>
          <a:solidFill>
            <a:srgbClr val="274073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잘못된 예시</a:t>
            </a:r>
          </a:p>
        </p:txBody>
      </p:sp>
    </p:spTree>
    <p:extLst>
      <p:ext uri="{BB962C8B-B14F-4D97-AF65-F5344CB8AC3E}">
        <p14:creationId xmlns:p14="http://schemas.microsoft.com/office/powerpoint/2010/main" val="88608160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D6850-3F66-EA86-B3C8-C346EBE4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기술 </a:t>
            </a:r>
            <a:r>
              <a:rPr lang="en-US" altLang="ko-KR" dirty="0"/>
              <a:t>: Chain-of-Thought(</a:t>
            </a:r>
            <a:r>
              <a:rPr lang="en-US" altLang="ko-KR" dirty="0" err="1"/>
              <a:t>CoT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053D59B-0384-728D-4A51-F5CBC75E4B0E}"/>
              </a:ext>
            </a:extLst>
          </p:cNvPr>
          <p:cNvSpPr/>
          <p:nvPr/>
        </p:nvSpPr>
        <p:spPr>
          <a:xfrm>
            <a:off x="1134882" y="2084498"/>
            <a:ext cx="7849090" cy="512170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30000"/>
              </a:lnSpc>
            </a:pPr>
            <a:endParaRPr lang="en-US" altLang="ko-KR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-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답변에 도달하는 과정을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rgbClr val="C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단계별로 추론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하는 질의응답을 예시로 프롬프트를 입력하여 질문에 대한 답변을 생성하는 방식 </a:t>
            </a:r>
            <a:endParaRPr lang="en-US" altLang="ko-KR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- </a:t>
            </a:r>
            <a:r>
              <a:rPr lang="ko-KR" altLang="en-US" sz="1200" dirty="0" err="1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제로샷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기법에 생각의 사슬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(</a:t>
            </a:r>
            <a:r>
              <a:rPr lang="en-US" altLang="ko-KR" sz="1200" dirty="0" err="1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CoT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)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을 결합한 내용으로 프롬프트에 ‘추론‘ 문구를 추가하는 것이 핵심 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  ※ </a:t>
            </a:r>
            <a:r>
              <a:rPr lang="ko-KR" altLang="en-US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추론의 과정을 예시로 활용하여 단순 예시 반복의 효과를 낼 수 있음</a:t>
            </a:r>
            <a:r>
              <a:rPr lang="en-US" altLang="ko-KR" sz="1200" dirty="0">
                <a:ln w="6350" cmpd="sng">
                  <a:solidFill>
                    <a:srgbClr val="00AEEF">
                      <a:alpha val="0"/>
                    </a:srgbClr>
                  </a:solidFill>
                  <a:prstDash val="solid"/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endParaRPr lang="ko-KR" altLang="en-US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30000"/>
              </a:lnSpc>
            </a:pPr>
            <a:endParaRPr lang="ko-KR" altLang="en-US" sz="1200" dirty="0">
              <a:ln w="6350" cmpd="sng">
                <a:solidFill>
                  <a:srgbClr val="00AEEF">
                    <a:alpha val="0"/>
                  </a:srgbClr>
                </a:solidFill>
                <a:prstDash val="solid"/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5" name="모서리가 둥근 직사각형 3">
            <a:extLst>
              <a:ext uri="{FF2B5EF4-FFF2-40B4-BE49-F238E27FC236}">
                <a16:creationId xmlns:a16="http://schemas.microsoft.com/office/drawing/2014/main" id="{D966B3A3-0074-14E8-0D3E-1D26040C341E}"/>
              </a:ext>
            </a:extLst>
          </p:cNvPr>
          <p:cNvSpPr/>
          <p:nvPr/>
        </p:nvSpPr>
        <p:spPr>
          <a:xfrm>
            <a:off x="992560" y="1700808"/>
            <a:ext cx="1114249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개요</a:t>
            </a:r>
            <a:r>
              <a:rPr lang="en-US" altLang="ko-KR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endParaRPr lang="ko-KR" altLang="en-US" sz="1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6" name="모서리가 둥근 직사각형 3">
            <a:extLst>
              <a:ext uri="{FF2B5EF4-FFF2-40B4-BE49-F238E27FC236}">
                <a16:creationId xmlns:a16="http://schemas.microsoft.com/office/drawing/2014/main" id="{FA62261A-9CF4-BD22-26AE-96DFD2042C32}"/>
              </a:ext>
            </a:extLst>
          </p:cNvPr>
          <p:cNvSpPr/>
          <p:nvPr/>
        </p:nvSpPr>
        <p:spPr>
          <a:xfrm>
            <a:off x="992560" y="2772657"/>
            <a:ext cx="1114249" cy="243888"/>
          </a:xfrm>
          <a:prstGeom prst="roundRect">
            <a:avLst>
              <a:gd name="adj" fmla="val 2831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활용 예시</a:t>
            </a:r>
          </a:p>
        </p:txBody>
      </p:sp>
      <p:sp>
        <p:nvSpPr>
          <p:cNvPr id="7" name="모서리가 둥근 직사각형 12">
            <a:extLst>
              <a:ext uri="{FF2B5EF4-FFF2-40B4-BE49-F238E27FC236}">
                <a16:creationId xmlns:a16="http://schemas.microsoft.com/office/drawing/2014/main" id="{8E9E9CD8-C239-F42A-7570-F3553A158A85}"/>
              </a:ext>
            </a:extLst>
          </p:cNvPr>
          <p:cNvSpPr/>
          <p:nvPr/>
        </p:nvSpPr>
        <p:spPr>
          <a:xfrm>
            <a:off x="918852" y="3068950"/>
            <a:ext cx="8209139" cy="1296154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2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BC3B01DD-CE88-1AB8-E74C-616375D1C4B5}"/>
              </a:ext>
            </a:extLst>
          </p:cNvPr>
          <p:cNvSpPr/>
          <p:nvPr/>
        </p:nvSpPr>
        <p:spPr>
          <a:xfrm>
            <a:off x="1038683" y="3146365"/>
            <a:ext cx="766763" cy="232879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1800B-6DFF-42F5-22C1-E16E5AEA3AE7}"/>
              </a:ext>
            </a:extLst>
          </p:cNvPr>
          <p:cNvSpPr txBox="1"/>
          <p:nvPr/>
        </p:nvSpPr>
        <p:spPr>
          <a:xfrm>
            <a:off x="1788478" y="3139892"/>
            <a:ext cx="69078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 그룹의 홀수의 합은 짝수야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4, 8, 9, 15, 12, 2, 1</a:t>
            </a:r>
          </a:p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A: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정답은 거짓이야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→ 홀수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(9, 15, 1)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를 모두 더하면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가 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정답은 거짓이야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 그룹의 홀수의 합은 짝수야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15, 32, 5, 13, 82, 7, 1</a:t>
            </a:r>
          </a:p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A:</a:t>
            </a: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F57F262E-3966-1107-FF0E-672FFE8CFE97}"/>
              </a:ext>
            </a:extLst>
          </p:cNvPr>
          <p:cNvSpPr/>
          <p:nvPr/>
        </p:nvSpPr>
        <p:spPr>
          <a:xfrm>
            <a:off x="1032908" y="3990228"/>
            <a:ext cx="766762" cy="256165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F2CEC-52C2-5EF6-8B2B-0462294FA7DC}"/>
              </a:ext>
            </a:extLst>
          </p:cNvPr>
          <p:cNvSpPr txBox="1"/>
          <p:nvPr/>
        </p:nvSpPr>
        <p:spPr>
          <a:xfrm>
            <a:off x="1788478" y="4016097"/>
            <a:ext cx="5439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답은 거짓이야 → 홀수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(15, 5, 13, 7, 1)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를 모두 더하면 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41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이 돼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>
                <a:latin typeface="Rix고딕 M" panose="02020603020101020101" pitchFamily="18" charset="-127"/>
                <a:ea typeface="Rix고딕 M" panose="02020603020101020101" pitchFamily="18" charset="-127"/>
              </a:rPr>
              <a:t>답은 거짓이야</a:t>
            </a:r>
            <a:r>
              <a:rPr lang="en-US" altLang="ko-KR" sz="120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  <p:sp>
        <p:nvSpPr>
          <p:cNvPr id="12" name="모서리가 둥근 직사각형 12">
            <a:extLst>
              <a:ext uri="{FF2B5EF4-FFF2-40B4-BE49-F238E27FC236}">
                <a16:creationId xmlns:a16="http://schemas.microsoft.com/office/drawing/2014/main" id="{D4BC8704-5CCC-F164-5A11-697054ECD9F5}"/>
              </a:ext>
            </a:extLst>
          </p:cNvPr>
          <p:cNvSpPr/>
          <p:nvPr/>
        </p:nvSpPr>
        <p:spPr>
          <a:xfrm>
            <a:off x="918852" y="4450353"/>
            <a:ext cx="8209139" cy="1980215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2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3" name="모서리가 둥근 직사각형 3">
            <a:extLst>
              <a:ext uri="{FF2B5EF4-FFF2-40B4-BE49-F238E27FC236}">
                <a16:creationId xmlns:a16="http://schemas.microsoft.com/office/drawing/2014/main" id="{F234EDDC-4A6B-6C35-4C5E-1EADB446EF88}"/>
              </a:ext>
            </a:extLst>
          </p:cNvPr>
          <p:cNvSpPr/>
          <p:nvPr/>
        </p:nvSpPr>
        <p:spPr>
          <a:xfrm>
            <a:off x="1038683" y="4552433"/>
            <a:ext cx="766763" cy="232879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4" name="모서리가 둥근 직사각형 3">
            <a:extLst>
              <a:ext uri="{FF2B5EF4-FFF2-40B4-BE49-F238E27FC236}">
                <a16:creationId xmlns:a16="http://schemas.microsoft.com/office/drawing/2014/main" id="{B6540E46-BD27-8F0A-AA23-E555C6155740}"/>
              </a:ext>
            </a:extLst>
          </p:cNvPr>
          <p:cNvSpPr/>
          <p:nvPr/>
        </p:nvSpPr>
        <p:spPr>
          <a:xfrm>
            <a:off x="1032908" y="5705383"/>
            <a:ext cx="766762" cy="256165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261B1-E0BA-7285-FB21-947ADDF896DC}"/>
              </a:ext>
            </a:extLst>
          </p:cNvPr>
          <p:cNvSpPr txBox="1"/>
          <p:nvPr/>
        </p:nvSpPr>
        <p:spPr>
          <a:xfrm>
            <a:off x="1788478" y="4545960"/>
            <a:ext cx="7239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Q: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지혜는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달러를 갖고 있어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그녀는 각각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달러에 빵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샀어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지혜에게 남은 돈은 얼마일까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?</a:t>
            </a:r>
          </a:p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A: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지혜는 각각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달러에 빵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샀습니다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이것은 그녀가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5*3=15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달러를 썼다는 것을 의미합니다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Q: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식당에 사과가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 있었습니다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20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사용해 점심을 만들었고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6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더 샀습니다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그 후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먹었다면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사과가 몇 개 남았을까요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?</a:t>
            </a:r>
          </a:p>
          <a:p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A: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DD1058-D21F-B720-4A9F-164198BB208D}"/>
              </a:ext>
            </a:extLst>
          </p:cNvPr>
          <p:cNvSpPr txBox="1"/>
          <p:nvPr/>
        </p:nvSpPr>
        <p:spPr>
          <a:xfrm>
            <a:off x="1788478" y="5731252"/>
            <a:ext cx="7195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식당에 사과가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 있었고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점심을 만들기 위해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20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사용하고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6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더 샀습니다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그 다음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3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개는 먹었습니다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b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사과가 총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23+6-20-3=6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 남아 있습니다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답은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6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입니다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740372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DA87A-A84A-5D7C-226D-027347FC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기술 </a:t>
            </a:r>
            <a:r>
              <a:rPr lang="en-US" altLang="ko-KR" dirty="0"/>
              <a:t>: Chain-of-Thought(</a:t>
            </a:r>
            <a:r>
              <a:rPr lang="en-US" altLang="ko-KR" dirty="0" err="1"/>
              <a:t>CoT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C9C08017-E0CF-7B35-1D74-3CCA9FF9873D}"/>
              </a:ext>
            </a:extLst>
          </p:cNvPr>
          <p:cNvSpPr/>
          <p:nvPr/>
        </p:nvSpPr>
        <p:spPr>
          <a:xfrm>
            <a:off x="918852" y="1844824"/>
            <a:ext cx="8209139" cy="2520290"/>
          </a:xfrm>
          <a:prstGeom prst="roundRect">
            <a:avLst>
              <a:gd name="adj" fmla="val 5817"/>
            </a:avLst>
          </a:prstGeom>
          <a:solidFill>
            <a:srgbClr val="27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0" bIns="0" rtlCol="0" anchor="ctr"/>
          <a:lstStyle/>
          <a:p>
            <a:endParaRPr lang="en-US" altLang="ko-KR" sz="12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37054837-9C84-E260-AF5D-1D978B11D196}"/>
              </a:ext>
            </a:extLst>
          </p:cNvPr>
          <p:cNvSpPr/>
          <p:nvPr/>
        </p:nvSpPr>
        <p:spPr>
          <a:xfrm>
            <a:off x="1214359" y="1968000"/>
            <a:ext cx="843439" cy="262824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Prompt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9" name="모서리가 둥근 직사각형 3">
            <a:extLst>
              <a:ext uri="{FF2B5EF4-FFF2-40B4-BE49-F238E27FC236}">
                <a16:creationId xmlns:a16="http://schemas.microsoft.com/office/drawing/2014/main" id="{39A098CB-2510-E0FC-5F46-37AE00C3A6A0}"/>
              </a:ext>
            </a:extLst>
          </p:cNvPr>
          <p:cNvSpPr/>
          <p:nvPr/>
        </p:nvSpPr>
        <p:spPr>
          <a:xfrm>
            <a:off x="1208584" y="3120648"/>
            <a:ext cx="843438" cy="289106"/>
          </a:xfrm>
          <a:prstGeom prst="roundRect">
            <a:avLst>
              <a:gd name="adj" fmla="val 28317"/>
            </a:avLst>
          </a:prstGeom>
          <a:solidFill>
            <a:schemeClr val="bg1"/>
          </a:solidFill>
          <a:ln>
            <a:solidFill>
              <a:srgbClr val="274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Output</a:t>
            </a:r>
            <a:endParaRPr lang="ko-KR" alt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9A5B0-2073-9721-C054-4E3E62F5972D}"/>
              </a:ext>
            </a:extLst>
          </p:cNvPr>
          <p:cNvSpPr txBox="1"/>
          <p:nvPr/>
        </p:nvSpPr>
        <p:spPr>
          <a:xfrm>
            <a:off x="2144689" y="1976500"/>
            <a:ext cx="69833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나는 시장에 가서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10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샀어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b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나는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이웃에게 주고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2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수리공에게 주었어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b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그리고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더 사서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개는 내가 먹었어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 </a:t>
            </a:r>
            <a:b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사과가 몇 개나 </a:t>
            </a:r>
            <a:r>
              <a:rPr lang="ko-KR" altLang="en-US" sz="12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남았니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?</a:t>
            </a:r>
          </a:p>
          <a:p>
            <a:r>
              <a:rPr lang="ko-KR" altLang="en-US" sz="1200" dirty="0">
                <a:solidFill>
                  <a:schemeClr val="accent3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단계별로 생각해 보자</a:t>
            </a:r>
            <a:r>
              <a:rPr lang="en-US" altLang="ko-KR" sz="1200" dirty="0">
                <a:solidFill>
                  <a:schemeClr val="accent3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.(Let’s think step by step)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3ECF2-11C5-E13C-9BA8-7B3B2613AA77}"/>
              </a:ext>
            </a:extLst>
          </p:cNvPr>
          <p:cNvSpPr txBox="1"/>
          <p:nvPr/>
        </p:nvSpPr>
        <p:spPr>
          <a:xfrm>
            <a:off x="2147954" y="3120648"/>
            <a:ext cx="43172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엘리스 DX널리체  Light" panose="020B0600000101010101" pitchFamily="50" charset="-127"/>
                <a:ea typeface="엘리스 DX널리체  Light" panose="020B0600000101010101" pitchFamily="50" charset="-127"/>
              </a:defRPr>
            </a:lvl1pPr>
          </a:lstStyle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먼저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10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개로 </a:t>
            </a:r>
            <a:r>
              <a:rPr lang="ko-KR" altLang="en-US" sz="12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시작했어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이웃에게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수리공에게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나누어 주었으므로 </a:t>
            </a:r>
            <a:b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사과가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6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개가 남았어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그런 다음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5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더 사서 이제 사과가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11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개가 되었어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마지막으로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개를 먹었으므로 사과 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10</a:t>
            </a:r>
            <a:r>
              <a:rPr lang="ko-KR" altLang="en-US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개가 남게 돼</a:t>
            </a:r>
            <a:r>
              <a:rPr lang="en-US" altLang="ko-KR" sz="12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6996364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1CC28-8211-2FD9-5AE4-AC80A054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기술 </a:t>
            </a:r>
            <a:r>
              <a:rPr lang="en-US" altLang="ko-KR" dirty="0"/>
              <a:t>: </a:t>
            </a:r>
            <a:r>
              <a:rPr lang="ko-KR" altLang="en-US" dirty="0"/>
              <a:t>그 밖의 기술들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F07F064-43FE-B6C5-63D4-DFFDB6D2C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65940"/>
              </p:ext>
            </p:extLst>
          </p:nvPr>
        </p:nvGraphicFramePr>
        <p:xfrm>
          <a:off x="780528" y="1628774"/>
          <a:ext cx="8564960" cy="4752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49">
                  <a:extLst>
                    <a:ext uri="{9D8B030D-6E8A-4147-A177-3AD203B41FA5}">
                      <a16:colId xmlns:a16="http://schemas.microsoft.com/office/drawing/2014/main" val="1285768559"/>
                    </a:ext>
                  </a:extLst>
                </a:gridCol>
                <a:gridCol w="7073011">
                  <a:extLst>
                    <a:ext uri="{9D8B030D-6E8A-4147-A177-3AD203B41FA5}">
                      <a16:colId xmlns:a16="http://schemas.microsoft.com/office/drawing/2014/main" val="3805301790"/>
                    </a:ext>
                  </a:extLst>
                </a:gridCol>
              </a:tblGrid>
              <a:tr h="3091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기술 명칭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프롬프트 엔지니어링의 중요성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666162"/>
                  </a:ext>
                </a:extLst>
              </a:tr>
              <a:tr h="260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Self-Consistency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다양한 유형의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CoT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예시를 포함한 프롬프트를 동일하게 반복하여 가장 자주 등장한 답변을 선택하는 방식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26962"/>
                  </a:ext>
                </a:extLst>
              </a:tr>
              <a:tr h="830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Generated Knowledge Prompting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얻고자 하는 답변을 생성하기 위해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먼저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모델에 간단한 프롬프트를 통한 답변을 생성하고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이를 추가정보로 활용하여 다음 프롬프트를 생성하는 방식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얻고자 하는 답변을 위한 추가정보에도 모델을 사용하는 방식으로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사용자가 직접 예시를 준비할 필요가 없음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37410"/>
                  </a:ext>
                </a:extLst>
              </a:tr>
              <a:tr h="630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Prompt Chaining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최종적으로 얻고자 하는 답변을 위해 프롬프트를 여러 단계의 하위 프롬프트로 분할하여 순차적으로 수행하는 방법</a:t>
                      </a:r>
                      <a:b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더 나은 성능을 달성하는 것 외에도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모델의 투명성과 제어 가능성 및 안정성을 높이는 데 많은 도움이 되는 기법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단계별 프롬프트를 통해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체이닝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연쇄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을 이어가기 때문에 모델 응답의 문제를 쉽게 디버깅하고 단계별 성능분석 및 개선이 가능함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194764"/>
                  </a:ext>
                </a:extLst>
              </a:tr>
              <a:tr h="830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Tree of Thoughts (</a:t>
                      </a:r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ToT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CoT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생각의 사슬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기법을 일반화한 기법으로 원하는 답을 얻기 위한 프롬프트를 나무와 같은 구조로 스스로 단계별 자가평가를 통해 선택하는 방식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※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CoT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기법의 가장 큰 단점인 프롬프트를 통한 답변에 대해 중간 회귀가 불가능하다는 점을 단계별 일반화를 통해 백트래킹이 가능하도록 구성하는 방식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.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510421"/>
                  </a:ext>
                </a:extLst>
              </a:tr>
              <a:tr h="83097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Active Prompt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모델이 </a:t>
                      </a:r>
                      <a:r>
                        <a:rPr lang="ko-KR" altLang="en-US" sz="1000" b="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가장 </a:t>
                      </a:r>
                      <a:r>
                        <a:rPr lang="ko-KR" altLang="en-US" sz="1000" b="0" dirty="0" err="1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불확실해하는</a:t>
                      </a:r>
                      <a:r>
                        <a:rPr lang="ko-KR" altLang="en-US" sz="1000" b="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 질문을 선별하고</a:t>
                      </a:r>
                      <a:r>
                        <a:rPr lang="en-US" altLang="ko-KR" sz="1000" b="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그 질문에 대해 사람이 직접 예시</a:t>
                      </a:r>
                      <a:r>
                        <a:rPr lang="en-US" altLang="ko-KR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(</a:t>
                      </a:r>
                      <a:r>
                        <a:rPr lang="en-US" altLang="ko-KR" sz="1000" dirty="0" err="1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CoT</a:t>
                      </a:r>
                      <a:r>
                        <a:rPr lang="en-US" altLang="ko-KR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 reasoning </a:t>
                      </a:r>
                      <a:r>
                        <a:rPr lang="ko-KR" altLang="en-US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포함</a:t>
                      </a:r>
                      <a:r>
                        <a:rPr lang="en-US" altLang="ko-KR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</a:t>
                      </a:r>
                      <a:r>
                        <a:rPr lang="ko-KR" altLang="en-US" sz="1000" dirty="0"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를 만들어 모델의 학습에 활용하는 방식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algn="l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CoT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생각의 사슬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기법은 예시로 사용한 특정 상황의 모음 프롬프트에 따라 답변이 달라지는데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이를 해결하기 위한 방법으로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Active-Prompt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방법을 활용함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218246"/>
                  </a:ext>
                </a:extLst>
              </a:tr>
              <a:tr h="63025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Program-Aided Language Models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자연어 형태의 프롬프트와 프로그래밍 언어를 활용하여 프롬프트를 작성하는 방법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복잡한 문제를 해결할 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모델이 직접 계산하거나 논리적 추론을 하지 않고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**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코드를 생성해서 외부 프로그램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: Python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인터프리터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)**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에 실행을 맡기는 구조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465403"/>
                  </a:ext>
                </a:extLst>
              </a:tr>
              <a:tr h="4295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ReAct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프롬프트를 통한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의 성능을 끌어올리기 위한 예시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추론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행동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지시 등 원천적으로 통합하여 ‘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추론’과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 ‘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행동’을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Rix고딕 M" panose="02020603020101020101" pitchFamily="18" charset="-127"/>
                          <a:ea typeface="Rix고딕 M" panose="02020603020101020101" pitchFamily="18" charset="-127"/>
                        </a:rPr>
                        <a:t> 결합하여 프롬프트를 하는 방법</a:t>
                      </a:r>
                    </a:p>
                  </a:txBody>
                  <a:tcPr marL="17625" marR="17625" marT="10664" marB="10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207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84291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367B-6345-E8D1-0C9B-2E53F91F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85F3F-164C-9772-ADFC-A396923D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엔지니어링 기술 </a:t>
            </a:r>
            <a:r>
              <a:rPr lang="en-US" altLang="ko-KR" dirty="0"/>
              <a:t>: </a:t>
            </a:r>
            <a:r>
              <a:rPr lang="ko-KR" altLang="en-US" dirty="0"/>
              <a:t>원칙과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02EB7-62B6-5B70-F512-BD54A5A1CDE4}"/>
              </a:ext>
            </a:extLst>
          </p:cNvPr>
          <p:cNvSpPr txBox="1"/>
          <p:nvPr/>
        </p:nvSpPr>
        <p:spPr>
          <a:xfrm>
            <a:off x="3080792" y="1647243"/>
            <a:ext cx="6449836" cy="26458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원칙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1 : 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명확하고 구체적인 지침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구분 기호를 사용하여 입력의 개별 부분을 명확하게 표시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구조화된 출력형식 요청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3.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조건이 만족되는지 확인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4. “N-shot”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프롬프팅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원칙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2 : 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모델에게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"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생각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"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할 시간을 주세요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작업을 완료하는 데 필요한 단계 지정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성급하게 결론을 내리기 전에 모델에게 자체 솔루션을 마련하도록 지시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9E074-8507-1F2F-F2A6-D5263C67DBCB}"/>
              </a:ext>
            </a:extLst>
          </p:cNvPr>
          <p:cNvSpPr txBox="1"/>
          <p:nvPr/>
        </p:nvSpPr>
        <p:spPr>
          <a:xfrm>
            <a:off x="3080791" y="4381806"/>
            <a:ext cx="6264822" cy="199952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추가 전략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 :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단계적 생각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COT(Chain-of-Thought) :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다단계 문제에 대한 최종 답변을 제공하기 전에 중간 추론 단계를 생성합니다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생성된 지식 프롬프트 사용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AI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에게 주어진 질문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프롬프트에 대해 잠재적으로 유용한 정보를 생성하도록 요청한 다음 제공된 지식을 최종 질문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 생성을 위한 추가 입력으로 활용하는 것입니다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19316151-FF4A-C112-8773-8089DD0C6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2658774"/>
            <a:ext cx="1920648" cy="154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2225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4740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데이타솔루션 강의교재 템플릿">
  <a:themeElements>
    <a:clrScheme name="20181213 정부설명회">
      <a:dk1>
        <a:sysClr val="windowText" lastClr="000000"/>
      </a:dk1>
      <a:lt1>
        <a:sysClr val="window" lastClr="FFFFFF"/>
      </a:lt1>
      <a:dk2>
        <a:srgbClr val="4897C9"/>
      </a:dk2>
      <a:lt2>
        <a:srgbClr val="184478"/>
      </a:lt2>
      <a:accent1>
        <a:srgbClr val="FAE87E"/>
      </a:accent1>
      <a:accent2>
        <a:srgbClr val="0E69AA"/>
      </a:accent2>
      <a:accent3>
        <a:srgbClr val="7F7F7F"/>
      </a:accent3>
      <a:accent4>
        <a:srgbClr val="5F83BD"/>
      </a:accent4>
      <a:accent5>
        <a:srgbClr val="EF413D"/>
      </a:accent5>
      <a:accent6>
        <a:srgbClr val="28985B"/>
      </a:accent6>
      <a:hlink>
        <a:srgbClr val="0000FF"/>
      </a:hlink>
      <a:folHlink>
        <a:srgbClr val="800080"/>
      </a:folHlink>
    </a:clrScheme>
    <a:fontScheme name="발표장표">
      <a:majorFont>
        <a:latin typeface="Rix고딕 EB"/>
        <a:ea typeface="Rix고딕 EB"/>
        <a:cs typeface=""/>
      </a:majorFont>
      <a:minorFont>
        <a:latin typeface="Rix고딕 B"/>
        <a:ea typeface="Rix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ee6bc1-0cc9-4e46-8ad1-06966e0af576" xsi:nil="true"/>
    <lcf76f155ced4ddcb4097134ff3c332f xmlns="382c30e0-7576-4e95-a177-a5c3bb3c843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66AEC0CE2B0649A4DC52DFA1A6E776" ma:contentTypeVersion="14" ma:contentTypeDescription="새 문서를 만듭니다." ma:contentTypeScope="" ma:versionID="d5fadfcdb36d6a12fa0ac89bc39230ff">
  <xsd:schema xmlns:xsd="http://www.w3.org/2001/XMLSchema" xmlns:xs="http://www.w3.org/2001/XMLSchema" xmlns:p="http://schemas.microsoft.com/office/2006/metadata/properties" xmlns:ns2="382c30e0-7576-4e95-a177-a5c3bb3c843c" xmlns:ns3="93ee6bc1-0cc9-4e46-8ad1-06966e0af576" targetNamespace="http://schemas.microsoft.com/office/2006/metadata/properties" ma:root="true" ma:fieldsID="b8de1353a943f69c8e297ce92e8a3196" ns2:_="" ns3:_="">
    <xsd:import namespace="382c30e0-7576-4e95-a177-a5c3bb3c843c"/>
    <xsd:import namespace="93ee6bc1-0cc9-4e46-8ad1-06966e0af5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c30e0-7576-4e95-a177-a5c3bb3c8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90dc74e-6eb3-46f1-ade9-58df10c7b2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e6bc1-0cc9-4e46-8ad1-06966e0af5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04ae34-c886-4f54-b29a-e1595417945d}" ma:internalName="TaxCatchAll" ma:showField="CatchAllData" ma:web="93ee6bc1-0cc9-4e46-8ad1-06966e0af5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2207B-34DA-4F52-9FFA-D5287B7B17AC}">
  <ds:schemaRefs>
    <ds:schemaRef ds:uri="http://schemas.microsoft.com/office/2006/metadata/properties"/>
    <ds:schemaRef ds:uri="http://schemas.microsoft.com/office/infopath/2007/PartnerControls"/>
    <ds:schemaRef ds:uri="93ee6bc1-0cc9-4e46-8ad1-06966e0af576"/>
    <ds:schemaRef ds:uri="382c30e0-7576-4e95-a177-a5c3bb3c843c"/>
  </ds:schemaRefs>
</ds:datastoreItem>
</file>

<file path=customXml/itemProps2.xml><?xml version="1.0" encoding="utf-8"?>
<ds:datastoreItem xmlns:ds="http://schemas.openxmlformats.org/officeDocument/2006/customXml" ds:itemID="{82A5441F-5E84-4816-A6BB-82806EFAEC5D}"/>
</file>

<file path=customXml/itemProps3.xml><?xml version="1.0" encoding="utf-8"?>
<ds:datastoreItem xmlns:ds="http://schemas.openxmlformats.org/officeDocument/2006/customXml" ds:itemID="{64B5ED37-CF63-4DCB-B9FC-A21D488CA9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13517</TotalTime>
  <Words>2279</Words>
  <Application>Microsoft Office PowerPoint</Application>
  <PresentationFormat>A4 용지(210x297mm)</PresentationFormat>
  <Paragraphs>271</Paragraphs>
  <Slides>16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Rix고딕 M</vt:lpstr>
      <vt:lpstr>Rix고딕 L</vt:lpstr>
      <vt:lpstr>Arial</vt:lpstr>
      <vt:lpstr>Rix고딕 B</vt:lpstr>
      <vt:lpstr>Rix고딕 EB</vt:lpstr>
      <vt:lpstr>G마켓 산스 TTF Bold</vt:lpstr>
      <vt:lpstr>데이타솔루션 강의교재 템플릿</vt:lpstr>
      <vt:lpstr>PowerPoint 프레젠테이션</vt:lpstr>
      <vt:lpstr>프롬프트 엔지니어링(Prompt Engineering)이란?</vt:lpstr>
      <vt:lpstr>프롬프트 엔지니어링(Prompt Engineering)이란?</vt:lpstr>
      <vt:lpstr>프롬프트 엔지니어링의 기본 요소</vt:lpstr>
      <vt:lpstr>프롬프트 엔지니어링의 역할 및 중요성</vt:lpstr>
      <vt:lpstr>프롬프트 엔지니어링의 장점</vt:lpstr>
      <vt:lpstr>프롬프트 엔지니어링의 단점</vt:lpstr>
      <vt:lpstr>LLM을 이용한 프롬프트 엔지니어링</vt:lpstr>
      <vt:lpstr>비즈니스에서 프롬프트 엔지니어링의 이점</vt:lpstr>
      <vt:lpstr>프롬프트 기술 : Zero-shot</vt:lpstr>
      <vt:lpstr>프롬프트 기술 : N-shot</vt:lpstr>
      <vt:lpstr>프롬프트 기술 : Chain-of-Thought(CoT)</vt:lpstr>
      <vt:lpstr>프롬프트 기술 : Chain-of-Thought(CoT)</vt:lpstr>
      <vt:lpstr>프롬프트 기술 : 그 밖의 기술들</vt:lpstr>
      <vt:lpstr>프롬프트 엔지니어링 기술 : 원칙과 전략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DS-17-D9-016</dc:creator>
  <cp:lastModifiedBy>시대 야만의</cp:lastModifiedBy>
  <cp:revision>1053</cp:revision>
  <cp:lastPrinted>2019-01-30T07:32:52Z</cp:lastPrinted>
  <dcterms:created xsi:type="dcterms:W3CDTF">2013-11-05T14:26:13Z</dcterms:created>
  <dcterms:modified xsi:type="dcterms:W3CDTF">2025-12-22T11:22:00Z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0x0101001D66AEC0CE2B0649A4DC52DFA1A6E776</vt:lpwstr>
  </property>
  <property fmtid="{D5CDD505-2E9C-101B-9397-08002B2CF9AE}" pid="3" name="MediaServiceImageTags">
    <vt:lpwstr/>
  </property>
</Properties>
</file>