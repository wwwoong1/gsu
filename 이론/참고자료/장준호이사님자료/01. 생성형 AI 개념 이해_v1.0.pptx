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1207" r:id="rId5"/>
    <p:sldId id="1162" r:id="rId6"/>
    <p:sldId id="1158" r:id="rId7"/>
    <p:sldId id="1200" r:id="rId8"/>
    <p:sldId id="1201" r:id="rId9"/>
    <p:sldId id="1164" r:id="rId10"/>
    <p:sldId id="1191" r:id="rId11"/>
    <p:sldId id="1168" r:id="rId12"/>
    <p:sldId id="1166" r:id="rId13"/>
    <p:sldId id="1165" r:id="rId14"/>
    <p:sldId id="1202" r:id="rId15"/>
    <p:sldId id="1171" r:id="rId16"/>
    <p:sldId id="1203" r:id="rId17"/>
    <p:sldId id="1204" r:id="rId18"/>
    <p:sldId id="1190" r:id="rId19"/>
    <p:sldId id="1177" r:id="rId20"/>
    <p:sldId id="1197" r:id="rId21"/>
    <p:sldId id="1173" r:id="rId22"/>
    <p:sldId id="1174" r:id="rId23"/>
    <p:sldId id="1175" r:id="rId24"/>
    <p:sldId id="1178" r:id="rId25"/>
    <p:sldId id="1172" r:id="rId26"/>
    <p:sldId id="1179" r:id="rId27"/>
    <p:sldId id="1182" r:id="rId28"/>
    <p:sldId id="1183" r:id="rId29"/>
    <p:sldId id="1206" r:id="rId30"/>
    <p:sldId id="1187" r:id="rId31"/>
    <p:sldId id="1186" r:id="rId32"/>
    <p:sldId id="1152" r:id="rId33"/>
  </p:sldIdLst>
  <p:sldSz cx="9906000" cy="6858000" type="A4"/>
  <p:notesSz cx="6797675" cy="9926638"/>
  <p:embeddedFontLst>
    <p:embeddedFont>
      <p:font typeface="HY울릉도B" panose="020B0600000101010101" charset="-127"/>
      <p:regular r:id="rId36"/>
    </p:embeddedFont>
    <p:embeddedFont>
      <p:font typeface="NanumGothic" panose="020D0604000000000000" pitchFamily="50" charset="-127"/>
      <p:regular r:id="rId37"/>
      <p:bold r:id="rId38"/>
    </p:embeddedFont>
    <p:embeddedFont>
      <p:font typeface="G마켓 산스 TTF Bold" panose="02000000000000000000" pitchFamily="2" charset="-127"/>
      <p:bold r:id="rId39"/>
    </p:embeddedFont>
    <p:embeddedFont>
      <p:font typeface="HY울릉도M" panose="02030600000101010101" pitchFamily="18" charset="-127"/>
      <p:regular r:id="rId40"/>
    </p:embeddedFont>
    <p:embeddedFont>
      <p:font typeface="IBM Plex Sans KR" panose="020B0503050203000203" pitchFamily="50" charset="-127"/>
      <p:regular r:id="rId41"/>
      <p:bold r:id="rId42"/>
    </p:embeddedFont>
    <p:embeddedFont>
      <p:font typeface="Noto Sans KR" panose="020B0200000000000000" pitchFamily="50" charset="-127"/>
      <p:regular r:id="rId43"/>
      <p:bold r:id="rId44"/>
    </p:embeddedFont>
    <p:embeddedFont>
      <p:font typeface="Rix고딕 B" panose="02020603020101020101" pitchFamily="18" charset="-127"/>
      <p:regular r:id="rId45"/>
    </p:embeddedFont>
    <p:embeddedFont>
      <p:font typeface="Rix고딕 EB" panose="02020603020101020101" pitchFamily="18" charset="-127"/>
      <p:regular r:id="rId46"/>
    </p:embeddedFont>
    <p:embeddedFont>
      <p:font typeface="Rix고딕 L" panose="02020603020101020101" pitchFamily="18" charset="-127"/>
      <p:regular r:id="rId47"/>
    </p:embeddedFont>
    <p:embeddedFont>
      <p:font typeface="Rix고딕 M" panose="02020603020101020101" pitchFamily="18" charset="-127"/>
      <p:regular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12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pos="489">
          <p15:clr>
            <a:srgbClr val="A4A3A4"/>
          </p15:clr>
        </p15:guide>
        <p15:guide id="9" pos="5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43F90"/>
    <a:srgbClr val="DFEDF5"/>
    <a:srgbClr val="008E69"/>
    <a:srgbClr val="53FFD2"/>
    <a:srgbClr val="7DA2EB"/>
    <a:srgbClr val="AFC6F3"/>
    <a:srgbClr val="C2D3F6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E69559-96F0-414A-A2BB-6531809EA657}" v="19" dt="2026-06-18T08:00:28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12" autoAdjust="0"/>
    <p:restoredTop sz="91273" autoAdjust="0"/>
  </p:normalViewPr>
  <p:slideViewPr>
    <p:cSldViewPr>
      <p:cViewPr varScale="1">
        <p:scale>
          <a:sx n="87" d="100"/>
          <a:sy n="87" d="100"/>
        </p:scale>
        <p:origin x="1306" y="67"/>
      </p:cViewPr>
      <p:guideLst>
        <p:guide orient="horz" pos="2160"/>
        <p:guide pos="3120"/>
        <p:guide orient="horz" pos="4020"/>
        <p:guide orient="horz" pos="1026"/>
        <p:guide pos="489"/>
        <p:guide pos="58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26292"/>
    </p:cViewPr>
  </p:sorterViewPr>
  <p:notesViewPr>
    <p:cSldViewPr>
      <p:cViewPr varScale="1">
        <p:scale>
          <a:sx n="55" d="100"/>
          <a:sy n="55" d="100"/>
        </p:scale>
        <p:origin x="3318" y="9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수임" userId="29c2b3ba-d3b7-4150-b465-560c85c85873" providerId="ADAL" clId="{03A7552B-99CA-492C-817F-950B2A9C5C3B}"/>
    <pc:docChg chg="addSld delSld modSld">
      <pc:chgData name="정수임" userId="29c2b3ba-d3b7-4150-b465-560c85c85873" providerId="ADAL" clId="{03A7552B-99CA-492C-817F-950B2A9C5C3B}" dt="2026-06-18T08:00:28.882" v="38"/>
      <pc:docMkLst>
        <pc:docMk/>
      </pc:docMkLst>
      <pc:sldChg chg="modSp del mod">
        <pc:chgData name="정수임" userId="29c2b3ba-d3b7-4150-b465-560c85c85873" providerId="ADAL" clId="{03A7552B-99CA-492C-817F-950B2A9C5C3B}" dt="2026-06-18T07:54:41.496" v="31" actId="47"/>
        <pc:sldMkLst>
          <pc:docMk/>
          <pc:sldMk cId="782330898" sldId="1151"/>
        </pc:sldMkLst>
        <pc:spChg chg="mod">
          <ac:chgData name="정수임" userId="29c2b3ba-d3b7-4150-b465-560c85c85873" providerId="ADAL" clId="{03A7552B-99CA-492C-817F-950B2A9C5C3B}" dt="2026-06-18T07:51:36.047" v="9"/>
          <ac:spMkLst>
            <pc:docMk/>
            <pc:sldMk cId="782330898" sldId="1151"/>
            <ac:spMk id="2" creationId="{00000000-0000-0000-0000-000000000000}"/>
          </ac:spMkLst>
        </pc:spChg>
        <pc:spChg chg="mod">
          <ac:chgData name="정수임" userId="29c2b3ba-d3b7-4150-b465-560c85c85873" providerId="ADAL" clId="{03A7552B-99CA-492C-817F-950B2A9C5C3B}" dt="2026-06-18T07:51:43.171" v="27"/>
          <ac:spMkLst>
            <pc:docMk/>
            <pc:sldMk cId="782330898" sldId="1151"/>
            <ac:spMk id="3" creationId="{00000000-0000-0000-0000-000000000000}"/>
          </ac:spMkLst>
        </pc:spChg>
      </pc:sldChg>
      <pc:sldChg chg="add del setBg">
        <pc:chgData name="정수임" userId="29c2b3ba-d3b7-4150-b465-560c85c85873" providerId="ADAL" clId="{03A7552B-99CA-492C-817F-950B2A9C5C3B}" dt="2026-06-18T08:00:28.882" v="38"/>
        <pc:sldMkLst>
          <pc:docMk/>
          <pc:sldMk cId="459752657" sldId="1162"/>
        </pc:sldMkLst>
      </pc:sldChg>
      <pc:sldChg chg="add del setBg">
        <pc:chgData name="정수임" userId="29c2b3ba-d3b7-4150-b465-560c85c85873" providerId="ADAL" clId="{03A7552B-99CA-492C-817F-950B2A9C5C3B}" dt="2026-06-18T07:54:37.238" v="29"/>
        <pc:sldMkLst>
          <pc:docMk/>
          <pc:sldMk cId="600592750" sldId="1207"/>
        </pc:sldMkLst>
      </pc:sldChg>
      <pc:sldChg chg="add">
        <pc:chgData name="정수임" userId="29c2b3ba-d3b7-4150-b465-560c85c85873" providerId="ADAL" clId="{03A7552B-99CA-492C-817F-950B2A9C5C3B}" dt="2026-06-18T07:54:39.687" v="30"/>
        <pc:sldMkLst>
          <pc:docMk/>
          <pc:sldMk cId="3506671851" sldId="12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750" y="0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3E81C32A-3A80-4A7D-8BDE-AAC2FB4FD2B9}" type="datetimeFigureOut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2026-06-17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305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29305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DA551EA-9673-4CB8-9725-DCAE777531BB}" type="slidenum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‹#›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360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fld id="{EA943608-30A2-4DD3-A5E1-F7D1EE9D25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8" y="98425"/>
            <a:ext cx="6729412" cy="4660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5" tIns="44092" rIns="88185" bIns="44092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9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2740" y="5172842"/>
            <a:ext cx="6623411" cy="4320482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1116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43608-30A2-4DD3-A5E1-F7D1EE9D253F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638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43608-30A2-4DD3-A5E1-F7D1EE9D253F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009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3432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먼저</a:t>
            </a:r>
            <a:r>
              <a:rPr kumimoji="1" lang="en-US" altLang="ko-KR" dirty="0"/>
              <a:t>, 1981</a:t>
            </a:r>
            <a:r>
              <a:rPr kumimoji="1" lang="ko-KR" altLang="en-US" dirty="0"/>
              <a:t>년 퍼스널 컴퓨터의 출현이 있었죠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이로 인해 우리는 디지털 시대의 문을 열었습니다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1995</a:t>
            </a:r>
            <a:r>
              <a:rPr kumimoji="1" lang="ko-KR" altLang="en-US" dirty="0"/>
              <a:t>년에는 인터넷과 월드 와이드 웹의 등장이 큰 변화를 가져왔습니다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2009</a:t>
            </a:r>
            <a:r>
              <a:rPr kumimoji="1" lang="ko-KR" altLang="en-US" dirty="0"/>
              <a:t>년에는 스마트폰의 등장했습니다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이러한 기술들은 우리 삶의 방식을 근본적으로 바꾸었습니다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그런데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최근 몇 년간 대형 언어모델</a:t>
            </a:r>
            <a:r>
              <a:rPr kumimoji="1" lang="en-US" altLang="ko-KR" dirty="0"/>
              <a:t>, </a:t>
            </a:r>
            <a:r>
              <a:rPr kumimoji="1" lang="ko-KR" altLang="en-US" dirty="0"/>
              <a:t>특히 </a:t>
            </a:r>
            <a:r>
              <a:rPr kumimoji="1" lang="en" altLang="ko-KR" dirty="0"/>
              <a:t>GPT-3</a:t>
            </a:r>
            <a:r>
              <a:rPr kumimoji="1" lang="ko-KR" altLang="en-US" dirty="0"/>
              <a:t>의 출시는 또 다른 변곡점을 만들어냈습니다</a:t>
            </a:r>
            <a:r>
              <a:rPr kumimoji="1" lang="en-US" altLang="ko-KR" dirty="0"/>
              <a:t>. </a:t>
            </a:r>
            <a:r>
              <a:rPr kumimoji="1" lang="en" altLang="ko-KR" dirty="0"/>
              <a:t>ChatGPT</a:t>
            </a:r>
            <a:r>
              <a:rPr kumimoji="1" lang="ko-KR" altLang="en-US" dirty="0"/>
              <a:t>와 같은 혁신적인 기술들이 우리 산업 분야에도 영향을 미치고 있는 것이죠</a:t>
            </a:r>
            <a:r>
              <a:rPr kumimoji="1" lang="en-US" altLang="ko-KR" dirty="0"/>
              <a:t>. 2023</a:t>
            </a:r>
            <a:r>
              <a:rPr kumimoji="1" lang="ko-KR" altLang="en-US" dirty="0"/>
              <a:t>년에는 블록체인</a:t>
            </a:r>
            <a:r>
              <a:rPr kumimoji="1" lang="en-US" altLang="ko-KR" dirty="0"/>
              <a:t>, </a:t>
            </a:r>
            <a:r>
              <a:rPr kumimoji="1" lang="ko-KR" altLang="en-US" dirty="0"/>
              <a:t>메타버스</a:t>
            </a:r>
            <a:r>
              <a:rPr kumimoji="1" lang="en-US" altLang="ko-KR" dirty="0"/>
              <a:t>, </a:t>
            </a:r>
            <a:r>
              <a:rPr kumimoji="1" lang="en" altLang="ko-KR" dirty="0"/>
              <a:t>AI</a:t>
            </a:r>
            <a:r>
              <a:rPr kumimoji="1" lang="ko-KR" altLang="en-US" dirty="0"/>
              <a:t>까지 금융 산업에 깊이 자리 잡고 있습니다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우리는 이 기술들을 어떻게 잘 활용할 것인가가 중요한 과제가 될 것입니다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이러한 변화 속에서 우리는 어떤 미래를 준비해야 할까요</a:t>
            </a:r>
            <a:r>
              <a:rPr kumimoji="1" lang="en-US" altLang="ko-KR" dirty="0"/>
              <a:t>?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44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80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장표는 생성형 </a:t>
            </a:r>
            <a:r>
              <a:rPr lang="en" altLang="ko-KR" dirty="0"/>
              <a:t>AI, </a:t>
            </a:r>
            <a:r>
              <a:rPr lang="ko-KR" altLang="en-US" dirty="0"/>
              <a:t>특히 </a:t>
            </a:r>
            <a:r>
              <a:rPr lang="en" altLang="ko-KR" dirty="0"/>
              <a:t>LLM</a:t>
            </a:r>
            <a:r>
              <a:rPr lang="ko-KR" altLang="en-US" dirty="0"/>
              <a:t>을 실제 업무에 도입하는 </a:t>
            </a:r>
            <a:r>
              <a:rPr lang="en-US" altLang="ko-KR" dirty="0"/>
              <a:t>3</a:t>
            </a:r>
            <a:r>
              <a:rPr lang="ko-KR" altLang="en-US" dirty="0"/>
              <a:t>가지 방법을 정리한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 번째는 </a:t>
            </a:r>
            <a:r>
              <a:rPr lang="en" altLang="ko-KR" dirty="0"/>
              <a:t>AI </a:t>
            </a:r>
            <a:r>
              <a:rPr lang="ko-KR" altLang="en-US" dirty="0"/>
              <a:t>모델 자체를 개발하는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방대한 데이터를 수집하고 직접 모델을 학습시켜 결과를 만드는 방식으로</a:t>
            </a:r>
            <a:r>
              <a:rPr lang="en-US" altLang="ko-KR" dirty="0"/>
              <a:t>, </a:t>
            </a:r>
            <a:r>
              <a:rPr lang="ko-KR" altLang="en-US" dirty="0"/>
              <a:t>연구기관에서 주로 활용합니다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단점은 비용과 시간이 매우 많이 든다는 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**파운데이션 모델을 </a:t>
            </a:r>
            <a:r>
              <a:rPr lang="ko-KR" altLang="en-US" dirty="0" err="1"/>
              <a:t>파인튜닝</a:t>
            </a:r>
            <a:r>
              <a:rPr lang="en-US" altLang="ko-KR" dirty="0"/>
              <a:t>(</a:t>
            </a:r>
            <a:r>
              <a:rPr lang="en" altLang="ko-KR" dirty="0"/>
              <a:t>Fine-Tuning)**</a:t>
            </a:r>
            <a:r>
              <a:rPr lang="ko-KR" altLang="en-US" dirty="0"/>
              <a:t>하는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기존에 공개된 </a:t>
            </a:r>
            <a:r>
              <a:rPr lang="en" altLang="ko-KR" dirty="0"/>
              <a:t>LLM</a:t>
            </a:r>
            <a:r>
              <a:rPr lang="ko-KR" altLang="en-US" dirty="0"/>
              <a:t>을 기반으로 우리 조직의 데이터를 넣어 </a:t>
            </a:r>
            <a:r>
              <a:rPr lang="ko-KR" altLang="en-US" dirty="0" err="1"/>
              <a:t>재학습</a:t>
            </a:r>
            <a:r>
              <a:rPr lang="en-US" altLang="ko-KR" dirty="0"/>
              <a:t>(</a:t>
            </a:r>
            <a:r>
              <a:rPr lang="en-US" altLang="ko-KR" dirty="0" err="1"/>
              <a:t>LoRA</a:t>
            </a:r>
            <a:r>
              <a:rPr lang="en-US" altLang="ko-KR" dirty="0"/>
              <a:t>, </a:t>
            </a:r>
            <a:r>
              <a:rPr lang="en-US" altLang="ko-KR" dirty="0" err="1"/>
              <a:t>QLoRa</a:t>
            </a:r>
            <a:r>
              <a:rPr lang="ko-KR" altLang="en-US" dirty="0"/>
              <a:t>방식</a:t>
            </a:r>
            <a:r>
              <a:rPr lang="en-US" altLang="ko-KR" dirty="0"/>
              <a:t>)</a:t>
            </a:r>
            <a:r>
              <a:rPr lang="ko-KR" altLang="en-US" dirty="0"/>
              <a:t>하는 것으로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비교적 효율적으로 도입이 가능하며</a:t>
            </a:r>
            <a:r>
              <a:rPr lang="en-US" altLang="ko-KR" dirty="0"/>
              <a:t>, </a:t>
            </a:r>
            <a:r>
              <a:rPr lang="ko-KR" altLang="en-US" dirty="0"/>
              <a:t>커스터마이징이 용이합니다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마지막은 가장 실용적인 접근법인 </a:t>
            </a:r>
            <a:r>
              <a:rPr lang="en" altLang="ko-KR" dirty="0"/>
              <a:t>RAG </a:t>
            </a:r>
            <a:r>
              <a:rPr lang="ko-KR" altLang="en-US" dirty="0"/>
              <a:t>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문서 데이터를 </a:t>
            </a:r>
            <a:r>
              <a:rPr lang="ko-KR" altLang="en-US" dirty="0" err="1"/>
              <a:t>임베딩해</a:t>
            </a:r>
            <a:r>
              <a:rPr lang="ko-KR" altLang="en-US" dirty="0"/>
              <a:t> 벡터</a:t>
            </a:r>
            <a:r>
              <a:rPr lang="en" altLang="ko-KR" dirty="0"/>
              <a:t>DB</a:t>
            </a:r>
            <a:r>
              <a:rPr lang="ko-KR" altLang="en-US" dirty="0"/>
              <a:t>에 저장한 후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질문이 들어오면 관련 정보를 검색해 </a:t>
            </a:r>
            <a:r>
              <a:rPr lang="en" altLang="ko-KR" dirty="0"/>
              <a:t>LLM</a:t>
            </a:r>
            <a:r>
              <a:rPr lang="ko-KR" altLang="en-US" dirty="0"/>
              <a:t>에 전달하는 구조입니다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LangChain, LlamaIndex</a:t>
            </a:r>
            <a:r>
              <a:rPr lang="ko-KR" altLang="en-US" dirty="0"/>
              <a:t> 과 같은 프레임워크를 활용하여 사용됩니다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모델 개발은 고비용 </a:t>
            </a:r>
            <a:r>
              <a:rPr lang="ko-KR" altLang="en-US" dirty="0" err="1"/>
              <a:t>고정밀</a:t>
            </a:r>
            <a:r>
              <a:rPr lang="en-US" altLang="ko-KR" dirty="0"/>
              <a:t>, </a:t>
            </a:r>
            <a:r>
              <a:rPr lang="ko-KR" altLang="en-US" dirty="0" err="1"/>
              <a:t>파인튜닝은</a:t>
            </a:r>
            <a:r>
              <a:rPr lang="ko-KR" altLang="en-US" dirty="0"/>
              <a:t> 효율적 커스터마이징</a:t>
            </a:r>
            <a:r>
              <a:rPr lang="en-US" altLang="ko-KR" dirty="0"/>
              <a:t>,</a:t>
            </a:r>
          </a:p>
          <a:p>
            <a:r>
              <a:rPr lang="en" altLang="ko-KR" dirty="0"/>
              <a:t>RAG</a:t>
            </a:r>
            <a:r>
              <a:rPr lang="ko-KR" altLang="en-US" dirty="0"/>
              <a:t>는 비용 효율성과 현업 적용에 유리하다고 볼 수 있습니다</a:t>
            </a:r>
            <a:r>
              <a:rPr lang="en-US" altLang="ko-KR" dirty="0"/>
              <a:t>."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395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AI Agent</a:t>
            </a:r>
            <a:r>
              <a:rPr lang="ko-KR" altLang="en-US" dirty="0"/>
              <a:t>는 단순히 질문에 답하는 것을 넘어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사용자의 요청을 이해하고</a:t>
            </a:r>
            <a:r>
              <a:rPr lang="en-US" altLang="ko-KR" dirty="0"/>
              <a:t>, </a:t>
            </a:r>
            <a:r>
              <a:rPr lang="ko-KR" altLang="en-US" dirty="0"/>
              <a:t>도구를 활용해 해결 방안을 스스로 찾아 실행하는 능동적 시스템입니다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중심에는 </a:t>
            </a:r>
            <a:r>
              <a:rPr lang="en" altLang="ko-KR" dirty="0"/>
              <a:t>LLM</a:t>
            </a:r>
            <a:r>
              <a:rPr lang="ko-KR" altLang="en-US" dirty="0"/>
              <a:t>이 핵심 두뇌 역할을 수행합니다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dirty="0"/>
              <a:t>Agent</a:t>
            </a:r>
            <a:r>
              <a:rPr lang="ko-KR" altLang="en-US" dirty="0"/>
              <a:t>는 우선 사용자의 질문을 분석하고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이를 해결하기 위한 **적절한 도구</a:t>
            </a:r>
            <a:r>
              <a:rPr lang="en-US" altLang="ko-KR" dirty="0"/>
              <a:t>(</a:t>
            </a:r>
            <a:r>
              <a:rPr lang="en" altLang="ko-KR" dirty="0"/>
              <a:t>Tool)**</a:t>
            </a:r>
            <a:r>
              <a:rPr lang="ko-KR" altLang="en-US" dirty="0"/>
              <a:t>를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선택된 도구를 활용해 행동 계획을 수립하고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필요한 데이터를 수집</a:t>
            </a:r>
            <a:r>
              <a:rPr lang="en-US" altLang="ko-KR" dirty="0"/>
              <a:t>·</a:t>
            </a:r>
            <a:r>
              <a:rPr lang="ko-KR" altLang="en-US" dirty="0"/>
              <a:t>처리한 후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최종적으로 가공된 답변을 사용자에게 전달합니다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 그림처럼</a:t>
            </a:r>
            <a:r>
              <a:rPr lang="en-US" altLang="ko-KR" dirty="0"/>
              <a:t>, </a:t>
            </a:r>
            <a:r>
              <a:rPr lang="en" altLang="ko-KR" dirty="0"/>
              <a:t>Prompt → Search → Context → Tool </a:t>
            </a:r>
            <a:r>
              <a:rPr lang="ko-KR" altLang="en-US" dirty="0"/>
              <a:t>사용 → </a:t>
            </a:r>
            <a:r>
              <a:rPr lang="en" altLang="ko-KR" dirty="0"/>
              <a:t>Reasoning → Answer </a:t>
            </a:r>
            <a:r>
              <a:rPr lang="ko-KR" altLang="en-US" dirty="0"/>
              <a:t>생성까지의 과정을</a:t>
            </a:r>
          </a:p>
          <a:p>
            <a:r>
              <a:rPr lang="en" altLang="ko-KR" dirty="0"/>
              <a:t>LLM</a:t>
            </a:r>
            <a:r>
              <a:rPr lang="ko-KR" altLang="en-US" dirty="0"/>
              <a:t>이 중심이 되어 조율하며 수행하게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" altLang="ko-KR" dirty="0"/>
              <a:t>Agent</a:t>
            </a:r>
            <a:r>
              <a:rPr lang="ko-KR" altLang="en-US" dirty="0"/>
              <a:t>는 단순한 대답을 넘어서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문제 해결을 위한 복합적인 의사결정과 </a:t>
            </a:r>
            <a:r>
              <a:rPr lang="ko-KR" altLang="en-US" dirty="0" err="1"/>
              <a:t>실행’을</a:t>
            </a:r>
            <a:r>
              <a:rPr lang="ko-KR" altLang="en-US" dirty="0"/>
              <a:t> 자동화하는 구조라고 볼 수 있습니다</a:t>
            </a:r>
            <a:r>
              <a:rPr lang="en-US" altLang="ko-KR" dirty="0"/>
              <a:t>."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4023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83D2-63F0-382C-9736-AE6E4E1F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177B62-4821-158E-4492-7587702A1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1253D5-64DC-2B03-61FF-6E4C942CD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이렇게 단계별로 구성된 교육을 통해 </a:t>
            </a:r>
            <a:endParaRPr kumimoji="1" lang="en-US" altLang="ko-KR" dirty="0"/>
          </a:p>
          <a:p>
            <a:r>
              <a:rPr kumimoji="1" lang="en-US" altLang="ko-KR" dirty="0"/>
              <a:t>LV1.</a:t>
            </a:r>
            <a:r>
              <a:rPr kumimoji="1" lang="ko-KR" altLang="en-US" dirty="0"/>
              <a:t> 전사적으로 </a:t>
            </a:r>
            <a:r>
              <a:rPr kumimoji="1" lang="en" altLang="ko-KR" dirty="0"/>
              <a:t>AI </a:t>
            </a:r>
            <a:r>
              <a:rPr kumimoji="1" lang="ko-KR" altLang="en-US" dirty="0" err="1"/>
              <a:t>리터러시를</a:t>
            </a:r>
            <a:r>
              <a:rPr kumimoji="1" lang="ko-KR" altLang="en-US" dirty="0"/>
              <a:t> 높이고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업무 혁신과 기술 내재화를 실행 할 수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LV2. AI</a:t>
            </a:r>
            <a:r>
              <a:rPr kumimoji="1" lang="ko-KR" altLang="en-US" dirty="0"/>
              <a:t>를 본격적으로 적용하고 비즈니스 모델을 변화 시킵니다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LV3. AI </a:t>
            </a:r>
            <a:r>
              <a:rPr kumimoji="1" lang="ko-KR" altLang="en-US" dirty="0"/>
              <a:t>개발 전무가가 되어 우리에게 필요한 모든 서비스를 자체 적으로 개발합니다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03126-4C9C-1E12-FD56-994832E5B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371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DE9D-1882-870C-4FF9-DD2124FED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3C9EA5-5485-F938-31BE-9C815CC09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044D9E-05B8-EDDA-DADC-6D33C03FA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이렇게 단계별로 구성된 교육을 통해 </a:t>
            </a:r>
            <a:endParaRPr kumimoji="1" lang="en-US" altLang="ko-KR" dirty="0"/>
          </a:p>
          <a:p>
            <a:r>
              <a:rPr kumimoji="1" lang="en-US" altLang="ko-KR" dirty="0"/>
              <a:t>LV1.</a:t>
            </a:r>
            <a:r>
              <a:rPr kumimoji="1" lang="ko-KR" altLang="en-US" dirty="0"/>
              <a:t> 전사적으로 </a:t>
            </a:r>
            <a:r>
              <a:rPr kumimoji="1" lang="en" altLang="ko-KR" dirty="0"/>
              <a:t>AI </a:t>
            </a:r>
            <a:r>
              <a:rPr kumimoji="1" lang="ko-KR" altLang="en-US" dirty="0" err="1"/>
              <a:t>리터러시를</a:t>
            </a:r>
            <a:r>
              <a:rPr kumimoji="1" lang="ko-KR" altLang="en-US" dirty="0"/>
              <a:t> 높이고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업무 혁신과 기술 내재화를 실행 할 수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LV2. AI</a:t>
            </a:r>
            <a:r>
              <a:rPr kumimoji="1" lang="ko-KR" altLang="en-US" dirty="0"/>
              <a:t>를 본격적으로 적용하고 비즈니스 모델을 변화 시킵니다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LV3. AI </a:t>
            </a:r>
            <a:r>
              <a:rPr kumimoji="1" lang="ko-KR" altLang="en-US" dirty="0"/>
              <a:t>개발 전무가가 되어 우리에게 필요한 모든 서비스를 자체 적으로 개발합니다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D3E77-B9A9-3ADB-A0B7-4C087B4C3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989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7619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E66A-DC4B-AAB7-7B17-550BEDD8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00B1DE-41D8-A7CD-5392-96280CC35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18EFF-A562-5146-45A3-53DABDDFE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18054D-1E46-1789-54D2-B90B15BA4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43608-30A2-4DD3-A5E1-F7D1EE9D253F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718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지금까지 대부분의 기업에서는</a:t>
            </a:r>
            <a:endParaRPr kumimoji="1" lang="en-US" altLang="ko-KR" dirty="0"/>
          </a:p>
          <a:p>
            <a:r>
              <a:rPr kumimoji="1" lang="ko-KR" altLang="en-US" dirty="0"/>
              <a:t>사전 정의된 키워드나 카테고리에 따라 분류하고 빈도를 집계하는 방식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즉 텍스트 마이닝 기반 분석을 주로 사용해 왔습니다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화면에서 보시는 것처럼</a:t>
            </a:r>
            <a:r>
              <a:rPr kumimoji="1" lang="en-US" altLang="ko-KR" dirty="0"/>
              <a:t>, </a:t>
            </a:r>
            <a:r>
              <a:rPr kumimoji="1" lang="ko-KR" altLang="en-US" dirty="0"/>
              <a:t>지역별 </a:t>
            </a:r>
            <a:r>
              <a:rPr kumimoji="1" lang="en" altLang="ko-KR" dirty="0"/>
              <a:t>VOC </a:t>
            </a:r>
            <a:r>
              <a:rPr kumimoji="1" lang="ko-KR" altLang="en-US" dirty="0"/>
              <a:t>건수나 주요 키워드 빈도는 파악할 수 있지만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고객이 실제로 무엇 때문에 불만을 제기했는지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어떤 감정과 맥락이 있었는지는 알기 어렵습니다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특히 표현이 다르거나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맥락에 따라 의미가 달라지는 경우에는</a:t>
            </a:r>
          </a:p>
          <a:p>
            <a:r>
              <a:rPr kumimoji="1" lang="ko-KR" altLang="en-US" dirty="0"/>
              <a:t>중요한 이슈가 누락되거나 왜곡될 가능성도 존재합니다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이러한 이유로 최근에는 단순 키워드 분석을 넘어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생성형 </a:t>
            </a:r>
            <a:r>
              <a:rPr kumimoji="1" lang="en" altLang="ko-KR" dirty="0"/>
              <a:t>AI </a:t>
            </a:r>
            <a:r>
              <a:rPr kumimoji="1" lang="ko-KR" altLang="en-US" dirty="0"/>
              <a:t>기반의 정밀한 맥락 이해와 요약 분석으로 전환하는 흐름이 강해지고 있습니다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608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sz="800" dirty="0"/>
              <a:t>이 방식은 단순 키워드 빈도 분석을 넘어서</a:t>
            </a:r>
            <a:r>
              <a:rPr kumimoji="1" lang="en-US" altLang="ko-KR" sz="800" dirty="0"/>
              <a:t>,</a:t>
            </a:r>
          </a:p>
          <a:p>
            <a:r>
              <a:rPr kumimoji="1" lang="en" altLang="ko-KR" sz="800" dirty="0"/>
              <a:t>AI</a:t>
            </a:r>
            <a:r>
              <a:rPr kumimoji="1" lang="ko-KR" altLang="en-US" sz="800" dirty="0"/>
              <a:t>가 고객 발화를 자동으로 분류하고</a:t>
            </a:r>
            <a:r>
              <a:rPr kumimoji="1" lang="en-US" altLang="ko-KR" sz="800" dirty="0"/>
              <a:t>, </a:t>
            </a:r>
            <a:r>
              <a:rPr kumimoji="1" lang="ko-KR" altLang="en-US" sz="800" dirty="0"/>
              <a:t>그 안에 담긴 감정</a:t>
            </a:r>
            <a:r>
              <a:rPr kumimoji="1" lang="en-US" altLang="ko-KR" sz="800" dirty="0"/>
              <a:t>·</a:t>
            </a:r>
            <a:r>
              <a:rPr kumimoji="1" lang="ko-KR" altLang="en-US" sz="800" dirty="0"/>
              <a:t>이슈</a:t>
            </a:r>
            <a:r>
              <a:rPr kumimoji="1" lang="en-US" altLang="ko-KR" sz="800" dirty="0"/>
              <a:t>·</a:t>
            </a:r>
            <a:r>
              <a:rPr kumimoji="1" lang="ko-KR" altLang="en-US" sz="800" dirty="0"/>
              <a:t>의도까지 분석합니다</a:t>
            </a:r>
            <a:r>
              <a:rPr kumimoji="1" lang="en-US" altLang="ko-KR" sz="800" dirty="0"/>
              <a:t>.</a:t>
            </a:r>
          </a:p>
          <a:p>
            <a:r>
              <a:rPr kumimoji="1" lang="ko-KR" altLang="en-US" sz="800" dirty="0"/>
              <a:t>예를 들어 ‘가입 어렵다’</a:t>
            </a:r>
            <a:r>
              <a:rPr kumimoji="1" lang="en-US" altLang="ko-KR" sz="800" dirty="0"/>
              <a:t>, ‘</a:t>
            </a:r>
            <a:r>
              <a:rPr kumimoji="1" lang="ko-KR" altLang="en-US" sz="800" dirty="0"/>
              <a:t>상담 불편’ 같은 내용을 종합적으로 이해해서</a:t>
            </a:r>
          </a:p>
          <a:p>
            <a:r>
              <a:rPr kumimoji="1" lang="ko-KR" altLang="en-US" sz="800" dirty="0"/>
              <a:t>‘가입 프로세스 </a:t>
            </a:r>
            <a:r>
              <a:rPr kumimoji="1" lang="ko-KR" altLang="en-US" sz="800" dirty="0" err="1"/>
              <a:t>이탈’처럼</a:t>
            </a:r>
            <a:r>
              <a:rPr kumimoji="1" lang="ko-KR" altLang="en-US" sz="800" dirty="0"/>
              <a:t> 근본 원인을 추출하고</a:t>
            </a:r>
            <a:r>
              <a:rPr kumimoji="1" lang="en-US" altLang="ko-KR" sz="800" dirty="0"/>
              <a:t>,</a:t>
            </a:r>
          </a:p>
          <a:p>
            <a:r>
              <a:rPr kumimoji="1" lang="ko-KR" altLang="en-US" sz="800" dirty="0"/>
              <a:t>심지어 해당 고객이 이탈할 위험이 </a:t>
            </a:r>
            <a:r>
              <a:rPr kumimoji="1" lang="ko-KR" altLang="en-US" sz="800" dirty="0" err="1"/>
              <a:t>있는지까지</a:t>
            </a:r>
            <a:r>
              <a:rPr kumimoji="1" lang="ko-KR" altLang="en-US" sz="800" dirty="0"/>
              <a:t> 예측합니다</a:t>
            </a:r>
            <a:r>
              <a:rPr kumimoji="1" lang="en-US" altLang="ko-KR" sz="800" dirty="0"/>
              <a:t>.</a:t>
            </a:r>
          </a:p>
          <a:p>
            <a:endParaRPr kumimoji="1" lang="en-US" altLang="ko-KR" sz="800" dirty="0"/>
          </a:p>
          <a:p>
            <a:r>
              <a:rPr kumimoji="1" lang="ko-KR" altLang="en-US" sz="800" dirty="0"/>
              <a:t>하단에 보시는 다차원 감성 분석과 이탈 리스크 예측처럼</a:t>
            </a:r>
            <a:r>
              <a:rPr kumimoji="1" lang="en-US" altLang="ko-KR" sz="800" dirty="0"/>
              <a:t>,</a:t>
            </a:r>
          </a:p>
          <a:p>
            <a:r>
              <a:rPr kumimoji="1" lang="ko-KR" altLang="en-US" sz="800" dirty="0"/>
              <a:t>이제는 </a:t>
            </a:r>
            <a:r>
              <a:rPr kumimoji="1" lang="en" altLang="ko-KR" sz="800" dirty="0"/>
              <a:t>AI</a:t>
            </a:r>
            <a:r>
              <a:rPr kumimoji="1" lang="ko-KR" altLang="en-US" sz="800" dirty="0"/>
              <a:t>가 고객의 맥락을 읽고</a:t>
            </a:r>
            <a:r>
              <a:rPr kumimoji="1" lang="en-US" altLang="ko-KR" sz="800" dirty="0"/>
              <a:t>, </a:t>
            </a:r>
            <a:r>
              <a:rPr kumimoji="1" lang="ko-KR" altLang="en-US" sz="800" dirty="0"/>
              <a:t>선제 대응 가이드까지 제공하는 수준까지 도달한 겁니다</a:t>
            </a:r>
            <a:r>
              <a:rPr kumimoji="1" lang="en-US" altLang="ko-KR" sz="800" dirty="0"/>
              <a:t>.</a:t>
            </a:r>
          </a:p>
          <a:p>
            <a:endParaRPr kumimoji="1" lang="en-US" altLang="ko-KR" sz="800" dirty="0"/>
          </a:p>
          <a:p>
            <a:r>
              <a:rPr kumimoji="1" lang="ko-KR" altLang="en-US" sz="800" dirty="0"/>
              <a:t>이처럼 생성형 </a:t>
            </a:r>
            <a:r>
              <a:rPr kumimoji="1" lang="en" altLang="ko-KR" sz="800" dirty="0"/>
              <a:t>AI</a:t>
            </a:r>
            <a:r>
              <a:rPr kumimoji="1" lang="ko-KR" altLang="en-US" sz="800" dirty="0"/>
              <a:t>는 단순 분석을 넘어</a:t>
            </a:r>
          </a:p>
          <a:p>
            <a:r>
              <a:rPr kumimoji="1" lang="ko-KR" altLang="en-US" sz="800" dirty="0"/>
              <a:t>인사이트 파트너 역할까지 수행하며</a:t>
            </a:r>
            <a:r>
              <a:rPr kumimoji="1" lang="en-US" altLang="ko-KR" sz="800" dirty="0"/>
              <a:t>, </a:t>
            </a:r>
            <a:r>
              <a:rPr kumimoji="1" lang="en" altLang="ko-KR" sz="800" dirty="0"/>
              <a:t>VOC </a:t>
            </a:r>
            <a:r>
              <a:rPr kumimoji="1" lang="ko-KR" altLang="en-US" sz="800" dirty="0"/>
              <a:t>분석의 새로운 표준으로 자리 잡아가고 있습니다</a:t>
            </a:r>
          </a:p>
          <a:p>
            <a:endParaRPr lang="ko-KR" altLang="en-US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3750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현재 고객 분석은 보통 구매 이력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선호 색상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선호 브랜드 등</a:t>
            </a:r>
          </a:p>
          <a:p>
            <a:r>
              <a:rPr kumimoji="1" lang="ko-KR" altLang="en-US" dirty="0"/>
              <a:t>수치와 키워드를 기반으로 고객을 </a:t>
            </a:r>
            <a:r>
              <a:rPr kumimoji="1" lang="ko-KR" altLang="en-US" dirty="0" err="1"/>
              <a:t>정형화합니다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고객은 검정색</a:t>
            </a:r>
            <a:r>
              <a:rPr kumimoji="1" lang="en-US" altLang="ko-KR" dirty="0"/>
              <a:t>·</a:t>
            </a:r>
            <a:r>
              <a:rPr kumimoji="1" lang="ko-KR" altLang="en-US" dirty="0"/>
              <a:t>그레이를 선호하고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의류와 슈즈 중에서도 ‘</a:t>
            </a:r>
            <a:r>
              <a:rPr kumimoji="1" lang="ko-KR" altLang="en-US" dirty="0" err="1"/>
              <a:t>까르띠에</a:t>
            </a:r>
            <a:r>
              <a:rPr kumimoji="1" lang="ko-KR" altLang="en-US" dirty="0"/>
              <a:t>’ 브랜드에 많은 매출이 발생한 것으로 분석됩니다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하지만 이런 분석은 왜 그런 선택을 했는지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어떤 상황에서 어떤 감정이나 니즈가 있었는지는 파악하지 못합니다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즉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고객을 단순 숫자와 카테고리로 분류할 뿐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고객의 맥락</a:t>
            </a:r>
            <a:r>
              <a:rPr kumimoji="1" lang="en-US" altLang="ko-KR" dirty="0"/>
              <a:t>(</a:t>
            </a:r>
            <a:r>
              <a:rPr kumimoji="1" lang="en" altLang="ko-KR" dirty="0"/>
              <a:t>Context)</a:t>
            </a:r>
            <a:r>
              <a:rPr kumimoji="1" lang="ko-KR" altLang="en-US" dirty="0"/>
              <a:t>과 스토리는 </a:t>
            </a:r>
            <a:r>
              <a:rPr kumimoji="1" lang="ko-KR" altLang="en-US" dirty="0" err="1"/>
              <a:t>빠져있는</a:t>
            </a:r>
            <a:r>
              <a:rPr kumimoji="1" lang="ko-KR" altLang="en-US" dirty="0"/>
              <a:t> 거죠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이러한 분석 방식은 정밀한 타겟 마케팅이나 개인화 추천에 한계를 보일 수밖에 없습니다</a:t>
            </a:r>
            <a:r>
              <a:rPr kumimoji="1" lang="en-US" altLang="ko-KR" dirty="0"/>
              <a:t>.</a:t>
            </a:r>
            <a:endParaRPr kumimoji="1"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205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0E6F-5F60-B9B1-03B2-B30B5BE7E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E0BC6-23A4-5057-FEF8-8E09F2671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D4DDC-3BA9-3335-64C8-842CC0BD9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기존에는 단순히 구매 이력</a:t>
            </a:r>
            <a:r>
              <a:rPr kumimoji="1" lang="en-US" altLang="ko-KR" dirty="0"/>
              <a:t>, </a:t>
            </a:r>
            <a:r>
              <a:rPr kumimoji="1" lang="ko-KR" altLang="en-US" dirty="0"/>
              <a:t>브랜드 선호 같은 정형 데이터 위주로 고객을 분류했다면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이제는 생성형 </a:t>
            </a:r>
            <a:r>
              <a:rPr kumimoji="1" lang="en" altLang="ko-KR" dirty="0"/>
              <a:t>AI</a:t>
            </a:r>
            <a:r>
              <a:rPr kumimoji="1" lang="ko-KR" altLang="en-US" dirty="0"/>
              <a:t>가 고객의 발화</a:t>
            </a:r>
            <a:r>
              <a:rPr kumimoji="1" lang="en-US" altLang="ko-KR" dirty="0"/>
              <a:t>, </a:t>
            </a:r>
            <a:r>
              <a:rPr kumimoji="1" lang="ko-KR" altLang="en-US" dirty="0"/>
              <a:t>피드백</a:t>
            </a:r>
            <a:r>
              <a:rPr kumimoji="1" lang="en-US" altLang="ko-KR" dirty="0"/>
              <a:t>, </a:t>
            </a:r>
            <a:r>
              <a:rPr kumimoji="1" lang="ko-KR" altLang="en-US" dirty="0"/>
              <a:t>행동 데이터를 맥락 기반으로 분석해</a:t>
            </a:r>
          </a:p>
          <a:p>
            <a:r>
              <a:rPr kumimoji="1" lang="ko-KR" altLang="en-US" dirty="0"/>
              <a:t>더 깊이 있는 인사이트를 자동 생성합니다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예를 들어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고객을 단순 숫자가 아닌 트렌드 중심</a:t>
            </a:r>
            <a:r>
              <a:rPr kumimoji="1" lang="en-US" altLang="ko-KR" dirty="0"/>
              <a:t>·</a:t>
            </a:r>
            <a:r>
              <a:rPr kumimoji="1" lang="ko-KR" altLang="en-US" dirty="0"/>
              <a:t>가치 소비형 등 페르소나로 재정의하고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구매 패턴과 소통 스타일을 분석해 복합적인 소비 성향을 도출합니다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나아가 </a:t>
            </a:r>
            <a:r>
              <a:rPr kumimoji="1" lang="en" altLang="ko-KR" dirty="0"/>
              <a:t>AI</a:t>
            </a:r>
            <a:r>
              <a:rPr kumimoji="1" lang="ko-KR" altLang="en-US" dirty="0"/>
              <a:t>는 감정 분석과 구매 대화 맥락을 토대로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고객의 숨겨진 의도나 이탈 위험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다음 추천 상품까지 예측합니다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2F921-EE93-3023-DA35-BB69C4016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3128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792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국민은행은 </a:t>
            </a:r>
            <a:r>
              <a:rPr kumimoji="1" lang="en-US" altLang="ko-KR" dirty="0"/>
              <a:t>24</a:t>
            </a:r>
            <a:r>
              <a:rPr kumimoji="1" lang="ko-KR" altLang="en-US" dirty="0"/>
              <a:t>시간 </a:t>
            </a:r>
            <a:r>
              <a:rPr kumimoji="1" lang="en-US" altLang="ko-KR" dirty="0"/>
              <a:t>365</a:t>
            </a:r>
            <a:r>
              <a:rPr kumimoji="1" lang="ko-KR" altLang="en-US" dirty="0"/>
              <a:t>일 </a:t>
            </a:r>
            <a:r>
              <a:rPr kumimoji="1" lang="en" altLang="ko-KR" dirty="0"/>
              <a:t>AI </a:t>
            </a:r>
            <a:r>
              <a:rPr kumimoji="1" lang="ko-KR" altLang="en-US" dirty="0" err="1"/>
              <a:t>상담봇을</a:t>
            </a:r>
            <a:r>
              <a:rPr kumimoji="1" lang="ko-KR" altLang="en-US" dirty="0"/>
              <a:t> 통해 단순 문의를 자동 처리하고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필요 시에만 상담사에게 연결되도록 하는 구조로 상담 효율을 높였습니다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실제로 </a:t>
            </a:r>
            <a:r>
              <a:rPr kumimoji="1" lang="en" altLang="ko-KR" dirty="0"/>
              <a:t>AI </a:t>
            </a:r>
            <a:r>
              <a:rPr kumimoji="1" lang="ko-KR" altLang="en-US" dirty="0"/>
              <a:t>도입 후</a:t>
            </a:r>
          </a:p>
          <a:p>
            <a:endParaRPr kumimoji="1" lang="ko-KR" altLang="en-US" dirty="0"/>
          </a:p>
          <a:p>
            <a:r>
              <a:rPr kumimoji="1" lang="ko-KR" altLang="en-US" dirty="0"/>
              <a:t>평균 상담 시간은 </a:t>
            </a:r>
            <a:r>
              <a:rPr kumimoji="1" lang="en-US" altLang="ko-KR" dirty="0"/>
              <a:t>17% </a:t>
            </a:r>
            <a:r>
              <a:rPr kumimoji="1" lang="ko-KR" altLang="en-US" dirty="0"/>
              <a:t>단축</a:t>
            </a:r>
            <a:r>
              <a:rPr kumimoji="1" lang="en-US" altLang="ko-KR" dirty="0"/>
              <a:t>,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후처리 시간은 </a:t>
            </a:r>
            <a:r>
              <a:rPr kumimoji="1" lang="en-US" altLang="ko-KR" dirty="0"/>
              <a:t>64% </a:t>
            </a:r>
            <a:r>
              <a:rPr kumimoji="1" lang="ko-KR" altLang="en-US" dirty="0"/>
              <a:t>단축</a:t>
            </a:r>
            <a:r>
              <a:rPr kumimoji="1" lang="en-US" altLang="ko-KR" dirty="0"/>
              <a:t>,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상담 품질 평가는 </a:t>
            </a:r>
            <a:r>
              <a:rPr kumimoji="1" lang="en-US" altLang="ko-KR" dirty="0"/>
              <a:t>84% </a:t>
            </a:r>
            <a:r>
              <a:rPr kumimoji="1" lang="ko-KR" altLang="en-US" dirty="0"/>
              <a:t>자동화되며 매우 높은 효율 개선 효과를 보였습니다</a:t>
            </a:r>
            <a:r>
              <a:rPr kumimoji="1" lang="en-US" altLang="ko-KR" dirty="0"/>
              <a:t>."</a:t>
            </a:r>
          </a:p>
          <a:p>
            <a:endParaRPr kumimoji="1"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202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이번에는 신한은행의 </a:t>
            </a:r>
            <a:r>
              <a:rPr kumimoji="1" lang="en" altLang="ko-KR" dirty="0"/>
              <a:t>AI </a:t>
            </a:r>
            <a:r>
              <a:rPr kumimoji="1" lang="ko-KR" altLang="en-US" dirty="0"/>
              <a:t>기반 업무 자동화 사례를 </a:t>
            </a:r>
            <a:r>
              <a:rPr kumimoji="1" lang="ko-KR" altLang="en-US" dirty="0" err="1"/>
              <a:t>소개드리겠습니다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신한은행은 현재 약 </a:t>
            </a:r>
            <a:r>
              <a:rPr kumimoji="1" lang="en-US" altLang="ko-KR" dirty="0"/>
              <a:t>40</a:t>
            </a:r>
            <a:r>
              <a:rPr kumimoji="1" lang="ko-KR" altLang="en-US" dirty="0"/>
              <a:t>여 개의 업무를 자동화하고 있으며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대표적으로 **</a:t>
            </a:r>
            <a:r>
              <a:rPr kumimoji="1" lang="en" altLang="ko-KR" dirty="0"/>
              <a:t>AI </a:t>
            </a:r>
            <a:r>
              <a:rPr kumimoji="1" lang="ko-KR" altLang="en-US" dirty="0"/>
              <a:t>몰리</a:t>
            </a:r>
            <a:r>
              <a:rPr kumimoji="1" lang="en-US" altLang="ko-KR" dirty="0"/>
              <a:t>(</a:t>
            </a:r>
            <a:r>
              <a:rPr kumimoji="1" lang="en" altLang="ko-KR" dirty="0"/>
              <a:t>MOLLI)**</a:t>
            </a:r>
            <a:r>
              <a:rPr kumimoji="1" lang="ko-KR" altLang="en-US" dirty="0"/>
              <a:t>와 </a:t>
            </a:r>
            <a:r>
              <a:rPr kumimoji="1" lang="en" altLang="ko-KR" dirty="0"/>
              <a:t>AI ONE </a:t>
            </a:r>
            <a:r>
              <a:rPr kumimoji="1" lang="ko-KR" altLang="en-US" dirty="0"/>
              <a:t>두 가지 시스템이 활용되고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먼저 </a:t>
            </a:r>
            <a:r>
              <a:rPr kumimoji="1" lang="en" altLang="ko-KR" dirty="0"/>
              <a:t>AI </a:t>
            </a:r>
            <a:r>
              <a:rPr kumimoji="1" lang="ko-KR" altLang="en-US" dirty="0"/>
              <a:t>몰리는</a:t>
            </a:r>
          </a:p>
          <a:p>
            <a:r>
              <a:rPr kumimoji="1" lang="ko-KR" altLang="en-US" dirty="0"/>
              <a:t>간단한 키워드만 입력하면 지능형 맞춤 조회를 통해</a:t>
            </a:r>
          </a:p>
          <a:p>
            <a:r>
              <a:rPr kumimoji="1" lang="ko-KR" altLang="en-US" dirty="0"/>
              <a:t>원하는 정보를 빠르게 찾을 수 있도록 도와줍니다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고객 전송용 자료를 검색부터 발송까지 한 번에 처리할 수 있어</a:t>
            </a:r>
          </a:p>
          <a:p>
            <a:r>
              <a:rPr kumimoji="1" lang="ko-KR" altLang="en-US" dirty="0"/>
              <a:t>고객 응대 효율을 크게 향상시킵니다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" altLang="ko-KR" dirty="0"/>
              <a:t>AI ONE</a:t>
            </a:r>
            <a:r>
              <a:rPr kumimoji="1" lang="ko-KR" altLang="en-US" dirty="0"/>
              <a:t>은</a:t>
            </a:r>
          </a:p>
          <a:p>
            <a:r>
              <a:rPr kumimoji="1" lang="ko-KR" altLang="en-US" dirty="0"/>
              <a:t>음성 인식 기반으로 작동하며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업무 지식 검색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시장 지표 확인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마케팅 문서 작성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대출업무 관련 서류 발송 등</a:t>
            </a:r>
          </a:p>
          <a:p>
            <a:r>
              <a:rPr kumimoji="1" lang="en-US" altLang="ko-KR" dirty="0"/>
              <a:t>40</a:t>
            </a:r>
            <a:r>
              <a:rPr kumimoji="1" lang="ko-KR" altLang="en-US" dirty="0"/>
              <a:t>여 가지 업무를 비서처럼 지원합니다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신한은행은 향후 전체 업무의 약 </a:t>
            </a:r>
            <a:r>
              <a:rPr kumimoji="1" lang="en-US" altLang="ko-KR" dirty="0"/>
              <a:t>80% </a:t>
            </a:r>
            <a:r>
              <a:rPr kumimoji="1" lang="ko-KR" altLang="en-US" dirty="0"/>
              <a:t>수준까지 자동화 영역을 확대할 계획이며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이를 통해 업무 효율성과 정확성을 동시에 향상시키고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90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A894-6605-E034-7E66-60908AAB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B7A268-5950-1C25-0994-5BB879392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9ABCE4-3157-608C-D688-FD18CF3FF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이번에는 신한은행의 </a:t>
            </a:r>
            <a:r>
              <a:rPr kumimoji="1" lang="en" altLang="ko-KR" dirty="0"/>
              <a:t>AI </a:t>
            </a:r>
            <a:r>
              <a:rPr kumimoji="1" lang="ko-KR" altLang="en-US" dirty="0"/>
              <a:t>기반 업무 자동화 사례를 </a:t>
            </a:r>
            <a:r>
              <a:rPr kumimoji="1" lang="ko-KR" altLang="en-US" dirty="0" err="1"/>
              <a:t>소개드리겠습니다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신한은행은 현재 약 </a:t>
            </a:r>
            <a:r>
              <a:rPr kumimoji="1" lang="en-US" altLang="ko-KR" dirty="0"/>
              <a:t>40</a:t>
            </a:r>
            <a:r>
              <a:rPr kumimoji="1" lang="ko-KR" altLang="en-US" dirty="0"/>
              <a:t>여 개의 업무를 자동화하고 있으며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대표적으로 **</a:t>
            </a:r>
            <a:r>
              <a:rPr kumimoji="1" lang="en" altLang="ko-KR" dirty="0"/>
              <a:t>AI </a:t>
            </a:r>
            <a:r>
              <a:rPr kumimoji="1" lang="ko-KR" altLang="en-US" dirty="0"/>
              <a:t>몰리</a:t>
            </a:r>
            <a:r>
              <a:rPr kumimoji="1" lang="en-US" altLang="ko-KR" dirty="0"/>
              <a:t>(</a:t>
            </a:r>
            <a:r>
              <a:rPr kumimoji="1" lang="en" altLang="ko-KR" dirty="0"/>
              <a:t>MOLLI)**</a:t>
            </a:r>
            <a:r>
              <a:rPr kumimoji="1" lang="ko-KR" altLang="en-US" dirty="0"/>
              <a:t>와 </a:t>
            </a:r>
            <a:r>
              <a:rPr kumimoji="1" lang="en" altLang="ko-KR" dirty="0"/>
              <a:t>AI ONE </a:t>
            </a:r>
            <a:r>
              <a:rPr kumimoji="1" lang="ko-KR" altLang="en-US" dirty="0"/>
              <a:t>두 가지 시스템이 활용되고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먼저 </a:t>
            </a:r>
            <a:r>
              <a:rPr kumimoji="1" lang="en" altLang="ko-KR" dirty="0"/>
              <a:t>AI </a:t>
            </a:r>
            <a:r>
              <a:rPr kumimoji="1" lang="ko-KR" altLang="en-US" dirty="0"/>
              <a:t>몰리는</a:t>
            </a:r>
          </a:p>
          <a:p>
            <a:r>
              <a:rPr kumimoji="1" lang="ko-KR" altLang="en-US" dirty="0"/>
              <a:t>간단한 키워드만 입력하면 지능형 맞춤 조회를 통해</a:t>
            </a:r>
          </a:p>
          <a:p>
            <a:r>
              <a:rPr kumimoji="1" lang="ko-KR" altLang="en-US" dirty="0"/>
              <a:t>원하는 정보를 빠르게 찾을 수 있도록 도와줍니다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고객 전송용 자료를 검색부터 발송까지 한 번에 처리할 수 있어</a:t>
            </a:r>
          </a:p>
          <a:p>
            <a:r>
              <a:rPr kumimoji="1" lang="ko-KR" altLang="en-US" dirty="0"/>
              <a:t>고객 응대 효율을 크게 향상시킵니다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" altLang="ko-KR" dirty="0"/>
              <a:t>AI ONE</a:t>
            </a:r>
            <a:r>
              <a:rPr kumimoji="1" lang="ko-KR" altLang="en-US" dirty="0"/>
              <a:t>은</a:t>
            </a:r>
          </a:p>
          <a:p>
            <a:r>
              <a:rPr kumimoji="1" lang="ko-KR" altLang="en-US" dirty="0"/>
              <a:t>음성 인식 기반으로 작동하며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업무 지식 검색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시장 지표 확인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마케팅 문서 작성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대출업무 관련 서류 발송 등</a:t>
            </a:r>
          </a:p>
          <a:p>
            <a:r>
              <a:rPr kumimoji="1" lang="en-US" altLang="ko-KR" dirty="0"/>
              <a:t>40</a:t>
            </a:r>
            <a:r>
              <a:rPr kumimoji="1" lang="ko-KR" altLang="en-US" dirty="0"/>
              <a:t>여 가지 업무를 비서처럼 지원합니다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신한은행은 향후 전체 업무의 약 </a:t>
            </a:r>
            <a:r>
              <a:rPr kumimoji="1" lang="en-US" altLang="ko-KR" dirty="0"/>
              <a:t>80% </a:t>
            </a:r>
            <a:r>
              <a:rPr kumimoji="1" lang="ko-KR" altLang="en-US" dirty="0"/>
              <a:t>수준까지 자동화 영역을 확대할 계획이며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이를 통해 업무 효율성과 정확성을 동시에 향상시키고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CBDFF-3D4F-3806-6D8C-271B76092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9269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04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80167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Chapter 1.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생성형 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AI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개념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2025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302684991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Chapter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２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.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생성형 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AI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적용 사례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2025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938080393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9" r:id="rId2"/>
    <p:sldLayoutId id="214748370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3811" y="2023562"/>
            <a:ext cx="337143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rPr>
              <a:t>생성형 </a:t>
            </a:r>
            <a:r>
              <a:rPr kumimoji="0" lang="en-US" altLang="ko-KR" sz="3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rPr>
              <a:t>AI </a:t>
            </a:r>
            <a:r>
              <a:rPr kumimoji="0" lang="ko-KR" altLang="en-US" sz="3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rPr>
              <a:t>개념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2969" y="2737937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rPr>
              <a:t>장준호</a:t>
            </a:r>
            <a:endParaRPr kumimoji="0" lang="en-US" altLang="ko-KR" sz="1600" b="0" i="0" u="none" strike="noStrike" kern="1200" cap="none" spc="300" normalizeH="0" baseline="0" noProof="0" dirty="0">
              <a:ln>
                <a:noFill/>
              </a:ln>
              <a:gradFill>
                <a:gsLst>
                  <a:gs pos="54583">
                    <a:srgbClr val="143F90"/>
                  </a:gs>
                  <a:gs pos="47500">
                    <a:srgbClr val="143F90"/>
                  </a:gs>
                </a:gsLst>
                <a:lin ang="5400000" scaled="0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B766D6-D24B-4EF3-99AB-0E700B49FB76}"/>
              </a:ext>
            </a:extLst>
          </p:cNvPr>
          <p:cNvSpPr/>
          <p:nvPr/>
        </p:nvSpPr>
        <p:spPr>
          <a:xfrm>
            <a:off x="4973950" y="116632"/>
            <a:ext cx="473398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8750">
                      <a:prstClr val="black">
                        <a:lumMod val="50000"/>
                        <a:lumOff val="50000"/>
                      </a:prstClr>
                    </a:gs>
                    <a:gs pos="16000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NOTICE: Proprietary and Confidential Copyright ©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8750">
                      <a:prstClr val="black">
                        <a:lumMod val="50000"/>
                        <a:lumOff val="50000"/>
                      </a:prstClr>
                    </a:gs>
                    <a:gs pos="16000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8750">
                      <a:prstClr val="black">
                        <a:lumMod val="50000"/>
                        <a:lumOff val="50000"/>
                      </a:prstClr>
                    </a:gs>
                    <a:gs pos="16000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643F-0F61-4F13-995A-D52EF8C8A027}"/>
              </a:ext>
            </a:extLst>
          </p:cNvPr>
          <p:cNvSpPr txBox="1"/>
          <p:nvPr/>
        </p:nvSpPr>
        <p:spPr>
          <a:xfrm>
            <a:off x="436687" y="101243"/>
            <a:ext cx="2230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8750">
                      <a:prstClr val="black">
                        <a:lumMod val="50000"/>
                        <a:lumOff val="50000"/>
                      </a:prstClr>
                    </a:gs>
                    <a:gs pos="16000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8750">
                      <a:prstClr val="black">
                        <a:lumMod val="50000"/>
                        <a:lumOff val="50000"/>
                      </a:prstClr>
                    </a:gs>
                    <a:gs pos="16000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Consulting Dept. </a:t>
            </a:r>
          </a:p>
        </p:txBody>
      </p:sp>
    </p:spTree>
    <p:extLst>
      <p:ext uri="{BB962C8B-B14F-4D97-AF65-F5344CB8AC3E}">
        <p14:creationId xmlns:p14="http://schemas.microsoft.com/office/powerpoint/2010/main" val="350667185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2504728" y="1916832"/>
            <a:ext cx="913649" cy="2602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울릉도B" panose="02030600000101010101" pitchFamily="18" charset="-127"/>
                <a:ea typeface="HY울릉도B" panose="02030600000101010101" pitchFamily="18" charset="-127"/>
                <a:cs typeface="+mn-cs"/>
              </a:rPr>
              <a:t>DAY 1</a:t>
            </a:r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4897C9">
                    <a:lumMod val="60000"/>
                    <a:lumOff val="4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울릉도B" panose="02030600000101010101" pitchFamily="18" charset="-127"/>
              <a:ea typeface="HY울릉도B" panose="02030600000101010101" pitchFamily="18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713862" y="1916832"/>
            <a:ext cx="2723430" cy="912336"/>
            <a:chOff x="3313857" y="2132856"/>
            <a:chExt cx="2723430" cy="912336"/>
          </a:xfrm>
        </p:grpSpPr>
        <p:sp>
          <p:nvSpPr>
            <p:cNvPr id="17" name="직사각형 16"/>
            <p:cNvSpPr/>
            <p:nvPr/>
          </p:nvSpPr>
          <p:spPr>
            <a:xfrm>
              <a:off x="3313857" y="2132856"/>
              <a:ext cx="1043555" cy="902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1.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2.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3.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HY울릉도B" panose="02030600000101010101" pitchFamily="18" charset="-127"/>
                <a:ea typeface="HY울릉도B" panose="02030600000101010101" pitchFamily="18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420369" y="2142381"/>
              <a:ext cx="1616918" cy="902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SPSS Statistics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소개</a:t>
              </a:r>
              <a:endParaRPr kumimoji="0" lang="en-US" altLang="ko-KR" sz="14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B"/>
                <a:ea typeface="Rix고딕 B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Working with Data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Data Manipulation I</a:t>
              </a: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2504728" y="3222501"/>
            <a:ext cx="913649" cy="2602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울릉도B" panose="02030600000101010101" pitchFamily="18" charset="-127"/>
                <a:ea typeface="HY울릉도B" panose="02030600000101010101" pitchFamily="18" charset="-127"/>
                <a:cs typeface="+mn-cs"/>
              </a:rPr>
              <a:t>DAY 2</a:t>
            </a:r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4897C9">
                    <a:lumMod val="60000"/>
                    <a:lumOff val="4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울릉도B" panose="02030600000101010101" pitchFamily="18" charset="-127"/>
              <a:ea typeface="HY울릉도B" panose="02030600000101010101" pitchFamily="18" charset="-127"/>
              <a:cs typeface="+mn-cs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713862" y="3212976"/>
            <a:ext cx="3759418" cy="912336"/>
            <a:chOff x="3313857" y="2132856"/>
            <a:chExt cx="3759418" cy="912336"/>
          </a:xfrm>
        </p:grpSpPr>
        <p:sp>
          <p:nvSpPr>
            <p:cNvPr id="35" name="직사각형 34"/>
            <p:cNvSpPr/>
            <p:nvPr/>
          </p:nvSpPr>
          <p:spPr>
            <a:xfrm>
              <a:off x="3313857" y="2132856"/>
              <a:ext cx="1043555" cy="902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4.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5.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effectLst/>
                  <a:uLnTx/>
                  <a:uFillTx/>
                  <a:latin typeface="HY울릉도B" panose="02030600000101010101" pitchFamily="18" charset="-127"/>
                  <a:ea typeface="HY울릉도B" panose="02030600000101010101" pitchFamily="18" charset="-127"/>
                  <a:cs typeface="+mn-cs"/>
                </a:rPr>
                <a:t>CHAPTER 6.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HY울릉도B" panose="02030600000101010101" pitchFamily="18" charset="-127"/>
                <a:ea typeface="HY울릉도B" panose="02030600000101010101" pitchFamily="18" charset="-127"/>
                <a:cs typeface="+mn-cs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420369" y="2142381"/>
              <a:ext cx="2652906" cy="902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Data Manipulation II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표와 그래프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rPr>
                <a:t>SPSS Statistics 21 New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75265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3674176" y="1155973"/>
            <a:ext cx="2550699" cy="1474262"/>
            <a:chOff x="3674176" y="1155973"/>
            <a:chExt cx="2550699" cy="1474262"/>
          </a:xfrm>
        </p:grpSpPr>
        <p:sp>
          <p:nvSpPr>
            <p:cNvPr id="5" name="TextBox 4"/>
            <p:cNvSpPr txBox="1"/>
            <p:nvPr/>
          </p:nvSpPr>
          <p:spPr>
            <a:xfrm>
              <a:off x="3674176" y="2060848"/>
              <a:ext cx="2550699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10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생성형 </a:t>
              </a:r>
              <a:r>
                <a:rPr lang="en-US" altLang="ko-KR" sz="310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AI </a:t>
              </a:r>
              <a:r>
                <a:rPr lang="ko-KR" altLang="en-US" sz="310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개념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57274" y="1155973"/>
              <a:ext cx="434734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10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latin typeface="HY울릉도M" panose="02030600000101010101" pitchFamily="18" charset="-127"/>
                  <a:ea typeface="HY울릉도M" panose="02030600000101010101" pitchFamily="18" charset="-127"/>
                </a:rPr>
                <a:t>1</a:t>
              </a:r>
              <a:endParaRPr lang="ko-KR" altLang="en-US" sz="310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00B0F0"/>
                </a:solidFill>
                <a:latin typeface="HY울릉도M" panose="02030600000101010101" pitchFamily="18" charset="-127"/>
                <a:ea typeface="HY울릉도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65082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CD77-340B-8730-F5B6-0FC145FE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087ED-292B-F238-BA1A-1D59573E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기술 발전과 위대한 변곡점</a:t>
            </a:r>
          </a:p>
        </p:txBody>
      </p:sp>
      <p:sp>
        <p:nvSpPr>
          <p:cNvPr id="11" name="직사각형 13">
            <a:extLst>
              <a:ext uri="{FF2B5EF4-FFF2-40B4-BE49-F238E27FC236}">
                <a16:creationId xmlns:a16="http://schemas.microsoft.com/office/drawing/2014/main" id="{11DF85DD-8262-7FB6-ABA9-4F100CC19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이러한 변화 속에서 우리는 어떤 미래를 준비해야 할까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?</a:t>
            </a:r>
          </a:p>
        </p:txBody>
      </p:sp>
      <p:pic>
        <p:nvPicPr>
          <p:cNvPr id="13" name="그림 1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6561F1-A6AD-2A4D-D48E-382EE62019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7" t="18985"/>
          <a:stretch>
            <a:fillRect/>
          </a:stretch>
        </p:blipFill>
        <p:spPr>
          <a:xfrm>
            <a:off x="262955" y="1945407"/>
            <a:ext cx="9561512" cy="451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4119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A496-A7D8-3740-0D69-C8CEA8C4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0828B-F140-DDB7-765A-B167C8C3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비즈니스 트렌드 전망</a:t>
            </a:r>
          </a:p>
        </p:txBody>
      </p:sp>
      <p:pic>
        <p:nvPicPr>
          <p:cNvPr id="8" name="그림 7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E41FB8-34C4-802C-31C1-F70F00F7B26F}"/>
              </a:ext>
            </a:extLst>
          </p:cNvPr>
          <p:cNvPicPr>
            <a:picLocks/>
          </p:cNvPicPr>
          <p:nvPr/>
        </p:nvPicPr>
        <p:blipFill>
          <a:blip r:embed="rId2"/>
          <a:srcRect t="18985" r="6385" b="2531"/>
          <a:stretch>
            <a:fillRect/>
          </a:stretch>
        </p:blipFill>
        <p:spPr>
          <a:xfrm>
            <a:off x="262799" y="1916831"/>
            <a:ext cx="9561600" cy="4514400"/>
          </a:xfrm>
          <a:prstGeom prst="rect">
            <a:avLst/>
          </a:prstGeom>
        </p:spPr>
      </p:pic>
      <p:sp>
        <p:nvSpPr>
          <p:cNvPr id="9" name="직사각형 13">
            <a:extLst>
              <a:ext uri="{FF2B5EF4-FFF2-40B4-BE49-F238E27FC236}">
                <a16:creationId xmlns:a16="http://schemas.microsoft.com/office/drawing/2014/main" id="{4E3C4B49-4738-231C-3099-4C1BE95F1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이러한 변화 속에서 우리는 어떤 미래를 준비해야 할까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122136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C5A9-146E-5BD5-F83E-EFD8A62C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</a:t>
            </a:r>
            <a:r>
              <a:rPr lang="en-US" altLang="ko-KR" dirty="0"/>
              <a:t>3</a:t>
            </a:r>
            <a:r>
              <a:rPr lang="ko-KR" altLang="en-US" dirty="0"/>
              <a:t>년간 </a:t>
            </a:r>
            <a:r>
              <a:rPr lang="en-US" altLang="ko-KR" dirty="0"/>
              <a:t>AI </a:t>
            </a:r>
            <a:r>
              <a:rPr lang="ko-KR" altLang="en-US" dirty="0"/>
              <a:t>도입과 영향력 전망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A69291-AF0C-CDBC-9564-139D21F35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66" y="2149163"/>
            <a:ext cx="8483546" cy="34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051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894CF-7FB0-1632-62B3-448642C9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Chat GPT</a:t>
            </a:r>
            <a:r>
              <a:rPr lang="ko-KR" altLang="en-US" dirty="0"/>
              <a:t>의 출현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62E306-B609-6F7A-9825-18120D7FA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26" y="2270308"/>
            <a:ext cx="8737804" cy="355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5607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426DE-A983-A4F1-7F84-D88C2BE5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은 어떻게 만들어진 모델인가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73FCF7C-DFF3-72C9-44BB-40740A9AB7C0}"/>
              </a:ext>
            </a:extLst>
          </p:cNvPr>
          <p:cNvSpPr/>
          <p:nvPr/>
        </p:nvSpPr>
        <p:spPr bwMode="auto">
          <a:xfrm>
            <a:off x="287561" y="1394821"/>
            <a:ext cx="9077995" cy="4863708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04" tIns="121904" rIns="121904" bIns="121904" numCol="1" rtlCol="0" anchor="t" anchorCtr="0" compatLnSpc="1">
            <a:prstTxWarp prst="textNoShape">
              <a:avLst/>
            </a:prstTxWarp>
          </a:bodyPr>
          <a:lstStyle/>
          <a:p>
            <a:pPr defTabSz="1218896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rgbClr val="FFFFFF"/>
              </a:solidFill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sp>
        <p:nvSpPr>
          <p:cNvPr id="50" name="Rectangle 73">
            <a:extLst>
              <a:ext uri="{FF2B5EF4-FFF2-40B4-BE49-F238E27FC236}">
                <a16:creationId xmlns:a16="http://schemas.microsoft.com/office/drawing/2014/main" id="{35E9B96B-5AD0-C221-579F-2F787BC774DB}"/>
              </a:ext>
            </a:extLst>
          </p:cNvPr>
          <p:cNvSpPr/>
          <p:nvPr/>
        </p:nvSpPr>
        <p:spPr bwMode="auto">
          <a:xfrm>
            <a:off x="6726503" y="1394821"/>
            <a:ext cx="2414229" cy="4863708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04" tIns="121904" rIns="121904" bIns="121904" numCol="1" rtlCol="0" anchor="t" anchorCtr="0" compatLnSpc="1">
            <a:prstTxWarp prst="textNoShape">
              <a:avLst/>
            </a:prstTxWarp>
          </a:bodyPr>
          <a:lstStyle/>
          <a:p>
            <a:pPr defTabSz="1218896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rgbClr val="FFFFFF"/>
              </a:solidFill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sp>
        <p:nvSpPr>
          <p:cNvPr id="52" name="Rectangle 75">
            <a:extLst>
              <a:ext uri="{FF2B5EF4-FFF2-40B4-BE49-F238E27FC236}">
                <a16:creationId xmlns:a16="http://schemas.microsoft.com/office/drawing/2014/main" id="{D323F956-9D73-4467-AC8F-63E907A86325}"/>
              </a:ext>
            </a:extLst>
          </p:cNvPr>
          <p:cNvSpPr/>
          <p:nvPr/>
        </p:nvSpPr>
        <p:spPr bwMode="auto">
          <a:xfrm>
            <a:off x="287561" y="1552362"/>
            <a:ext cx="9077995" cy="4863708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04" tIns="121904" rIns="121904" bIns="121904" numCol="1" rtlCol="0" anchor="t" anchorCtr="0" compatLnSpc="1">
            <a:prstTxWarp prst="textNoShape">
              <a:avLst/>
            </a:prstTxWarp>
          </a:bodyPr>
          <a:lstStyle/>
          <a:p>
            <a:pPr defTabSz="1218896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rgbClr val="FFFFFF"/>
              </a:solidFill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C3FFF236-EB8A-0E27-514B-E21C864828E9}"/>
              </a:ext>
            </a:extLst>
          </p:cNvPr>
          <p:cNvCxnSpPr>
            <a:cxnSpLocks/>
          </p:cNvCxnSpPr>
          <p:nvPr/>
        </p:nvCxnSpPr>
        <p:spPr>
          <a:xfrm>
            <a:off x="566515" y="2276840"/>
            <a:ext cx="8772968" cy="0"/>
          </a:xfrm>
          <a:prstGeom prst="line">
            <a:avLst/>
          </a:prstGeom>
          <a:noFill/>
          <a:ln w="28575" cap="flat" cmpd="sng" algn="ctr">
            <a:solidFill>
              <a:srgbClr val="E8E8E8"/>
            </a:solidFill>
            <a:prstDash val="solid"/>
          </a:ln>
          <a:effectLst/>
        </p:spPr>
      </p:cxn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566F041D-0DD4-62BB-91A7-984F345DB092}"/>
              </a:ext>
            </a:extLst>
          </p:cNvPr>
          <p:cNvGrpSpPr/>
          <p:nvPr/>
        </p:nvGrpSpPr>
        <p:grpSpPr>
          <a:xfrm>
            <a:off x="2029728" y="3903132"/>
            <a:ext cx="785974" cy="648672"/>
            <a:chOff x="3297642" y="3881367"/>
            <a:chExt cx="785974" cy="648672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AE5E7200-2CBD-79F8-2DC5-6A2661968C41}"/>
                </a:ext>
              </a:extLst>
            </p:cNvPr>
            <p:cNvSpPr txBox="1"/>
            <p:nvPr/>
          </p:nvSpPr>
          <p:spPr>
            <a:xfrm>
              <a:off x="3297642" y="3881367"/>
              <a:ext cx="785974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300" dirty="0"/>
                <a:t> </a:t>
              </a:r>
              <a:r>
                <a:rPr lang="ko-KR" altLang="en-US" sz="1300" dirty="0"/>
                <a:t>학습</a:t>
              </a:r>
            </a:p>
          </p:txBody>
        </p: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0E5FAB54-7AF7-FFD4-1C90-4EC7BB29ACF4}"/>
                </a:ext>
              </a:extLst>
            </p:cNvPr>
            <p:cNvGrpSpPr/>
            <p:nvPr/>
          </p:nvGrpSpPr>
          <p:grpSpPr>
            <a:xfrm>
              <a:off x="3357858" y="4108533"/>
              <a:ext cx="314321" cy="421506"/>
              <a:chOff x="4838703" y="3983832"/>
              <a:chExt cx="314321" cy="470306"/>
            </a:xfrm>
          </p:grpSpPr>
          <p:sp>
            <p:nvSpPr>
              <p:cNvPr id="212" name="이등변 삼각형 211">
                <a:extLst>
                  <a:ext uri="{FF2B5EF4-FFF2-40B4-BE49-F238E27FC236}">
                    <a16:creationId xmlns:a16="http://schemas.microsoft.com/office/drawing/2014/main" id="{9233C1D1-4A78-52CC-4D94-AF87B2D318B8}"/>
                  </a:ext>
                </a:extLst>
              </p:cNvPr>
              <p:cNvSpPr/>
              <p:nvPr/>
            </p:nvSpPr>
            <p:spPr>
              <a:xfrm rot="5400000">
                <a:off x="4796429" y="4097543"/>
                <a:ext cx="470306" cy="242884"/>
              </a:xfrm>
              <a:prstGeom prst="triangle">
                <a:avLst/>
              </a:prstGeom>
              <a:solidFill>
                <a:srgbClr val="14486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213" name="이등변 삼각형 212">
                <a:extLst>
                  <a:ext uri="{FF2B5EF4-FFF2-40B4-BE49-F238E27FC236}">
                    <a16:creationId xmlns:a16="http://schemas.microsoft.com/office/drawing/2014/main" id="{FD31C848-7524-322E-1428-B2C294551204}"/>
                  </a:ext>
                </a:extLst>
              </p:cNvPr>
              <p:cNvSpPr/>
              <p:nvPr/>
            </p:nvSpPr>
            <p:spPr>
              <a:xfrm rot="5400000">
                <a:off x="4724992" y="4097543"/>
                <a:ext cx="470306" cy="242884"/>
              </a:xfrm>
              <a:prstGeom prst="triangl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ko-KR" altLang="en-US" sz="900" kern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E8E8E8">
                      <a:lumMod val="10000"/>
                    </a:srgbClr>
                  </a:solidFill>
                </a:endParaRPr>
              </a:p>
            </p:txBody>
          </p:sp>
        </p:grp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64AF20F-5A79-6540-358F-5D775D21D9A5}"/>
              </a:ext>
            </a:extLst>
          </p:cNvPr>
          <p:cNvGrpSpPr/>
          <p:nvPr/>
        </p:nvGrpSpPr>
        <p:grpSpPr>
          <a:xfrm>
            <a:off x="635248" y="2792744"/>
            <a:ext cx="1102282" cy="3068949"/>
            <a:chOff x="950119" y="2709511"/>
            <a:chExt cx="1102282" cy="3068949"/>
          </a:xfrm>
        </p:grpSpPr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2ED31556-43E2-0ACB-094B-BF363EC2FFA8}"/>
                </a:ext>
              </a:extLst>
            </p:cNvPr>
            <p:cNvSpPr/>
            <p:nvPr/>
          </p:nvSpPr>
          <p:spPr>
            <a:xfrm>
              <a:off x="1465961" y="5509546"/>
              <a:ext cx="70599" cy="268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50000"/>
                </a:lnSpc>
              </a:pPr>
              <a:r>
                <a:rPr kumimoji="1" lang="en-US" altLang="ko-KR" sz="1200" kern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kumimoji="1" lang="en-US" altLang="ko-KR" sz="1200" kern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kumimoji="1" lang="en-US" altLang="ko-KR" sz="1200" kern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.</a:t>
              </a:r>
              <a:endParaRPr kumimoji="1" lang="ko-KR" altLang="en-US" sz="1200" kern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27E3FAB2-CF3C-A7D0-13E1-9EA4B50552E6}"/>
                </a:ext>
              </a:extLst>
            </p:cNvPr>
            <p:cNvGrpSpPr/>
            <p:nvPr/>
          </p:nvGrpSpPr>
          <p:grpSpPr>
            <a:xfrm>
              <a:off x="950119" y="4669070"/>
              <a:ext cx="1102282" cy="609320"/>
              <a:chOff x="1018336" y="4256640"/>
              <a:chExt cx="1102282" cy="609320"/>
            </a:xfrm>
          </p:grpSpPr>
          <p:pic>
            <p:nvPicPr>
              <p:cNvPr id="223" name="그림 222">
                <a:extLst>
                  <a:ext uri="{FF2B5EF4-FFF2-40B4-BE49-F238E27FC236}">
                    <a16:creationId xmlns:a16="http://schemas.microsoft.com/office/drawing/2014/main" id="{03E0A135-EF02-A10F-C619-49B158D96A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24" r="12624" b="31836"/>
              <a:stretch/>
            </p:blipFill>
            <p:spPr>
              <a:xfrm>
                <a:off x="1324931" y="4256640"/>
                <a:ext cx="536165" cy="424376"/>
              </a:xfrm>
              <a:prstGeom prst="rect">
                <a:avLst/>
              </a:prstGeom>
            </p:spPr>
          </p:pic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DDC415C4-FDAD-1147-5591-5DF1BE8408F1}"/>
                  </a:ext>
                </a:extLst>
              </p:cNvPr>
              <p:cNvSpPr txBox="1"/>
              <p:nvPr/>
            </p:nvSpPr>
            <p:spPr>
              <a:xfrm>
                <a:off x="1018336" y="4681294"/>
                <a:ext cx="110228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대용량 음성</a:t>
                </a:r>
                <a:r>
                  <a:rPr lang="en-US" altLang="ko-KR" sz="120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/</a:t>
                </a:r>
                <a:r>
                  <a:rPr lang="ko-KR" altLang="en-US" sz="120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영상</a:t>
                </a:r>
                <a:endParaRPr lang="en-US" altLang="ko-KR" sz="1200" dirty="0"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31E77002-BCD4-7813-360B-0433E07F200B}"/>
                </a:ext>
              </a:extLst>
            </p:cNvPr>
            <p:cNvGrpSpPr/>
            <p:nvPr/>
          </p:nvGrpSpPr>
          <p:grpSpPr>
            <a:xfrm>
              <a:off x="950119" y="3689291"/>
              <a:ext cx="1102282" cy="609320"/>
              <a:chOff x="1018336" y="4256640"/>
              <a:chExt cx="1102282" cy="609320"/>
            </a:xfrm>
          </p:grpSpPr>
          <p:pic>
            <p:nvPicPr>
              <p:cNvPr id="221" name="그림 220">
                <a:extLst>
                  <a:ext uri="{FF2B5EF4-FFF2-40B4-BE49-F238E27FC236}">
                    <a16:creationId xmlns:a16="http://schemas.microsoft.com/office/drawing/2014/main" id="{F359AAA1-39DE-FC08-14AE-C5303BF6CA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24" r="12624" b="31836"/>
              <a:stretch/>
            </p:blipFill>
            <p:spPr>
              <a:xfrm>
                <a:off x="1324931" y="4256640"/>
                <a:ext cx="536165" cy="424376"/>
              </a:xfrm>
              <a:prstGeom prst="rect">
                <a:avLst/>
              </a:prstGeom>
            </p:spPr>
          </p:pic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B387F857-DF93-9FEB-17CD-6E65B06FA9F2}"/>
                  </a:ext>
                </a:extLst>
              </p:cNvPr>
              <p:cNvSpPr txBox="1"/>
              <p:nvPr/>
            </p:nvSpPr>
            <p:spPr>
              <a:xfrm>
                <a:off x="1018336" y="4681294"/>
                <a:ext cx="110228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120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대용량 이미지</a:t>
                </a:r>
                <a:endParaRPr lang="en-US" altLang="ko-KR" sz="1200" dirty="0"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3FEBC057-ACB9-DEFC-FFBA-69CDE15DA25B}"/>
                </a:ext>
              </a:extLst>
            </p:cNvPr>
            <p:cNvGrpSpPr/>
            <p:nvPr/>
          </p:nvGrpSpPr>
          <p:grpSpPr>
            <a:xfrm>
              <a:off x="950119" y="2709511"/>
              <a:ext cx="1102282" cy="609320"/>
              <a:chOff x="1018336" y="4256640"/>
              <a:chExt cx="1102282" cy="609320"/>
            </a:xfrm>
          </p:grpSpPr>
          <p:pic>
            <p:nvPicPr>
              <p:cNvPr id="219" name="그림 218">
                <a:extLst>
                  <a:ext uri="{FF2B5EF4-FFF2-40B4-BE49-F238E27FC236}">
                    <a16:creationId xmlns:a16="http://schemas.microsoft.com/office/drawing/2014/main" id="{13FB1E3A-AEC8-C490-0FBD-009FA2BF41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24" r="12624" b="31836"/>
              <a:stretch/>
            </p:blipFill>
            <p:spPr>
              <a:xfrm>
                <a:off x="1324931" y="4256640"/>
                <a:ext cx="536165" cy="424376"/>
              </a:xfrm>
              <a:prstGeom prst="rect">
                <a:avLst/>
              </a:prstGeom>
            </p:spPr>
          </p:pic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F47F553-116F-4FA3-E42E-E733915C72D2}"/>
                  </a:ext>
                </a:extLst>
              </p:cNvPr>
              <p:cNvSpPr txBox="1"/>
              <p:nvPr/>
            </p:nvSpPr>
            <p:spPr>
              <a:xfrm>
                <a:off x="1018336" y="4681294"/>
                <a:ext cx="110228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대용량 텍스트</a:t>
                </a:r>
                <a:endParaRPr lang="en-US" altLang="ko-KR" sz="1200" dirty="0"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1E3CA28A-AE27-584A-214D-AD1BE8FD30ED}"/>
              </a:ext>
            </a:extLst>
          </p:cNvPr>
          <p:cNvGrpSpPr/>
          <p:nvPr/>
        </p:nvGrpSpPr>
        <p:grpSpPr>
          <a:xfrm>
            <a:off x="2781635" y="2581843"/>
            <a:ext cx="3754727" cy="3230113"/>
            <a:chOff x="2921648" y="2784462"/>
            <a:chExt cx="3754727" cy="3230113"/>
          </a:xfrm>
        </p:grpSpPr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3F7BBD39-C000-3DB5-9B04-D22ACF9F1F48}"/>
                </a:ext>
              </a:extLst>
            </p:cNvPr>
            <p:cNvGrpSpPr/>
            <p:nvPr/>
          </p:nvGrpSpPr>
          <p:grpSpPr>
            <a:xfrm>
              <a:off x="2921648" y="3026575"/>
              <a:ext cx="3754727" cy="2988000"/>
              <a:chOff x="3074049" y="3107260"/>
              <a:chExt cx="3754727" cy="2988000"/>
            </a:xfrm>
          </p:grpSpPr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D9716BA-8554-B6E4-3DEB-B56B767C86EC}"/>
                  </a:ext>
                </a:extLst>
              </p:cNvPr>
              <p:cNvSpPr txBox="1"/>
              <p:nvPr/>
            </p:nvSpPr>
            <p:spPr>
              <a:xfrm>
                <a:off x="3074049" y="3107260"/>
                <a:ext cx="3754727" cy="2988000"/>
              </a:xfrm>
              <a:prstGeom prst="rect">
                <a:avLst/>
              </a:prstGeom>
              <a:solidFill>
                <a:srgbClr val="E6F2F8"/>
              </a:solidFill>
            </p:spPr>
            <p:txBody>
              <a:bodyPr wrap="square" lIns="36000" tIns="72000" rIns="36000" bIns="36000" rtlCol="0" anchor="b">
                <a:noAutofit/>
              </a:bodyPr>
              <a:lstStyle/>
              <a:p>
                <a:pPr marL="171450" indent="-119063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LLM </a:t>
                </a:r>
                <a:r>
                  <a:rPr lang="en-US" altLang="ko-KR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: Large </a:t>
                </a:r>
                <a:r>
                  <a:rPr lang="en-US" altLang="ko-KR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Language</a:t>
                </a:r>
                <a:r>
                  <a:rPr lang="en-US" altLang="ko-KR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Models</a:t>
                </a:r>
              </a:p>
              <a:p>
                <a:pPr marL="171450" indent="-119063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0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LMM</a:t>
                </a:r>
                <a:r>
                  <a:rPr lang="en-US" altLang="ko-KR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: Large </a:t>
                </a:r>
                <a:r>
                  <a:rPr lang="en-US" altLang="ko-KR" sz="1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Multimodal Models</a:t>
                </a:r>
                <a:endParaRPr lang="ko-KR" altLang="en-US" sz="1000" dirty="0"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grpSp>
            <p:nvGrpSpPr>
              <p:cNvPr id="229" name="그룹 228">
                <a:extLst>
                  <a:ext uri="{FF2B5EF4-FFF2-40B4-BE49-F238E27FC236}">
                    <a16:creationId xmlns:a16="http://schemas.microsoft.com/office/drawing/2014/main" id="{35FB0455-7B93-BA42-65F6-908C7AB0C8CB}"/>
                  </a:ext>
                </a:extLst>
              </p:cNvPr>
              <p:cNvGrpSpPr/>
              <p:nvPr/>
            </p:nvGrpSpPr>
            <p:grpSpPr>
              <a:xfrm>
                <a:off x="3330486" y="3339230"/>
                <a:ext cx="3241853" cy="2263474"/>
                <a:chOff x="3365789" y="3339230"/>
                <a:chExt cx="3241853" cy="2263474"/>
              </a:xfrm>
            </p:grpSpPr>
            <p:grpSp>
              <p:nvGrpSpPr>
                <p:cNvPr id="230" name="그룹 229">
                  <a:extLst>
                    <a:ext uri="{FF2B5EF4-FFF2-40B4-BE49-F238E27FC236}">
                      <a16:creationId xmlns:a16="http://schemas.microsoft.com/office/drawing/2014/main" id="{7F80C182-BE36-FAD5-3312-4555DBFD6C22}"/>
                    </a:ext>
                  </a:extLst>
                </p:cNvPr>
                <p:cNvGrpSpPr/>
                <p:nvPr/>
              </p:nvGrpSpPr>
              <p:grpSpPr>
                <a:xfrm>
                  <a:off x="3365789" y="3339230"/>
                  <a:ext cx="1512000" cy="2258495"/>
                  <a:chOff x="3365789" y="3339230"/>
                  <a:chExt cx="1512000" cy="2258495"/>
                </a:xfrm>
              </p:grpSpPr>
              <p:sp>
                <p:nvSpPr>
                  <p:cNvPr id="234" name="TextBox 233">
                    <a:extLst>
                      <a:ext uri="{FF2B5EF4-FFF2-40B4-BE49-F238E27FC236}">
                        <a16:creationId xmlns:a16="http://schemas.microsoft.com/office/drawing/2014/main" id="{E2931E10-5237-4FE1-E00D-6FF69B4AE2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65789" y="3797725"/>
                    <a:ext cx="1512000" cy="180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36000" tIns="36000" rIns="36000" bIns="108000" rtlCol="0" anchor="ctr">
                    <a:noAutofit/>
                  </a:bodyPr>
                  <a:lstStyle/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>
                        <a:latin typeface="+mn-ea"/>
                      </a:rPr>
                      <a:t>GPT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>
                        <a:latin typeface="+mn-ea"/>
                      </a:rPr>
                      <a:t>Gemini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 err="1">
                        <a:latin typeface="+mn-ea"/>
                      </a:rPr>
                      <a:t>LLaMA</a:t>
                    </a:r>
                    <a:endParaRPr lang="en-US" altLang="ko-KR" sz="1100" dirty="0">
                      <a:latin typeface="+mn-ea"/>
                    </a:endParaRP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 err="1">
                        <a:latin typeface="+mn-ea"/>
                      </a:rPr>
                      <a:t>LaMDA</a:t>
                    </a:r>
                    <a:endParaRPr lang="en-US" altLang="ko-KR" sz="1100" dirty="0">
                      <a:latin typeface="+mn-ea"/>
                    </a:endParaRP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 err="1">
                        <a:latin typeface="+mn-ea"/>
                      </a:rPr>
                      <a:t>StableLM</a:t>
                    </a:r>
                    <a:endParaRPr lang="en-US" altLang="ko-KR" sz="1100" dirty="0">
                      <a:latin typeface="+mn-ea"/>
                    </a:endParaRP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Lex</a:t>
                    </a:r>
                  </a:p>
                  <a:p>
                    <a:pPr algn="ctr">
                      <a:lnSpc>
                        <a:spcPct val="5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</a:p>
                  <a:p>
                    <a:pPr algn="ctr">
                      <a:lnSpc>
                        <a:spcPct val="5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  <a:endParaRPr lang="ko-KR" altLang="en-US" sz="1100" dirty="0">
                      <a:latin typeface="+mn-ea"/>
                    </a:endParaRPr>
                  </a:p>
                  <a:p>
                    <a:pPr algn="ctr">
                      <a:lnSpc>
                        <a:spcPct val="5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  <a:endParaRPr lang="ko-KR" altLang="en-US" sz="1100" dirty="0">
                      <a:latin typeface="+mn-ea"/>
                    </a:endParaRPr>
                  </a:p>
                  <a:p>
                    <a:pPr algn="ctr">
                      <a:lnSpc>
                        <a:spcPct val="50000"/>
                      </a:lnSpc>
                    </a:pPr>
                    <a:endParaRPr lang="ko-KR" altLang="en-US" sz="1100" dirty="0">
                      <a:latin typeface="+mn-ea"/>
                    </a:endParaRPr>
                  </a:p>
                </p:txBody>
              </p:sp>
              <p:sp>
                <p:nvSpPr>
                  <p:cNvPr id="235" name="직사각형 234">
                    <a:extLst>
                      <a:ext uri="{FF2B5EF4-FFF2-40B4-BE49-F238E27FC236}">
                        <a16:creationId xmlns:a16="http://schemas.microsoft.com/office/drawing/2014/main" id="{62A5D23E-EEC9-D55B-3D6B-B9428644D4A7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3675353" y="3339230"/>
                    <a:ext cx="892873" cy="441146"/>
                  </a:xfrm>
                  <a:prstGeom prst="rect">
                    <a:avLst/>
                  </a:prstGeom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lvl="0" algn="ctr" defTabSz="914127" fontAlgn="base" latinLnBrk="0">
                      <a:spcBef>
                        <a:spcPct val="0"/>
                      </a:spcBef>
                      <a:spcAft>
                        <a:spcPts val="200"/>
                      </a:spcAft>
                      <a:defRPr/>
                    </a:pPr>
                    <a:r>
                      <a:rPr kumimoji="1" lang="en-US" altLang="ko-KR" sz="13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rgbClr val="FF6600"/>
                        </a:solidFill>
                      </a:rPr>
                      <a:t>Text to Text</a:t>
                    </a:r>
                  </a:p>
                  <a:p>
                    <a:pPr lvl="0" algn="ctr" defTabSz="914127" fontAlgn="base" latinLnBrk="0">
                      <a:spcBef>
                        <a:spcPct val="0"/>
                      </a:spcBef>
                      <a:spcAft>
                        <a:spcPts val="200"/>
                      </a:spcAft>
                      <a:defRPr/>
                    </a:pPr>
                    <a:r>
                      <a:rPr kumimoji="1" lang="en-US" altLang="ko-KR" sz="1400" b="1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rgbClr val="144862"/>
                        </a:solidFill>
                      </a:rPr>
                      <a:t>LLM</a:t>
                    </a:r>
                    <a:endParaRPr kumimoji="1" lang="en-US" altLang="ko-KR" sz="1400" b="1" kern="0" dirty="0">
                      <a:ln>
                        <a:solidFill>
                          <a:srgbClr val="69B9E1">
                            <a:lumMod val="60000"/>
                            <a:lumOff val="40000"/>
                            <a:alpha val="0"/>
                          </a:srgbClr>
                        </a:solidFill>
                      </a:ln>
                      <a:solidFill>
                        <a:schemeClr val="accent3"/>
                      </a:solidFill>
                    </a:endParaRPr>
                  </a:p>
                </p:txBody>
              </p:sp>
            </p:grpSp>
            <p:grpSp>
              <p:nvGrpSpPr>
                <p:cNvPr id="231" name="그룹 230">
                  <a:extLst>
                    <a:ext uri="{FF2B5EF4-FFF2-40B4-BE49-F238E27FC236}">
                      <a16:creationId xmlns:a16="http://schemas.microsoft.com/office/drawing/2014/main" id="{094CE597-4672-3FEB-FF22-9ECB6A6DE4DE}"/>
                    </a:ext>
                  </a:extLst>
                </p:cNvPr>
                <p:cNvGrpSpPr/>
                <p:nvPr/>
              </p:nvGrpSpPr>
              <p:grpSpPr>
                <a:xfrm>
                  <a:off x="5095642" y="3344209"/>
                  <a:ext cx="1512000" cy="2258495"/>
                  <a:chOff x="4956520" y="3339230"/>
                  <a:chExt cx="1512000" cy="2258495"/>
                </a:xfrm>
              </p:grpSpPr>
              <p:sp>
                <p:nvSpPr>
                  <p:cNvPr id="232" name="TextBox 231">
                    <a:extLst>
                      <a:ext uri="{FF2B5EF4-FFF2-40B4-BE49-F238E27FC236}">
                        <a16:creationId xmlns:a16="http://schemas.microsoft.com/office/drawing/2014/main" id="{CE57748E-BDE2-5E93-5B8A-32D1E2AAFF60}"/>
                      </a:ext>
                    </a:extLst>
                  </p:cNvPr>
                  <p:cNvSpPr txBox="1"/>
                  <p:nvPr/>
                </p:nvSpPr>
                <p:spPr>
                  <a:xfrm>
                    <a:off x="4956520" y="3797725"/>
                    <a:ext cx="1512000" cy="180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36000" rIns="0" bIns="108000" rtlCol="0" anchor="ctr">
                    <a:noAutofit/>
                  </a:bodyPr>
                  <a:lstStyle/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>
                        <a:latin typeface="+mn-ea"/>
                      </a:rPr>
                      <a:t>DALL-E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lang="en-US" altLang="ko-KR" sz="1100" dirty="0">
                        <a:latin typeface="+mn-ea"/>
                      </a:rPr>
                      <a:t>Stable Diffusion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latin typeface="+mn-ea"/>
                      </a:rPr>
                      <a:t>Make-a-scene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latin typeface="+mn-ea"/>
                      </a:rPr>
                      <a:t>Imagen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latin typeface="+mn-ea"/>
                      </a:rPr>
                      <a:t>Edify</a:t>
                    </a:r>
                  </a:p>
                  <a:p>
                    <a:pPr algn="ctr">
                      <a:lnSpc>
                        <a:spcPct val="14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</a:p>
                  <a:p>
                    <a:pPr algn="ctr">
                      <a:lnSpc>
                        <a:spcPct val="5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</a:p>
                  <a:p>
                    <a:pPr algn="ctr">
                      <a:lnSpc>
                        <a:spcPct val="50000"/>
                      </a:lnSpc>
                    </a:pPr>
                    <a:r>
                      <a:rPr kumimoji="1" lang="en-US" altLang="ko-KR" sz="11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</a:rPr>
                      <a:t>.</a:t>
                    </a:r>
                    <a:endParaRPr lang="ko-KR" altLang="en-US" sz="1100" dirty="0">
                      <a:latin typeface="+mn-ea"/>
                    </a:endParaRPr>
                  </a:p>
                </p:txBody>
              </p:sp>
              <p:sp>
                <p:nvSpPr>
                  <p:cNvPr id="233" name="직사각형 232">
                    <a:extLst>
                      <a:ext uri="{FF2B5EF4-FFF2-40B4-BE49-F238E27FC236}">
                        <a16:creationId xmlns:a16="http://schemas.microsoft.com/office/drawing/2014/main" id="{6045075B-04E1-7849-E36F-14D2EEC0E49D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5198758" y="3339230"/>
                    <a:ext cx="1027524" cy="441146"/>
                  </a:xfrm>
                  <a:prstGeom prst="rect">
                    <a:avLst/>
                  </a:prstGeom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lvl="0" algn="ctr" defTabSz="914127" fontAlgn="base" latinLnBrk="0">
                      <a:spcBef>
                        <a:spcPct val="0"/>
                      </a:spcBef>
                      <a:spcAft>
                        <a:spcPts val="200"/>
                      </a:spcAft>
                      <a:defRPr/>
                    </a:pPr>
                    <a:r>
                      <a:rPr kumimoji="1" lang="en-US" altLang="ko-KR" sz="1300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rgbClr val="FF6600"/>
                        </a:solidFill>
                      </a:rPr>
                      <a:t>Multi to Multi</a:t>
                    </a:r>
                  </a:p>
                  <a:p>
                    <a:pPr lvl="0" algn="ctr" defTabSz="914127" fontAlgn="base" latinLnBrk="0">
                      <a:spcBef>
                        <a:spcPct val="0"/>
                      </a:spcBef>
                      <a:spcAft>
                        <a:spcPts val="200"/>
                      </a:spcAft>
                      <a:defRPr/>
                    </a:pPr>
                    <a:r>
                      <a:rPr kumimoji="1" lang="en-US" altLang="ko-KR" sz="1400" b="1" kern="0" dirty="0">
                        <a:ln>
                          <a:solidFill>
                            <a:srgbClr val="69B9E1">
                              <a:lumMod val="60000"/>
                              <a:lumOff val="40000"/>
                              <a:alpha val="0"/>
                            </a:srgbClr>
                          </a:solidFill>
                        </a:ln>
                        <a:solidFill>
                          <a:srgbClr val="144862"/>
                        </a:solidFill>
                      </a:rPr>
                      <a:t>LMM</a:t>
                    </a:r>
                    <a:endParaRPr kumimoji="1" lang="en-US" altLang="ko-KR" sz="1400" b="1" kern="0" dirty="0">
                      <a:ln>
                        <a:solidFill>
                          <a:srgbClr val="69B9E1">
                            <a:lumMod val="60000"/>
                            <a:lumOff val="40000"/>
                            <a:alpha val="0"/>
                          </a:srgbClr>
                        </a:solidFill>
                      </a:ln>
                      <a:solidFill>
                        <a:schemeClr val="accent3"/>
                      </a:solidFill>
                    </a:endParaRPr>
                  </a:p>
                </p:txBody>
              </p:sp>
            </p:grpSp>
          </p:grp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697CE8D-F07D-30CC-F13D-B9C974BB3CCB}"/>
                </a:ext>
              </a:extLst>
            </p:cNvPr>
            <p:cNvSpPr txBox="1"/>
            <p:nvPr/>
          </p:nvSpPr>
          <p:spPr>
            <a:xfrm>
              <a:off x="3610072" y="2784462"/>
              <a:ext cx="237787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500" b="1" dirty="0">
                  <a:solidFill>
                    <a:srgbClr val="274073"/>
                  </a:solidFill>
                </a:rPr>
                <a:t> Pre-trained Model</a:t>
              </a:r>
              <a:endParaRPr lang="ko-KR" altLang="en-US" sz="1500" b="1" dirty="0">
                <a:solidFill>
                  <a:srgbClr val="274073"/>
                </a:solidFill>
              </a:endParaRPr>
            </a:p>
          </p:txBody>
        </p:sp>
      </p:grpSp>
      <p:sp>
        <p:nvSpPr>
          <p:cNvPr id="236" name="타원 235">
            <a:extLst>
              <a:ext uri="{FF2B5EF4-FFF2-40B4-BE49-F238E27FC236}">
                <a16:creationId xmlns:a16="http://schemas.microsoft.com/office/drawing/2014/main" id="{540FEDB4-A446-FA14-14C4-A35C052E84EA}"/>
              </a:ext>
            </a:extLst>
          </p:cNvPr>
          <p:cNvSpPr/>
          <p:nvPr/>
        </p:nvSpPr>
        <p:spPr>
          <a:xfrm>
            <a:off x="6756910" y="4224485"/>
            <a:ext cx="216000" cy="216000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>
                  <a:solidFill>
                    <a:schemeClr val="accent3">
                      <a:lumMod val="60000"/>
                      <a:lumOff val="40000"/>
                      <a:alpha val="0"/>
                    </a:schemeClr>
                  </a:solidFill>
                </a:ln>
              </a:rPr>
              <a:t>+</a:t>
            </a:r>
            <a:endParaRPr lang="ko-KR" altLang="en-US" sz="2400" dirty="0">
              <a:ln>
                <a:solidFill>
                  <a:schemeClr val="accent3">
                    <a:lumMod val="60000"/>
                    <a:lumOff val="40000"/>
                    <a:alpha val="0"/>
                  </a:schemeClr>
                </a:solidFill>
              </a:ln>
            </a:endParaRPr>
          </a:p>
        </p:txBody>
      </p: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C2E1B29-5E0F-9CAA-9DD7-2B909D1E15DA}"/>
              </a:ext>
            </a:extLst>
          </p:cNvPr>
          <p:cNvGrpSpPr/>
          <p:nvPr/>
        </p:nvGrpSpPr>
        <p:grpSpPr>
          <a:xfrm>
            <a:off x="7029770" y="3068950"/>
            <a:ext cx="2377877" cy="2314391"/>
            <a:chOff x="7037373" y="3055583"/>
            <a:chExt cx="2377877" cy="2314391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5F5C931C-70D4-4766-A114-14340D8094D6}"/>
                </a:ext>
              </a:extLst>
            </p:cNvPr>
            <p:cNvSpPr txBox="1"/>
            <p:nvPr/>
          </p:nvSpPr>
          <p:spPr>
            <a:xfrm>
              <a:off x="7287694" y="3370245"/>
              <a:ext cx="1877234" cy="1999729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>
              <a:solidFill>
                <a:schemeClr val="accent3"/>
              </a:solidFill>
            </a:ln>
          </p:spPr>
          <p:txBody>
            <a:bodyPr wrap="square" lIns="36000" tIns="72000" rIns="36000" bIns="108000" rtlCol="0" anchor="b">
              <a:no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ko-KR" altLang="en-US" sz="1000" dirty="0"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38112251-1127-88CC-E7C8-165080D3EEAF}"/>
                </a:ext>
              </a:extLst>
            </p:cNvPr>
            <p:cNvSpPr txBox="1"/>
            <p:nvPr/>
          </p:nvSpPr>
          <p:spPr>
            <a:xfrm>
              <a:off x="7037373" y="3055583"/>
              <a:ext cx="237787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500" b="1" dirty="0">
                  <a:solidFill>
                    <a:srgbClr val="FF6600"/>
                  </a:solidFill>
                </a:rPr>
                <a:t>Tuning Method </a:t>
              </a:r>
              <a:endParaRPr lang="ko-KR" altLang="en-US" sz="1500" b="1" dirty="0">
                <a:solidFill>
                  <a:srgbClr val="FF6600"/>
                </a:solidFill>
              </a:endParaRPr>
            </a:p>
          </p:txBody>
        </p:sp>
        <p:sp>
          <p:nvSpPr>
            <p:cNvPr id="240" name="사각형: 둥근 모서리 5">
              <a:extLst>
                <a:ext uri="{FF2B5EF4-FFF2-40B4-BE49-F238E27FC236}">
                  <a16:creationId xmlns:a16="http://schemas.microsoft.com/office/drawing/2014/main" id="{713195CD-DE7B-7C6A-D56F-94F0353FDE68}"/>
                </a:ext>
              </a:extLst>
            </p:cNvPr>
            <p:cNvSpPr/>
            <p:nvPr/>
          </p:nvSpPr>
          <p:spPr>
            <a:xfrm>
              <a:off x="7380311" y="3573281"/>
              <a:ext cx="1692000" cy="432060"/>
            </a:xfrm>
            <a:prstGeom prst="roundRect">
              <a:avLst>
                <a:gd name="adj" fmla="val 9601"/>
              </a:avLst>
            </a:prstGeom>
            <a:gradFill>
              <a:gsLst>
                <a:gs pos="55000">
                  <a:srgbClr val="274073"/>
                </a:gs>
                <a:gs pos="56000">
                  <a:srgbClr val="223864"/>
                </a:gs>
              </a:gsLst>
              <a:lin ang="16200000" scaled="1"/>
            </a:gradFill>
            <a:ln w="6350">
              <a:solidFill>
                <a:srgbClr val="223864"/>
              </a:solidFill>
              <a:miter lim="800000"/>
            </a:ln>
            <a:effectLst/>
          </p:spPr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Prompt Engineering</a:t>
              </a:r>
              <a:endPara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41" name="사각형: 둥근 모서리 5">
              <a:extLst>
                <a:ext uri="{FF2B5EF4-FFF2-40B4-BE49-F238E27FC236}">
                  <a16:creationId xmlns:a16="http://schemas.microsoft.com/office/drawing/2014/main" id="{4DC03D6E-6489-8F38-10C0-F3C44FB6E450}"/>
                </a:ext>
              </a:extLst>
            </p:cNvPr>
            <p:cNvSpPr/>
            <p:nvPr/>
          </p:nvSpPr>
          <p:spPr>
            <a:xfrm>
              <a:off x="7380311" y="4187370"/>
              <a:ext cx="1692000" cy="432060"/>
            </a:xfrm>
            <a:prstGeom prst="roundRect">
              <a:avLst>
                <a:gd name="adj" fmla="val 9601"/>
              </a:avLst>
            </a:prstGeom>
            <a:gradFill>
              <a:gsLst>
                <a:gs pos="55000">
                  <a:srgbClr val="274073"/>
                </a:gs>
                <a:gs pos="56000">
                  <a:srgbClr val="223864"/>
                </a:gs>
              </a:gsLst>
              <a:lin ang="16200000" scaled="1"/>
            </a:gradFill>
            <a:ln w="6350">
              <a:solidFill>
                <a:srgbClr val="223864"/>
              </a:solidFill>
              <a:miter lim="800000"/>
            </a:ln>
            <a:effectLst/>
          </p:spPr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RAG</a:t>
              </a:r>
              <a:endPara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42" name="사각형: 둥근 모서리 5">
              <a:extLst>
                <a:ext uri="{FF2B5EF4-FFF2-40B4-BE49-F238E27FC236}">
                  <a16:creationId xmlns:a16="http://schemas.microsoft.com/office/drawing/2014/main" id="{AE2F06F9-998E-EF99-CD6F-E5806D068767}"/>
                </a:ext>
              </a:extLst>
            </p:cNvPr>
            <p:cNvSpPr/>
            <p:nvPr/>
          </p:nvSpPr>
          <p:spPr>
            <a:xfrm>
              <a:off x="7380311" y="4801459"/>
              <a:ext cx="1692000" cy="432060"/>
            </a:xfrm>
            <a:prstGeom prst="roundRect">
              <a:avLst>
                <a:gd name="adj" fmla="val 9601"/>
              </a:avLst>
            </a:prstGeom>
            <a:gradFill>
              <a:gsLst>
                <a:gs pos="55000">
                  <a:srgbClr val="274073"/>
                </a:gs>
                <a:gs pos="56000">
                  <a:srgbClr val="223864"/>
                </a:gs>
              </a:gsLst>
              <a:lin ang="16200000" scaled="1"/>
            </a:gradFill>
            <a:ln w="6350">
              <a:solidFill>
                <a:srgbClr val="223864"/>
              </a:solidFill>
              <a:miter lim="800000"/>
            </a:ln>
            <a:effectLst/>
          </p:spPr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Fine Tuning</a:t>
              </a:r>
              <a:endPara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D6B71917-A56C-D3AC-5DDB-C2EA37F54018}"/>
              </a:ext>
            </a:extLst>
          </p:cNvPr>
          <p:cNvSpPr/>
          <p:nvPr/>
        </p:nvSpPr>
        <p:spPr>
          <a:xfrm rot="10800000" flipV="1">
            <a:off x="1504314" y="1549165"/>
            <a:ext cx="6122887" cy="271543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lvl="0" algn="ctr" defTabSz="914127" fontAlgn="base" latinLnBrk="0">
              <a:lnSpc>
                <a:spcPct val="110000"/>
              </a:lnSpc>
              <a:spcBef>
                <a:spcPct val="0"/>
              </a:spcBef>
              <a:spcAft>
                <a:spcPts val="700"/>
              </a:spcAft>
              <a:defRPr/>
            </a:pPr>
            <a:r>
              <a:rPr kumimoji="1" lang="en-US" altLang="ko-KR" sz="1500" kern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144862"/>
                </a:solidFill>
              </a:rPr>
              <a:t>LLM</a:t>
            </a:r>
            <a:r>
              <a:rPr kumimoji="1" lang="ko-KR" altLang="en-US" sz="1500" kern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144862"/>
                </a:solidFill>
              </a:rPr>
              <a:t>은 </a:t>
            </a:r>
            <a:r>
              <a:rPr kumimoji="1" lang="ko-KR" altLang="en-US" sz="1500" kern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FF6600"/>
                </a:solidFill>
              </a:rPr>
              <a:t>비정형</a:t>
            </a:r>
            <a:r>
              <a:rPr kumimoji="1" lang="ko-KR" altLang="en-US" sz="1500" kern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144862"/>
                </a:solidFill>
              </a:rPr>
              <a:t> 데이터를 활용하여 학습</a:t>
            </a:r>
            <a:endParaRPr kumimoji="1" lang="ko-KR" altLang="en-US" sz="1500" b="0" i="0" u="none" strike="noStrike" kern="0" cap="none" spc="0" normalizeH="0" baseline="0" noProof="0" dirty="0">
              <a:ln>
                <a:solidFill>
                  <a:srgbClr val="69B9E1">
                    <a:lumMod val="60000"/>
                    <a:lumOff val="40000"/>
                    <a:alpha val="0"/>
                  </a:srgbClr>
                </a:solidFill>
              </a:ln>
              <a:solidFill>
                <a:srgbClr val="EF5703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4660973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3B69-2350-5101-2E76-30AF825D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22E97-0E69-C8E4-F9EF-FC436920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AI(Generative AI)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어떻게 작동하는가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51A1AA-849F-81B1-FE48-ED103EE2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1959757"/>
            <a:ext cx="9005455" cy="42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7125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0BFFE-2EB6-F245-4EED-0D34477C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를 그대로 사용하는가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864" name="그룹 863">
            <a:extLst>
              <a:ext uri="{FF2B5EF4-FFF2-40B4-BE49-F238E27FC236}">
                <a16:creationId xmlns:a16="http://schemas.microsoft.com/office/drawing/2014/main" id="{FED2C09F-9479-1CFE-C771-5539F3A469D9}"/>
              </a:ext>
            </a:extLst>
          </p:cNvPr>
          <p:cNvGrpSpPr/>
          <p:nvPr/>
        </p:nvGrpSpPr>
        <p:grpSpPr>
          <a:xfrm>
            <a:off x="442801" y="1418723"/>
            <a:ext cx="9092009" cy="4909533"/>
            <a:chOff x="442801" y="1418723"/>
            <a:chExt cx="9092009" cy="4909533"/>
          </a:xfrm>
        </p:grpSpPr>
        <p:cxnSp>
          <p:nvCxnSpPr>
            <p:cNvPr id="865" name="직선 연결선 864">
              <a:extLst>
                <a:ext uri="{FF2B5EF4-FFF2-40B4-BE49-F238E27FC236}">
                  <a16:creationId xmlns:a16="http://schemas.microsoft.com/office/drawing/2014/main" id="{C8DF0200-9EC1-6474-CA6C-67680425F82C}"/>
                </a:ext>
              </a:extLst>
            </p:cNvPr>
            <p:cNvCxnSpPr>
              <a:cxnSpLocks/>
            </p:cNvCxnSpPr>
            <p:nvPr/>
          </p:nvCxnSpPr>
          <p:spPr>
            <a:xfrm>
              <a:off x="566515" y="2276840"/>
              <a:ext cx="8772968" cy="0"/>
            </a:xfrm>
            <a:prstGeom prst="line">
              <a:avLst/>
            </a:prstGeom>
            <a:noFill/>
            <a:ln w="28575" cap="flat" cmpd="sng" algn="ctr">
              <a:solidFill>
                <a:srgbClr val="E8E8E8"/>
              </a:solidFill>
              <a:prstDash val="solid"/>
            </a:ln>
            <a:effectLst/>
          </p:spPr>
        </p:cxnSp>
        <p:sp>
          <p:nvSpPr>
            <p:cNvPr id="866" name="직사각형 865">
              <a:extLst>
                <a:ext uri="{FF2B5EF4-FFF2-40B4-BE49-F238E27FC236}">
                  <a16:creationId xmlns:a16="http://schemas.microsoft.com/office/drawing/2014/main" id="{D2797D55-BD88-83B6-8CC1-24D6AC0DEA28}"/>
                </a:ext>
              </a:extLst>
            </p:cNvPr>
            <p:cNvSpPr/>
            <p:nvPr/>
          </p:nvSpPr>
          <p:spPr>
            <a:xfrm rot="10800000" flipV="1">
              <a:off x="1238251" y="1418723"/>
              <a:ext cx="7429500" cy="271543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marL="0" marR="0" lvl="0" indent="0" algn="ctr" defTabSz="914127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0" i="0" u="none" strike="noStrike" kern="0" cap="none" spc="0" normalizeH="0" baseline="0" noProof="0" dirty="0" err="1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생성형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 </a:t>
              </a:r>
              <a:r>
                <a:rPr kumimoji="1" lang="en-US" altLang="ko-KR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AI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의 </a:t>
              </a:r>
              <a:r>
                <a:rPr kumimoji="1" lang="en-US" altLang="ko-KR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EF5703"/>
                  </a:solidFill>
                  <a:effectLst/>
                  <a:uLnTx/>
                  <a:uFillTx/>
                </a:rPr>
                <a:t>3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가지 주요 기술</a:t>
              </a:r>
            </a:p>
          </p:txBody>
        </p:sp>
        <p:sp>
          <p:nvSpPr>
            <p:cNvPr id="867" name="직사각형 866">
              <a:extLst>
                <a:ext uri="{FF2B5EF4-FFF2-40B4-BE49-F238E27FC236}">
                  <a16:creationId xmlns:a16="http://schemas.microsoft.com/office/drawing/2014/main" id="{023B2A5F-584C-95DA-5273-D0D97959E5C2}"/>
                </a:ext>
              </a:extLst>
            </p:cNvPr>
            <p:cNvSpPr/>
            <p:nvPr/>
          </p:nvSpPr>
          <p:spPr>
            <a:xfrm rot="10800000" flipV="1">
              <a:off x="1891557" y="1716250"/>
              <a:ext cx="6122887" cy="271543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marL="0" marR="0" lvl="0" indent="0" algn="ctr" defTabSz="914127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  <a:effectLst/>
                  <a:uLnTx/>
                  <a:uFillTx/>
                </a:rPr>
                <a:t>기존 </a:t>
              </a:r>
              <a:r>
                <a:rPr kumimoji="1" lang="en-US" altLang="ko-KR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  <a:effectLst/>
                  <a:uLnTx/>
                  <a:uFillTx/>
                </a:rPr>
                <a:t>*FM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144862"/>
                  </a:solidFill>
                  <a:effectLst/>
                  <a:uLnTx/>
                  <a:uFillTx/>
                </a:rPr>
                <a:t>을 업무 목적에 맞게 활용하기 위한</a:t>
              </a:r>
              <a:r>
                <a:rPr kumimoji="1" lang="ko-KR" altLang="en-US" sz="15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EF5703"/>
                  </a:solidFill>
                  <a:effectLst/>
                  <a:uLnTx/>
                  <a:uFillTx/>
                </a:rPr>
                <a:t> 최적화 기술</a:t>
              </a:r>
            </a:p>
          </p:txBody>
        </p:sp>
        <p:grpSp>
          <p:nvGrpSpPr>
            <p:cNvPr id="868" name="그룹 867">
              <a:extLst>
                <a:ext uri="{FF2B5EF4-FFF2-40B4-BE49-F238E27FC236}">
                  <a16:creationId xmlns:a16="http://schemas.microsoft.com/office/drawing/2014/main" id="{42BF4981-2E40-5783-670B-46E430D8C5A2}"/>
                </a:ext>
              </a:extLst>
            </p:cNvPr>
            <p:cNvGrpSpPr/>
            <p:nvPr/>
          </p:nvGrpSpPr>
          <p:grpSpPr>
            <a:xfrm>
              <a:off x="6535632" y="2362819"/>
              <a:ext cx="2848859" cy="1442036"/>
              <a:chOff x="593724" y="1543662"/>
              <a:chExt cx="4816186" cy="1772550"/>
            </a:xfrm>
          </p:grpSpPr>
          <p:sp>
            <p:nvSpPr>
              <p:cNvPr id="949" name="직사각형 948">
                <a:extLst>
                  <a:ext uri="{FF2B5EF4-FFF2-40B4-BE49-F238E27FC236}">
                    <a16:creationId xmlns:a16="http://schemas.microsoft.com/office/drawing/2014/main" id="{BA7F8B1B-4F29-0F48-F9EB-EA8008548201}"/>
                  </a:ext>
                </a:extLst>
              </p:cNvPr>
              <p:cNvSpPr/>
              <p:nvPr/>
            </p:nvSpPr>
            <p:spPr>
              <a:xfrm>
                <a:off x="601940" y="2118528"/>
                <a:ext cx="4807970" cy="119768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도메인 관련 정보를 </a:t>
                </a:r>
                <a:r>
                  <a:rPr kumimoji="0" lang="en-US" altLang="ko-KR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FM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모델에 학습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시키는 방법으로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 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사용자 프롬프트에 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도메인에 특화된 답변을 생성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하는 방법  </a:t>
                </a: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</a:endParaRPr>
              </a:p>
            </p:txBody>
          </p:sp>
          <p:sp>
            <p:nvSpPr>
              <p:cNvPr id="950" name="사각형: 둥근 위쪽 모서리 5">
                <a:extLst>
                  <a:ext uri="{FF2B5EF4-FFF2-40B4-BE49-F238E27FC236}">
                    <a16:creationId xmlns:a16="http://schemas.microsoft.com/office/drawing/2014/main" id="{DD6BFF40-5B80-9653-B43A-C8AC1098E5B0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rgbClr val="143F91"/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파인 튜닝</a:t>
                </a:r>
                <a:endParaRPr kumimoji="0" lang="en-US" altLang="ko-KR" sz="16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(Fine Tuning)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grpSp>
          <p:nvGrpSpPr>
            <p:cNvPr id="869" name="그룹 868">
              <a:extLst>
                <a:ext uri="{FF2B5EF4-FFF2-40B4-BE49-F238E27FC236}">
                  <a16:creationId xmlns:a16="http://schemas.microsoft.com/office/drawing/2014/main" id="{6E55FEE6-B424-AD74-BF16-EBE80E30AEF0}"/>
                </a:ext>
              </a:extLst>
            </p:cNvPr>
            <p:cNvGrpSpPr/>
            <p:nvPr/>
          </p:nvGrpSpPr>
          <p:grpSpPr>
            <a:xfrm>
              <a:off x="566515" y="2362819"/>
              <a:ext cx="2844000" cy="1442740"/>
              <a:chOff x="593724" y="1543662"/>
              <a:chExt cx="4807972" cy="1773415"/>
            </a:xfrm>
          </p:grpSpPr>
          <p:sp>
            <p:nvSpPr>
              <p:cNvPr id="947" name="직사각형 946">
                <a:extLst>
                  <a:ext uri="{FF2B5EF4-FFF2-40B4-BE49-F238E27FC236}">
                    <a16:creationId xmlns:a16="http://schemas.microsoft.com/office/drawing/2014/main" id="{D08E3F92-AA03-049B-D22D-AC41AC5258A3}"/>
                  </a:ext>
                </a:extLst>
              </p:cNvPr>
              <p:cNvSpPr/>
              <p:nvPr/>
            </p:nvSpPr>
            <p:spPr>
              <a:xfrm>
                <a:off x="593726" y="2082913"/>
                <a:ext cx="4807970" cy="123416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LLM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에게 원하는 결과를 얻기 위해 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프롬프트를 최적화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하는 방법</a:t>
                </a: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</a:endParaRPr>
              </a:p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System/Assistant/User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로 구분될 수 있음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rPr>
                  <a:t>. </a:t>
                </a:r>
              </a:p>
            </p:txBody>
          </p:sp>
          <p:sp>
            <p:nvSpPr>
              <p:cNvPr id="948" name="사각형: 둥근 위쪽 모서리 5">
                <a:extLst>
                  <a:ext uri="{FF2B5EF4-FFF2-40B4-BE49-F238E27FC236}">
                    <a16:creationId xmlns:a16="http://schemas.microsoft.com/office/drawing/2014/main" id="{D9252A52-261B-DA71-911A-0AC80CF4A8D2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rgbClr val="262626">
                  <a:lumMod val="50000"/>
                  <a:lumOff val="50000"/>
                </a:srgbClr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프롬프트 엔지니어링</a:t>
                </a:r>
                <a:endParaRPr kumimoji="0" lang="en-US" altLang="ko-KR" sz="16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(Prompt Engineering)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A1E723CC-534C-3AB8-76BD-033DCAE3DE0B}"/>
                </a:ext>
              </a:extLst>
            </p:cNvPr>
            <p:cNvGrpSpPr/>
            <p:nvPr/>
          </p:nvGrpSpPr>
          <p:grpSpPr>
            <a:xfrm>
              <a:off x="3459487" y="2362819"/>
              <a:ext cx="3024000" cy="1442036"/>
              <a:chOff x="593724" y="1543662"/>
              <a:chExt cx="4807972" cy="1772550"/>
            </a:xfrm>
          </p:grpSpPr>
          <p:sp>
            <p:nvSpPr>
              <p:cNvPr id="945" name="직사각형 944">
                <a:extLst>
                  <a:ext uri="{FF2B5EF4-FFF2-40B4-BE49-F238E27FC236}">
                    <a16:creationId xmlns:a16="http://schemas.microsoft.com/office/drawing/2014/main" id="{49F711E6-609F-1C22-D8D0-93B3E997D76E}"/>
                  </a:ext>
                </a:extLst>
              </p:cNvPr>
              <p:cNvSpPr/>
              <p:nvPr/>
            </p:nvSpPr>
            <p:spPr>
              <a:xfrm>
                <a:off x="593726" y="2082913"/>
                <a:ext cx="4807970" cy="1233299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>
                <a:outerShdw blurRad="76200" algn="ctr" rotWithShape="0">
                  <a:prstClr val="black">
                    <a:alpha val="18000"/>
                  </a:prstClr>
                </a:outerShdw>
              </a:effectLst>
            </p:spPr>
            <p:txBody>
              <a:bodyPr lIns="72000" tIns="288000" rIns="72000" bIns="36000" rtlCol="0" anchor="t"/>
              <a:lstStyle/>
              <a:p>
                <a:pPr marL="179388" marR="0" lvl="0" indent="-141288" defTabSz="914143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Pct val="85000"/>
                  <a:buFont typeface="Arial" panose="020B0604020202020204" pitchFamily="34" charset="0"/>
                  <a:buChar char="•"/>
                  <a:tabLst>
                    <a:tab pos="133350" algn="l"/>
                    <a:tab pos="2120900" algn="l"/>
                  </a:tabLst>
                  <a:defRPr/>
                </a:pP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도메인 관련 정보를 </a:t>
                </a:r>
                <a:r>
                  <a:rPr kumimoji="0" lang="en-US" altLang="ko-KR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Vector DB</a:t>
                </a: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로 구성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하여 사용자 프롬프트에 가장 유사한 정보를 검색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,</a:t>
                </a:r>
                <a:b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</a:br>
                <a:r>
                  <a:rPr kumimoji="0" lang="ko-KR" altLang="en-US" sz="1100" b="1" i="0" u="sng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도메인에 특화된 답변을 생성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  <a:t>하는 방법</a:t>
                </a:r>
                <a:b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  <a:sym typeface="Wingdings" panose="05000000000000000000" pitchFamily="2" charset="2"/>
                  </a:rPr>
                </a:b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solidFill>
                    <a:srgbClr val="262626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  <a:cs typeface="+mn-cs"/>
                  <a:sym typeface="Wingdings" panose="05000000000000000000" pitchFamily="2" charset="2"/>
                </a:endParaRPr>
              </a:p>
            </p:txBody>
          </p:sp>
          <p:sp>
            <p:nvSpPr>
              <p:cNvPr id="946" name="사각형: 둥근 위쪽 모서리 5">
                <a:extLst>
                  <a:ext uri="{FF2B5EF4-FFF2-40B4-BE49-F238E27FC236}">
                    <a16:creationId xmlns:a16="http://schemas.microsoft.com/office/drawing/2014/main" id="{04BE9D30-BD60-381C-BA30-3C37981609D0}"/>
                  </a:ext>
                </a:extLst>
              </p:cNvPr>
              <p:cNvSpPr/>
              <p:nvPr/>
            </p:nvSpPr>
            <p:spPr>
              <a:xfrm flipH="1">
                <a:off x="593724" y="1543662"/>
                <a:ext cx="4807970" cy="795991"/>
              </a:xfrm>
              <a:prstGeom prst="round2SameRect">
                <a:avLst/>
              </a:prstGeom>
              <a:solidFill>
                <a:srgbClr val="00AEEF">
                  <a:lumMod val="75000"/>
                </a:srgbClr>
              </a:solidFill>
              <a:ln w="6350">
                <a:solidFill>
                  <a:srgbClr val="223864"/>
                </a:solidFill>
                <a:miter lim="800000"/>
              </a:ln>
              <a:effectLst/>
            </p:spPr>
            <p:txBody>
              <a:bodyPr rot="0" spcFirstLastPara="0" vert="horz" wrap="square" lIns="0" tIns="3600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RAG(</a:t>
                </a:r>
                <a:r>
                  <a:rPr kumimoji="0" lang="ko-KR" altLang="en-US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검색증강생성</a:t>
                </a:r>
                <a:r>
                  <a:rPr kumimoji="0" lang="en-US" altLang="ko-KR" sz="16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)</a:t>
                </a: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solidFill>
                        <a:srgbClr val="00AEEF">
                          <a:alpha val="0"/>
                        </a:srgbClr>
                      </a:solidFill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(Retrieval Augmented Generation)</a:t>
                </a:r>
                <a:endParaRPr kumimoji="0" lang="ko-KR" altLang="en-US" sz="1100" b="0" i="0" u="none" strike="noStrike" kern="0" cap="none" spc="0" normalizeH="0" baseline="0" noProof="0" dirty="0">
                  <a:ln>
                    <a:solidFill>
                      <a:srgbClr val="00AEEF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</a:endParaRPr>
              </a:p>
            </p:txBody>
          </p:sp>
        </p:grpSp>
        <p:sp>
          <p:nvSpPr>
            <p:cNvPr id="871" name="직사각형 870">
              <a:extLst>
                <a:ext uri="{FF2B5EF4-FFF2-40B4-BE49-F238E27FC236}">
                  <a16:creationId xmlns:a16="http://schemas.microsoft.com/office/drawing/2014/main" id="{66B53CBB-BB36-8801-EB6E-6C70F273F50C}"/>
                </a:ext>
              </a:extLst>
            </p:cNvPr>
            <p:cNvSpPr/>
            <p:nvPr/>
          </p:nvSpPr>
          <p:spPr>
            <a:xfrm rot="10800000" flipV="1">
              <a:off x="1891557" y="1933287"/>
              <a:ext cx="6122887" cy="271543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marL="0" marR="0" lvl="0" indent="0" algn="ctr" defTabSz="914127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23536C"/>
                  </a:solidFill>
                  <a:effectLst/>
                  <a:uLnTx/>
                  <a:uFillTx/>
                </a:rPr>
                <a:t>*FM : Foundation Model(Pre-Trained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23536C"/>
                  </a:solidFill>
                  <a:effectLst/>
                  <a:uLnTx/>
                  <a:uFillTx/>
                </a:rPr>
                <a:t> 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solidFill>
                      <a:srgbClr val="69B9E1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23536C"/>
                  </a:solidFill>
                  <a:effectLst/>
                  <a:uLnTx/>
                  <a:uFillTx/>
                </a:rPr>
                <a:t>LLM)</a:t>
              </a:r>
              <a:endParaRPr kumimoji="1" lang="ko-KR" altLang="en-US" sz="1100" b="0" i="0" u="none" strike="noStrike" kern="0" cap="none" spc="0" normalizeH="0" baseline="0" noProof="0" dirty="0">
                <a:ln>
                  <a:solidFill>
                    <a:srgbClr val="69B9E1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23536C"/>
                </a:solidFill>
                <a:effectLst/>
                <a:uLnTx/>
                <a:uFillTx/>
              </a:endParaRPr>
            </a:p>
          </p:txBody>
        </p:sp>
        <p:grpSp>
          <p:nvGrpSpPr>
            <p:cNvPr id="872" name="그룹 871">
              <a:extLst>
                <a:ext uri="{FF2B5EF4-FFF2-40B4-BE49-F238E27FC236}">
                  <a16:creationId xmlns:a16="http://schemas.microsoft.com/office/drawing/2014/main" id="{9FD3AB65-54C3-14E9-F50C-A29F82BB4927}"/>
                </a:ext>
              </a:extLst>
            </p:cNvPr>
            <p:cNvGrpSpPr/>
            <p:nvPr/>
          </p:nvGrpSpPr>
          <p:grpSpPr>
            <a:xfrm>
              <a:off x="566515" y="3927174"/>
              <a:ext cx="5177007" cy="1119588"/>
              <a:chOff x="566515" y="3927174"/>
              <a:chExt cx="5177007" cy="1119588"/>
            </a:xfrm>
          </p:grpSpPr>
          <p:cxnSp>
            <p:nvCxnSpPr>
              <p:cNvPr id="934" name="직선 화살표 연결선 933">
                <a:extLst>
                  <a:ext uri="{FF2B5EF4-FFF2-40B4-BE49-F238E27FC236}">
                    <a16:creationId xmlns:a16="http://schemas.microsoft.com/office/drawing/2014/main" id="{3DF50943-AD53-660E-70F2-1E34E28B05AF}"/>
                  </a:ext>
                </a:extLst>
              </p:cNvPr>
              <p:cNvCxnSpPr/>
              <p:nvPr/>
            </p:nvCxnSpPr>
            <p:spPr>
              <a:xfrm flipH="1">
                <a:off x="1961153" y="4437140"/>
                <a:ext cx="242231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29292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grpSp>
            <p:nvGrpSpPr>
              <p:cNvPr id="935" name="그룹 934">
                <a:extLst>
                  <a:ext uri="{FF2B5EF4-FFF2-40B4-BE49-F238E27FC236}">
                    <a16:creationId xmlns:a16="http://schemas.microsoft.com/office/drawing/2014/main" id="{4A6236A7-B72A-F363-88C5-94887487C5FD}"/>
                  </a:ext>
                </a:extLst>
              </p:cNvPr>
              <p:cNvGrpSpPr/>
              <p:nvPr/>
            </p:nvGrpSpPr>
            <p:grpSpPr>
              <a:xfrm>
                <a:off x="566515" y="3927174"/>
                <a:ext cx="5177007" cy="1109833"/>
                <a:chOff x="365777" y="4087406"/>
                <a:chExt cx="3712543" cy="1017581"/>
              </a:xfrm>
            </p:grpSpPr>
            <p:sp>
              <p:nvSpPr>
                <p:cNvPr id="943" name="직사각형 942">
                  <a:extLst>
                    <a:ext uri="{FF2B5EF4-FFF2-40B4-BE49-F238E27FC236}">
                      <a16:creationId xmlns:a16="http://schemas.microsoft.com/office/drawing/2014/main" id="{9ABE181E-6AE5-2699-D12E-B5B1FFC770E3}"/>
                    </a:ext>
                  </a:extLst>
                </p:cNvPr>
                <p:cNvSpPr/>
                <p:nvPr/>
              </p:nvSpPr>
              <p:spPr>
                <a:xfrm>
                  <a:off x="365777" y="4087406"/>
                  <a:ext cx="3712543" cy="1017581"/>
                </a:xfrm>
                <a:prstGeom prst="rect">
                  <a:avLst/>
                </a:prstGeom>
                <a:noFill/>
                <a:ln w="25400" cap="flat" cmpd="sng" algn="ctr">
                  <a:solidFill>
                    <a:srgbClr val="929292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944" name="TextBox 943">
                  <a:extLst>
                    <a:ext uri="{FF2B5EF4-FFF2-40B4-BE49-F238E27FC236}">
                      <a16:creationId xmlns:a16="http://schemas.microsoft.com/office/drawing/2014/main" id="{9F258459-B7BE-5243-21A0-CFB2A6111E67}"/>
                    </a:ext>
                  </a:extLst>
                </p:cNvPr>
                <p:cNvSpPr txBox="1"/>
                <p:nvPr/>
              </p:nvSpPr>
              <p:spPr>
                <a:xfrm>
                  <a:off x="368973" y="4093451"/>
                  <a:ext cx="1032864" cy="148152"/>
                </a:xfrm>
                <a:prstGeom prst="rect">
                  <a:avLst/>
                </a:prstGeom>
                <a:solidFill>
                  <a:srgbClr val="929292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Prompt Engineering</a:t>
                  </a:r>
                  <a:endPara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</p:grpSp>
          <p:pic>
            <p:nvPicPr>
              <p:cNvPr id="936" name="그림 935">
                <a:extLst>
                  <a:ext uri="{FF2B5EF4-FFF2-40B4-BE49-F238E27FC236}">
                    <a16:creationId xmlns:a16="http://schemas.microsoft.com/office/drawing/2014/main" id="{F9A7CBF0-AAA9-008B-729C-FF2CA9B1A4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4370584" y="4005078"/>
                <a:ext cx="1207003" cy="1041684"/>
              </a:xfrm>
              <a:prstGeom prst="rect">
                <a:avLst/>
              </a:prstGeom>
            </p:spPr>
          </p:pic>
          <p:pic>
            <p:nvPicPr>
              <p:cNvPr id="937" name="그래픽 936" descr="남성 사무직 근로자 단색으로 채워진">
                <a:extLst>
                  <a:ext uri="{FF2B5EF4-FFF2-40B4-BE49-F238E27FC236}">
                    <a16:creationId xmlns:a16="http://schemas.microsoft.com/office/drawing/2014/main" id="{BBCB241E-4570-8C18-DAFD-6CDDE7869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149309" y="4139042"/>
                <a:ext cx="861955" cy="861955"/>
              </a:xfrm>
              <a:prstGeom prst="rect">
                <a:avLst/>
              </a:prstGeom>
            </p:spPr>
          </p:pic>
          <p:sp>
            <p:nvSpPr>
              <p:cNvPr id="938" name="모서리가 둥근 직사각형 3">
                <a:extLst>
                  <a:ext uri="{FF2B5EF4-FFF2-40B4-BE49-F238E27FC236}">
                    <a16:creationId xmlns:a16="http://schemas.microsoft.com/office/drawing/2014/main" id="{83D37A20-7849-6E42-E14D-B78B9CAAF87C}"/>
                  </a:ext>
                </a:extLst>
              </p:cNvPr>
              <p:cNvSpPr/>
              <p:nvPr/>
            </p:nvSpPr>
            <p:spPr>
              <a:xfrm>
                <a:off x="4278609" y="4674146"/>
                <a:ext cx="1347625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FM(Pre-trained LLM)</a:t>
                </a:r>
              </a:p>
            </p:txBody>
          </p:sp>
          <p:sp>
            <p:nvSpPr>
              <p:cNvPr id="939" name="자유형: 도형 938">
                <a:extLst>
                  <a:ext uri="{FF2B5EF4-FFF2-40B4-BE49-F238E27FC236}">
                    <a16:creationId xmlns:a16="http://schemas.microsoft.com/office/drawing/2014/main" id="{3147FEA9-9AE6-FD42-02F8-423851B4A568}"/>
                  </a:ext>
                </a:extLst>
              </p:cNvPr>
              <p:cNvSpPr/>
              <p:nvPr/>
            </p:nvSpPr>
            <p:spPr>
              <a:xfrm>
                <a:off x="2064470" y="4289196"/>
                <a:ext cx="2318994" cy="0"/>
              </a:xfrm>
              <a:custGeom>
                <a:avLst/>
                <a:gdLst>
                  <a:gd name="connsiteX0" fmla="*/ 2318994 w 2318994"/>
                  <a:gd name="connsiteY0" fmla="*/ 0 h 0"/>
                  <a:gd name="connsiteX1" fmla="*/ 0 w 2318994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18994">
                    <a:moveTo>
                      <a:pt x="2318994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cxnSp>
            <p:nvCxnSpPr>
              <p:cNvPr id="940" name="직선 화살표 연결선 939">
                <a:extLst>
                  <a:ext uri="{FF2B5EF4-FFF2-40B4-BE49-F238E27FC236}">
                    <a16:creationId xmlns:a16="http://schemas.microsoft.com/office/drawing/2014/main" id="{10F6692C-D196-11A3-8E1E-5B5430464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153" y="4591372"/>
                <a:ext cx="240943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29292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sp>
            <p:nvSpPr>
              <p:cNvPr id="941" name="모서리가 둥근 직사각형 3">
                <a:extLst>
                  <a:ext uri="{FF2B5EF4-FFF2-40B4-BE49-F238E27FC236}">
                    <a16:creationId xmlns:a16="http://schemas.microsoft.com/office/drawing/2014/main" id="{02FB47B1-D15B-DB43-FB0A-81FA3BA0B7FE}"/>
                  </a:ext>
                </a:extLst>
              </p:cNvPr>
              <p:cNvSpPr/>
              <p:nvPr/>
            </p:nvSpPr>
            <p:spPr>
              <a:xfrm>
                <a:off x="1988364" y="4611318"/>
                <a:ext cx="758847" cy="163659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Prompt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942" name="모서리가 둥근 직사각형 3">
                <a:extLst>
                  <a:ext uri="{FF2B5EF4-FFF2-40B4-BE49-F238E27FC236}">
                    <a16:creationId xmlns:a16="http://schemas.microsoft.com/office/drawing/2014/main" id="{E0AB84AE-286C-3BEE-9D46-9C06BA997762}"/>
                  </a:ext>
                </a:extLst>
              </p:cNvPr>
              <p:cNvSpPr/>
              <p:nvPr/>
            </p:nvSpPr>
            <p:spPr>
              <a:xfrm>
                <a:off x="3677823" y="4239179"/>
                <a:ext cx="758847" cy="163659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Answer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873" name="그룹 872">
              <a:extLst>
                <a:ext uri="{FF2B5EF4-FFF2-40B4-BE49-F238E27FC236}">
                  <a16:creationId xmlns:a16="http://schemas.microsoft.com/office/drawing/2014/main" id="{030F489C-0E99-3F36-76F8-20DFD348E1AF}"/>
                </a:ext>
              </a:extLst>
            </p:cNvPr>
            <p:cNvGrpSpPr/>
            <p:nvPr/>
          </p:nvGrpSpPr>
          <p:grpSpPr>
            <a:xfrm>
              <a:off x="5666029" y="3677438"/>
              <a:ext cx="3868781" cy="2646488"/>
              <a:chOff x="5666029" y="3677438"/>
              <a:chExt cx="3868781" cy="2646488"/>
            </a:xfrm>
          </p:grpSpPr>
          <p:sp>
            <p:nvSpPr>
              <p:cNvPr id="909" name="자유형: 도형 908">
                <a:extLst>
                  <a:ext uri="{FF2B5EF4-FFF2-40B4-BE49-F238E27FC236}">
                    <a16:creationId xmlns:a16="http://schemas.microsoft.com/office/drawing/2014/main" id="{430FECBE-3C4E-5262-CEA1-2913B826A1DB}"/>
                  </a:ext>
                </a:extLst>
              </p:cNvPr>
              <p:cNvSpPr/>
              <p:nvPr/>
            </p:nvSpPr>
            <p:spPr>
              <a:xfrm>
                <a:off x="5938887" y="4496586"/>
                <a:ext cx="1861223" cy="348791"/>
              </a:xfrm>
              <a:custGeom>
                <a:avLst/>
                <a:gdLst>
                  <a:gd name="connsiteX0" fmla="*/ 0 w 1923068"/>
                  <a:gd name="connsiteY0" fmla="*/ 0 h 348791"/>
                  <a:gd name="connsiteX1" fmla="*/ 1451727 w 1923068"/>
                  <a:gd name="connsiteY1" fmla="*/ 0 h 348791"/>
                  <a:gd name="connsiteX2" fmla="*/ 1451727 w 1923068"/>
                  <a:gd name="connsiteY2" fmla="*/ 348791 h 348791"/>
                  <a:gd name="connsiteX3" fmla="*/ 1923068 w 1923068"/>
                  <a:gd name="connsiteY3" fmla="*/ 348791 h 348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3068" h="348791">
                    <a:moveTo>
                      <a:pt x="0" y="0"/>
                    </a:moveTo>
                    <a:lnTo>
                      <a:pt x="1451727" y="0"/>
                    </a:lnTo>
                    <a:lnTo>
                      <a:pt x="1451727" y="348791"/>
                    </a:lnTo>
                    <a:lnTo>
                      <a:pt x="1923068" y="348791"/>
                    </a:lnTo>
                  </a:path>
                </a:pathLst>
              </a:custGeom>
              <a:noFill/>
              <a:ln w="12700" cap="flat" cmpd="sng" algn="ctr">
                <a:solidFill>
                  <a:srgbClr val="143F91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910" name="직사각형 909">
                <a:extLst>
                  <a:ext uri="{FF2B5EF4-FFF2-40B4-BE49-F238E27FC236}">
                    <a16:creationId xmlns:a16="http://schemas.microsoft.com/office/drawing/2014/main" id="{B31B3907-A0F7-14A2-C228-200BAE8FEE1B}"/>
                  </a:ext>
                </a:extLst>
              </p:cNvPr>
              <p:cNvSpPr/>
              <p:nvPr/>
            </p:nvSpPr>
            <p:spPr>
              <a:xfrm>
                <a:off x="5837707" y="3922933"/>
                <a:ext cx="3543950" cy="2400993"/>
              </a:xfrm>
              <a:prstGeom prst="rect">
                <a:avLst/>
              </a:prstGeom>
              <a:noFill/>
              <a:ln w="25400" cap="flat" cmpd="sng" algn="ctr">
                <a:solidFill>
                  <a:srgbClr val="143F9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911" name="직사각형 910">
                <a:extLst>
                  <a:ext uri="{FF2B5EF4-FFF2-40B4-BE49-F238E27FC236}">
                    <a16:creationId xmlns:a16="http://schemas.microsoft.com/office/drawing/2014/main" id="{90C7B8E8-6DBB-9349-F04A-88A2C8B97B33}"/>
                  </a:ext>
                </a:extLst>
              </p:cNvPr>
              <p:cNvSpPr/>
              <p:nvPr/>
            </p:nvSpPr>
            <p:spPr>
              <a:xfrm>
                <a:off x="5666029" y="4400134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912" name="타원 911">
                <a:extLst>
                  <a:ext uri="{FF2B5EF4-FFF2-40B4-BE49-F238E27FC236}">
                    <a16:creationId xmlns:a16="http://schemas.microsoft.com/office/drawing/2014/main" id="{0E175F98-6EB7-56CA-BF60-9F2BDA17F4DE}"/>
                  </a:ext>
                </a:extLst>
              </p:cNvPr>
              <p:cNvSpPr/>
              <p:nvPr/>
            </p:nvSpPr>
            <p:spPr>
              <a:xfrm>
                <a:off x="5686752" y="4377872"/>
                <a:ext cx="223667" cy="233415"/>
              </a:xfrm>
              <a:prstGeom prst="ellipse">
                <a:avLst/>
              </a:prstGeom>
              <a:solidFill>
                <a:srgbClr val="143F91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srgbClr val="EF5703">
                          <a:lumMod val="60000"/>
                          <a:lumOff val="40000"/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rPr>
                  <a:t>+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srgbClr val="EF5703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913" name="모서리가 둥근 직사각형 3">
                <a:extLst>
                  <a:ext uri="{FF2B5EF4-FFF2-40B4-BE49-F238E27FC236}">
                    <a16:creationId xmlns:a16="http://schemas.microsoft.com/office/drawing/2014/main" id="{E8F54E33-604F-9EE8-587F-62D487D1F110}"/>
                  </a:ext>
                </a:extLst>
              </p:cNvPr>
              <p:cNvSpPr/>
              <p:nvPr/>
            </p:nvSpPr>
            <p:spPr>
              <a:xfrm>
                <a:off x="7459202" y="4112259"/>
                <a:ext cx="1765675" cy="378571"/>
              </a:xfrm>
              <a:prstGeom prst="roundRect">
                <a:avLst>
                  <a:gd name="adj" fmla="val 9005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Full Fine Tuning : </a:t>
                </a:r>
                <a:b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Update All Parameter</a:t>
                </a:r>
              </a:p>
            </p:txBody>
          </p:sp>
          <p:sp>
            <p:nvSpPr>
              <p:cNvPr id="914" name="모서리가 둥근 직사각형 3">
                <a:extLst>
                  <a:ext uri="{FF2B5EF4-FFF2-40B4-BE49-F238E27FC236}">
                    <a16:creationId xmlns:a16="http://schemas.microsoft.com/office/drawing/2014/main" id="{978A75DE-10A5-0EC5-E2D0-98D1BB1F9050}"/>
                  </a:ext>
                </a:extLst>
              </p:cNvPr>
              <p:cNvSpPr/>
              <p:nvPr/>
            </p:nvSpPr>
            <p:spPr>
              <a:xfrm>
                <a:off x="7240629" y="5180981"/>
                <a:ext cx="2107725" cy="326845"/>
              </a:xfrm>
              <a:prstGeom prst="roundRect">
                <a:avLst>
                  <a:gd name="adj" fmla="val 9005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Parameter Efficient Fine Tuning :  </a:t>
                </a:r>
                <a:b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Update  Some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Paramerer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 </a:t>
                </a:r>
              </a:p>
            </p:txBody>
          </p:sp>
          <p:sp>
            <p:nvSpPr>
              <p:cNvPr id="915" name="TextBox 914">
                <a:extLst>
                  <a:ext uri="{FF2B5EF4-FFF2-40B4-BE49-F238E27FC236}">
                    <a16:creationId xmlns:a16="http://schemas.microsoft.com/office/drawing/2014/main" id="{A0F9F92E-C72E-535B-2CB3-43E222E1E922}"/>
                  </a:ext>
                </a:extLst>
              </p:cNvPr>
              <p:cNvSpPr txBox="1"/>
              <p:nvPr/>
            </p:nvSpPr>
            <p:spPr>
              <a:xfrm>
                <a:off x="7936907" y="3924286"/>
                <a:ext cx="1440292" cy="161583"/>
              </a:xfrm>
              <a:prstGeom prst="rect">
                <a:avLst/>
              </a:prstGeom>
              <a:solidFill>
                <a:srgbClr val="143F91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Fine Tuning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pic>
            <p:nvPicPr>
              <p:cNvPr id="916" name="그림 915">
                <a:extLst>
                  <a:ext uri="{FF2B5EF4-FFF2-40B4-BE49-F238E27FC236}">
                    <a16:creationId xmlns:a16="http://schemas.microsoft.com/office/drawing/2014/main" id="{930A4CE2-A8FB-81B4-328F-6A5585BECA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00AEEF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7964364" y="4487489"/>
                <a:ext cx="789003" cy="680935"/>
              </a:xfrm>
              <a:prstGeom prst="rect">
                <a:avLst/>
              </a:prstGeom>
            </p:spPr>
          </p:pic>
          <p:sp>
            <p:nvSpPr>
              <p:cNvPr id="917" name="자유형: 도형 916">
                <a:extLst>
                  <a:ext uri="{FF2B5EF4-FFF2-40B4-BE49-F238E27FC236}">
                    <a16:creationId xmlns:a16="http://schemas.microsoft.com/office/drawing/2014/main" id="{4C8B9934-9260-C230-A560-95E33757D077}"/>
                  </a:ext>
                </a:extLst>
              </p:cNvPr>
              <p:cNvSpPr/>
              <p:nvPr/>
            </p:nvSpPr>
            <p:spPr>
              <a:xfrm>
                <a:off x="5935178" y="4543720"/>
                <a:ext cx="1840481" cy="1255923"/>
              </a:xfrm>
              <a:custGeom>
                <a:avLst/>
                <a:gdLst>
                  <a:gd name="connsiteX0" fmla="*/ 0 w 1989056"/>
                  <a:gd name="connsiteY0" fmla="*/ 0 h 1244338"/>
                  <a:gd name="connsiteX1" fmla="*/ 1508289 w 1989056"/>
                  <a:gd name="connsiteY1" fmla="*/ 0 h 1244338"/>
                  <a:gd name="connsiteX2" fmla="*/ 1508289 w 1989056"/>
                  <a:gd name="connsiteY2" fmla="*/ 1244338 h 1244338"/>
                  <a:gd name="connsiteX3" fmla="*/ 1989056 w 1989056"/>
                  <a:gd name="connsiteY3" fmla="*/ 1244338 h 1244338"/>
                  <a:gd name="connsiteX0" fmla="*/ 0 w 2280116"/>
                  <a:gd name="connsiteY0" fmla="*/ 0 h 1244338"/>
                  <a:gd name="connsiteX1" fmla="*/ 1508289 w 2280116"/>
                  <a:gd name="connsiteY1" fmla="*/ 0 h 1244338"/>
                  <a:gd name="connsiteX2" fmla="*/ 1508289 w 2280116"/>
                  <a:gd name="connsiteY2" fmla="*/ 1244338 h 1244338"/>
                  <a:gd name="connsiteX3" fmla="*/ 2280116 w 2280116"/>
                  <a:gd name="connsiteY3" fmla="*/ 1244338 h 124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0116" h="1244338">
                    <a:moveTo>
                      <a:pt x="0" y="0"/>
                    </a:moveTo>
                    <a:lnTo>
                      <a:pt x="1508289" y="0"/>
                    </a:lnTo>
                    <a:lnTo>
                      <a:pt x="1508289" y="1244338"/>
                    </a:lnTo>
                    <a:lnTo>
                      <a:pt x="2280116" y="1244338"/>
                    </a:lnTo>
                  </a:path>
                </a:pathLst>
              </a:custGeom>
              <a:noFill/>
              <a:ln w="12700" cap="flat" cmpd="sng" algn="ctr">
                <a:solidFill>
                  <a:srgbClr val="143F91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grpSp>
            <p:nvGrpSpPr>
              <p:cNvPr id="918" name="그룹 917">
                <a:extLst>
                  <a:ext uri="{FF2B5EF4-FFF2-40B4-BE49-F238E27FC236}">
                    <a16:creationId xmlns:a16="http://schemas.microsoft.com/office/drawing/2014/main" id="{13699788-DE18-5BDB-2F4A-BE20F498974A}"/>
                  </a:ext>
                </a:extLst>
              </p:cNvPr>
              <p:cNvGrpSpPr/>
              <p:nvPr/>
            </p:nvGrpSpPr>
            <p:grpSpPr>
              <a:xfrm>
                <a:off x="5944312" y="4149100"/>
                <a:ext cx="758847" cy="690378"/>
                <a:chOff x="6511016" y="4426370"/>
                <a:chExt cx="758847" cy="690378"/>
              </a:xfrm>
            </p:grpSpPr>
            <p:grpSp>
              <p:nvGrpSpPr>
                <p:cNvPr id="921" name="그룹 920">
                  <a:extLst>
                    <a:ext uri="{FF2B5EF4-FFF2-40B4-BE49-F238E27FC236}">
                      <a16:creationId xmlns:a16="http://schemas.microsoft.com/office/drawing/2014/main" id="{25E237E0-F129-2562-8D97-792E094BC52B}"/>
                    </a:ext>
                  </a:extLst>
                </p:cNvPr>
                <p:cNvGrpSpPr/>
                <p:nvPr/>
              </p:nvGrpSpPr>
              <p:grpSpPr>
                <a:xfrm>
                  <a:off x="6624217" y="4426370"/>
                  <a:ext cx="613862" cy="582059"/>
                  <a:chOff x="871373" y="5484913"/>
                  <a:chExt cx="613862" cy="582059"/>
                </a:xfrm>
              </p:grpSpPr>
              <p:sp>
                <p:nvSpPr>
                  <p:cNvPr id="923" name="사각형: 둥근 모서리 922">
                    <a:extLst>
                      <a:ext uri="{FF2B5EF4-FFF2-40B4-BE49-F238E27FC236}">
                        <a16:creationId xmlns:a16="http://schemas.microsoft.com/office/drawing/2014/main" id="{3D0FC92F-EE2A-66F8-6CA4-F96337302675}"/>
                      </a:ext>
                    </a:extLst>
                  </p:cNvPr>
                  <p:cNvSpPr/>
                  <p:nvPr/>
                </p:nvSpPr>
                <p:spPr>
                  <a:xfrm>
                    <a:off x="1004282" y="5484913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924" name="사각형: 둥근 모서리 923">
                    <a:extLst>
                      <a:ext uri="{FF2B5EF4-FFF2-40B4-BE49-F238E27FC236}">
                        <a16:creationId xmlns:a16="http://schemas.microsoft.com/office/drawing/2014/main" id="{76260FB5-D47F-E7B4-C97B-42D5388997DF}"/>
                      </a:ext>
                    </a:extLst>
                  </p:cNvPr>
                  <p:cNvSpPr/>
                  <p:nvPr/>
                </p:nvSpPr>
                <p:spPr>
                  <a:xfrm>
                    <a:off x="937826" y="5529547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925" name="사각형: 둥근 모서리 924">
                    <a:extLst>
                      <a:ext uri="{FF2B5EF4-FFF2-40B4-BE49-F238E27FC236}">
                        <a16:creationId xmlns:a16="http://schemas.microsoft.com/office/drawing/2014/main" id="{B4268DDF-90B6-FBF3-8C1E-F43F05FC0881}"/>
                      </a:ext>
                    </a:extLst>
                  </p:cNvPr>
                  <p:cNvSpPr/>
                  <p:nvPr/>
                </p:nvSpPr>
                <p:spPr>
                  <a:xfrm>
                    <a:off x="871373" y="5583705"/>
                    <a:ext cx="480953" cy="483267"/>
                  </a:xfrm>
                  <a:prstGeom prst="roundRect">
                    <a:avLst>
                      <a:gd name="adj" fmla="val 13085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cxnSp>
                <p:nvCxnSpPr>
                  <p:cNvPr id="926" name="직선 연결선 925">
                    <a:extLst>
                      <a:ext uri="{FF2B5EF4-FFF2-40B4-BE49-F238E27FC236}">
                        <a16:creationId xmlns:a16="http://schemas.microsoft.com/office/drawing/2014/main" id="{B31FF777-6A3A-2074-3D55-92190E5C90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659291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27" name="직선 연결선 926">
                    <a:extLst>
                      <a:ext uri="{FF2B5EF4-FFF2-40B4-BE49-F238E27FC236}">
                        <a16:creationId xmlns:a16="http://schemas.microsoft.com/office/drawing/2014/main" id="{21DC38F3-D75D-E78F-8B35-75C7F07B5A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808922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28" name="직선 연결선 927">
                    <a:extLst>
                      <a:ext uri="{FF2B5EF4-FFF2-40B4-BE49-F238E27FC236}">
                        <a16:creationId xmlns:a16="http://schemas.microsoft.com/office/drawing/2014/main" id="{074C20FB-7CAD-3249-4C84-965CC7D82D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759045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29" name="직선 연결선 928">
                    <a:extLst>
                      <a:ext uri="{FF2B5EF4-FFF2-40B4-BE49-F238E27FC236}">
                        <a16:creationId xmlns:a16="http://schemas.microsoft.com/office/drawing/2014/main" id="{A62CABA7-B7A3-611A-3D01-2E8E7368F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958554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30" name="직선 연결선 929">
                    <a:extLst>
                      <a:ext uri="{FF2B5EF4-FFF2-40B4-BE49-F238E27FC236}">
                        <a16:creationId xmlns:a16="http://schemas.microsoft.com/office/drawing/2014/main" id="{967AEB05-64FB-F047-678E-2C3CB841E7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858800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31" name="직선 연결선 930">
                    <a:extLst>
                      <a:ext uri="{FF2B5EF4-FFF2-40B4-BE49-F238E27FC236}">
                        <a16:creationId xmlns:a16="http://schemas.microsoft.com/office/drawing/2014/main" id="{9A9369A1-9908-D066-9A50-2CD73346F2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709168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32" name="직선 연결선 931">
                    <a:extLst>
                      <a:ext uri="{FF2B5EF4-FFF2-40B4-BE49-F238E27FC236}">
                        <a16:creationId xmlns:a16="http://schemas.microsoft.com/office/drawing/2014/main" id="{DB7AF705-BCEF-39CF-8C5D-E35AB491FE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6008435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33" name="직선 연결선 932">
                    <a:extLst>
                      <a:ext uri="{FF2B5EF4-FFF2-40B4-BE49-F238E27FC236}">
                        <a16:creationId xmlns:a16="http://schemas.microsoft.com/office/drawing/2014/main" id="{3F8D7394-A3CA-685C-A42F-AB00F9AC61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9155" y="5908677"/>
                    <a:ext cx="33362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262626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922" name="모서리가 둥근 직사각형 3">
                  <a:extLst>
                    <a:ext uri="{FF2B5EF4-FFF2-40B4-BE49-F238E27FC236}">
                      <a16:creationId xmlns:a16="http://schemas.microsoft.com/office/drawing/2014/main" id="{4B89D8E0-C7C8-E0CE-8A05-7E2BF86F1007}"/>
                    </a:ext>
                  </a:extLst>
                </p:cNvPr>
                <p:cNvSpPr/>
                <p:nvPr/>
              </p:nvSpPr>
              <p:spPr>
                <a:xfrm>
                  <a:off x="6511016" y="4895033"/>
                  <a:ext cx="758847" cy="221715"/>
                </a:xfrm>
                <a:prstGeom prst="roundRect">
                  <a:avLst>
                    <a:gd name="adj" fmla="val 28317"/>
                  </a:avLst>
                </a:prstGeom>
                <a:solidFill>
                  <a:srgbClr val="FFFFFF"/>
                </a:solidFill>
                <a:ln w="3175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0" cap="none" spc="0" normalizeH="0" baseline="0" noProof="0" dirty="0">
                      <a:ln>
                        <a:solidFill>
                          <a:srgbClr val="262626"/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도메인 정보</a:t>
                  </a:r>
                </a:p>
              </p:txBody>
            </p:sp>
          </p:grpSp>
          <p:pic>
            <p:nvPicPr>
              <p:cNvPr id="919" name="그림 918">
                <a:extLst>
                  <a:ext uri="{FF2B5EF4-FFF2-40B4-BE49-F238E27FC236}">
                    <a16:creationId xmlns:a16="http://schemas.microsoft.com/office/drawing/2014/main" id="{479F2023-463F-7F2B-EB46-4FD4C422C4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srgbClr val="00AEEF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1360" b="29683" l="43501" r="54573">
                            <a14:foregroundMark x1="44757" y1="23983" x2="46919" y2="21627"/>
                            <a14:foregroundMark x1="50703" y1="22270" x2="46595" y2="18844"/>
                          </a14:backgroundRemoval>
                        </a14:imgEffect>
                      </a14:imgLayer>
                    </a14:imgProps>
                  </a:ext>
                </a:extLst>
              </a:blip>
              <a:srcRect l="42117" t="9069" r="44043" b="68026"/>
              <a:stretch/>
            </p:blipFill>
            <p:spPr>
              <a:xfrm>
                <a:off x="7964364" y="5525814"/>
                <a:ext cx="789003" cy="680935"/>
              </a:xfrm>
              <a:prstGeom prst="rect">
                <a:avLst/>
              </a:prstGeom>
            </p:spPr>
          </p:pic>
          <p:pic>
            <p:nvPicPr>
              <p:cNvPr id="920" name="그림 919" descr="문구용품, 메탈웨어, 압정이(가) 표시된 사진&#10;&#10;자동 생성된 설명">
                <a:extLst>
                  <a:ext uri="{FF2B5EF4-FFF2-40B4-BE49-F238E27FC236}">
                    <a16:creationId xmlns:a16="http://schemas.microsoft.com/office/drawing/2014/main" id="{41B38F16-E23D-7EEF-B7CD-315D21162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prstClr val="black"/>
                  <a:srgbClr val="EF570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61898" y="3677438"/>
                <a:ext cx="372912" cy="372912"/>
              </a:xfrm>
              <a:prstGeom prst="rect">
                <a:avLst/>
              </a:prstGeom>
            </p:spPr>
          </p:pic>
        </p:grpSp>
        <p:grpSp>
          <p:nvGrpSpPr>
            <p:cNvPr id="874" name="그룹 873">
              <a:extLst>
                <a:ext uri="{FF2B5EF4-FFF2-40B4-BE49-F238E27FC236}">
                  <a16:creationId xmlns:a16="http://schemas.microsoft.com/office/drawing/2014/main" id="{8DC23FB7-B8DE-934D-1041-FED511DE4BB3}"/>
                </a:ext>
              </a:extLst>
            </p:cNvPr>
            <p:cNvGrpSpPr/>
            <p:nvPr/>
          </p:nvGrpSpPr>
          <p:grpSpPr>
            <a:xfrm>
              <a:off x="442801" y="4600282"/>
              <a:ext cx="5300721" cy="1727974"/>
              <a:chOff x="442801" y="4600282"/>
              <a:chExt cx="5300721" cy="1727974"/>
            </a:xfrm>
          </p:grpSpPr>
          <p:cxnSp>
            <p:nvCxnSpPr>
              <p:cNvPr id="875" name="직선 화살표 연결선 874">
                <a:extLst>
                  <a:ext uri="{FF2B5EF4-FFF2-40B4-BE49-F238E27FC236}">
                    <a16:creationId xmlns:a16="http://schemas.microsoft.com/office/drawing/2014/main" id="{0B4E4A0C-061C-0223-1E69-776D389A4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496925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cxnSp>
            <p:nvCxnSpPr>
              <p:cNvPr id="876" name="직선 화살표 연결선 875">
                <a:extLst>
                  <a:ext uri="{FF2B5EF4-FFF2-40B4-BE49-F238E27FC236}">
                    <a16:creationId xmlns:a16="http://schemas.microsoft.com/office/drawing/2014/main" id="{57EB93C2-AE42-2572-1787-71BF1279D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721417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cxnSp>
            <p:nvCxnSpPr>
              <p:cNvPr id="877" name="직선 화살표 연결선 876">
                <a:extLst>
                  <a:ext uri="{FF2B5EF4-FFF2-40B4-BE49-F238E27FC236}">
                    <a16:creationId xmlns:a16="http://schemas.microsoft.com/office/drawing/2014/main" id="{AC945D7A-FE6B-8921-65AF-8435668DF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952" y="5614174"/>
                <a:ext cx="12085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AEEF"/>
                </a:solidFill>
                <a:prstDash val="solid"/>
                <a:headEnd type="none" w="med" len="med"/>
                <a:tailEnd type="triangle"/>
              </a:ln>
              <a:effectLst/>
            </p:spPr>
          </p:cxnSp>
          <p:grpSp>
            <p:nvGrpSpPr>
              <p:cNvPr id="878" name="그룹 877">
                <a:extLst>
                  <a:ext uri="{FF2B5EF4-FFF2-40B4-BE49-F238E27FC236}">
                    <a16:creationId xmlns:a16="http://schemas.microsoft.com/office/drawing/2014/main" id="{73E75EAA-184B-03B9-B5D5-DE58AE46EDAA}"/>
                  </a:ext>
                </a:extLst>
              </p:cNvPr>
              <p:cNvGrpSpPr/>
              <p:nvPr/>
            </p:nvGrpSpPr>
            <p:grpSpPr>
              <a:xfrm>
                <a:off x="2974620" y="5301260"/>
                <a:ext cx="608602" cy="623158"/>
                <a:chOff x="2954705" y="6319536"/>
                <a:chExt cx="196457" cy="269712"/>
              </a:xfrm>
            </p:grpSpPr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A46D2792-517D-C8B0-534F-A4D36E49D06B}"/>
                    </a:ext>
                  </a:extLst>
                </p:cNvPr>
                <p:cNvGrpSpPr/>
                <p:nvPr/>
              </p:nvGrpSpPr>
              <p:grpSpPr>
                <a:xfrm>
                  <a:off x="2954705" y="6319536"/>
                  <a:ext cx="196457" cy="269712"/>
                  <a:chOff x="2954705" y="6319536"/>
                  <a:chExt cx="196457" cy="269712"/>
                </a:xfrm>
              </p:grpSpPr>
              <p:sp>
                <p:nvSpPr>
                  <p:cNvPr id="906" name="원통형 905">
                    <a:extLst>
                      <a:ext uri="{FF2B5EF4-FFF2-40B4-BE49-F238E27FC236}">
                        <a16:creationId xmlns:a16="http://schemas.microsoft.com/office/drawing/2014/main" id="{956F692F-26A6-A2A0-48C4-68B0EAC36C96}"/>
                      </a:ext>
                    </a:extLst>
                  </p:cNvPr>
                  <p:cNvSpPr/>
                  <p:nvPr/>
                </p:nvSpPr>
                <p:spPr>
                  <a:xfrm>
                    <a:off x="2954705" y="6453420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907" name="원통형 906">
                    <a:extLst>
                      <a:ext uri="{FF2B5EF4-FFF2-40B4-BE49-F238E27FC236}">
                        <a16:creationId xmlns:a16="http://schemas.microsoft.com/office/drawing/2014/main" id="{3D3C6AB9-4D30-9238-FCD8-D4821F4A2736}"/>
                      </a:ext>
                    </a:extLst>
                  </p:cNvPr>
                  <p:cNvSpPr/>
                  <p:nvPr/>
                </p:nvSpPr>
                <p:spPr>
                  <a:xfrm>
                    <a:off x="2954705" y="6386478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  <p:sp>
                <p:nvSpPr>
                  <p:cNvPr id="908" name="원통형 907">
                    <a:extLst>
                      <a:ext uri="{FF2B5EF4-FFF2-40B4-BE49-F238E27FC236}">
                        <a16:creationId xmlns:a16="http://schemas.microsoft.com/office/drawing/2014/main" id="{974E87A0-FAAF-6DDD-1B99-EC555089C8B3}"/>
                      </a:ext>
                    </a:extLst>
                  </p:cNvPr>
                  <p:cNvSpPr/>
                  <p:nvPr/>
                </p:nvSpPr>
                <p:spPr>
                  <a:xfrm>
                    <a:off x="2954705" y="6319536"/>
                    <a:ext cx="196457" cy="135828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5400" cap="flat" cmpd="sng" algn="ctr">
                    <a:solidFill>
                      <a:srgbClr val="262626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43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36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B"/>
                      <a:ea typeface="Rix고딕 B"/>
                      <a:cs typeface="+mn-cs"/>
                    </a:endParaRPr>
                  </a:p>
                </p:txBody>
              </p:sp>
            </p:grpSp>
            <p:sp>
              <p:nvSpPr>
                <p:cNvPr id="905" name="타원 904">
                  <a:extLst>
                    <a:ext uri="{FF2B5EF4-FFF2-40B4-BE49-F238E27FC236}">
                      <a16:creationId xmlns:a16="http://schemas.microsoft.com/office/drawing/2014/main" id="{3AAE0929-E58B-56DD-759F-BCBFB6BFAB40}"/>
                    </a:ext>
                  </a:extLst>
                </p:cNvPr>
                <p:cNvSpPr/>
                <p:nvPr/>
              </p:nvSpPr>
              <p:spPr>
                <a:xfrm>
                  <a:off x="2972316" y="6400339"/>
                  <a:ext cx="10800" cy="10800"/>
                </a:xfrm>
                <a:prstGeom prst="ellipse">
                  <a:avLst/>
                </a:prstGeom>
                <a:solidFill>
                  <a:srgbClr val="262626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</p:grpSp>
          <p:grpSp>
            <p:nvGrpSpPr>
              <p:cNvPr id="879" name="그룹 878">
                <a:extLst>
                  <a:ext uri="{FF2B5EF4-FFF2-40B4-BE49-F238E27FC236}">
                    <a16:creationId xmlns:a16="http://schemas.microsoft.com/office/drawing/2014/main" id="{30C6B61F-79A0-F2D1-48AB-6933C672957A}"/>
                  </a:ext>
                </a:extLst>
              </p:cNvPr>
              <p:cNvGrpSpPr/>
              <p:nvPr/>
            </p:nvGrpSpPr>
            <p:grpSpPr>
              <a:xfrm>
                <a:off x="871373" y="5330981"/>
                <a:ext cx="613862" cy="582059"/>
                <a:chOff x="871373" y="5484913"/>
                <a:chExt cx="613862" cy="582059"/>
              </a:xfrm>
            </p:grpSpPr>
            <p:sp>
              <p:nvSpPr>
                <p:cNvPr id="893" name="사각형: 둥근 모서리 892">
                  <a:extLst>
                    <a:ext uri="{FF2B5EF4-FFF2-40B4-BE49-F238E27FC236}">
                      <a16:creationId xmlns:a16="http://schemas.microsoft.com/office/drawing/2014/main" id="{04F658F1-96DF-4701-E8E0-FF69D64F12E5}"/>
                    </a:ext>
                  </a:extLst>
                </p:cNvPr>
                <p:cNvSpPr/>
                <p:nvPr/>
              </p:nvSpPr>
              <p:spPr>
                <a:xfrm>
                  <a:off x="1004282" y="5484913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894" name="사각형: 둥근 모서리 893">
                  <a:extLst>
                    <a:ext uri="{FF2B5EF4-FFF2-40B4-BE49-F238E27FC236}">
                      <a16:creationId xmlns:a16="http://schemas.microsoft.com/office/drawing/2014/main" id="{15C722B2-6E6E-E078-B737-0EA5ECE478B8}"/>
                    </a:ext>
                  </a:extLst>
                </p:cNvPr>
                <p:cNvSpPr/>
                <p:nvPr/>
              </p:nvSpPr>
              <p:spPr>
                <a:xfrm>
                  <a:off x="937826" y="5529547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895" name="사각형: 둥근 모서리 894">
                  <a:extLst>
                    <a:ext uri="{FF2B5EF4-FFF2-40B4-BE49-F238E27FC236}">
                      <a16:creationId xmlns:a16="http://schemas.microsoft.com/office/drawing/2014/main" id="{51FD831B-687F-D6CA-E8D7-BFAD17A26350}"/>
                    </a:ext>
                  </a:extLst>
                </p:cNvPr>
                <p:cNvSpPr/>
                <p:nvPr/>
              </p:nvSpPr>
              <p:spPr>
                <a:xfrm>
                  <a:off x="871373" y="5583705"/>
                  <a:ext cx="480953" cy="483267"/>
                </a:xfrm>
                <a:prstGeom prst="roundRect">
                  <a:avLst>
                    <a:gd name="adj" fmla="val 13085"/>
                  </a:avLst>
                </a:prstGeom>
                <a:solidFill>
                  <a:srgbClr val="FFFFFF"/>
                </a:solidFill>
                <a:ln w="2540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cxnSp>
              <p:nvCxnSpPr>
                <p:cNvPr id="896" name="직선 연결선 895">
                  <a:extLst>
                    <a:ext uri="{FF2B5EF4-FFF2-40B4-BE49-F238E27FC236}">
                      <a16:creationId xmlns:a16="http://schemas.microsoft.com/office/drawing/2014/main" id="{1FD068B5-CB05-DB05-2BFC-A27D5D5EA4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659291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7" name="직선 연결선 896">
                  <a:extLst>
                    <a:ext uri="{FF2B5EF4-FFF2-40B4-BE49-F238E27FC236}">
                      <a16:creationId xmlns:a16="http://schemas.microsoft.com/office/drawing/2014/main" id="{AFCB41AE-BEE6-FB45-F574-4058650BD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808922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8" name="직선 연결선 897">
                  <a:extLst>
                    <a:ext uri="{FF2B5EF4-FFF2-40B4-BE49-F238E27FC236}">
                      <a16:creationId xmlns:a16="http://schemas.microsoft.com/office/drawing/2014/main" id="{505F803B-CA0D-CB74-C799-75A76E8293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759045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9" name="직선 연결선 898">
                  <a:extLst>
                    <a:ext uri="{FF2B5EF4-FFF2-40B4-BE49-F238E27FC236}">
                      <a16:creationId xmlns:a16="http://schemas.microsoft.com/office/drawing/2014/main" id="{431E7BC7-89F0-724B-9AFC-3B026B6FF8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958554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0" name="직선 연결선 899">
                  <a:extLst>
                    <a:ext uri="{FF2B5EF4-FFF2-40B4-BE49-F238E27FC236}">
                      <a16:creationId xmlns:a16="http://schemas.microsoft.com/office/drawing/2014/main" id="{6B003414-E2A0-D948-155A-1A2B8ACE1F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858800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1" name="직선 연결선 900">
                  <a:extLst>
                    <a:ext uri="{FF2B5EF4-FFF2-40B4-BE49-F238E27FC236}">
                      <a16:creationId xmlns:a16="http://schemas.microsoft.com/office/drawing/2014/main" id="{65221CC3-B002-5D35-C484-3FEEBEEF95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709168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2" name="직선 연결선 901">
                  <a:extLst>
                    <a:ext uri="{FF2B5EF4-FFF2-40B4-BE49-F238E27FC236}">
                      <a16:creationId xmlns:a16="http://schemas.microsoft.com/office/drawing/2014/main" id="{941D0A70-DFD5-F63E-86FB-96EEF56F87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6008435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3" name="직선 연결선 902">
                  <a:extLst>
                    <a:ext uri="{FF2B5EF4-FFF2-40B4-BE49-F238E27FC236}">
                      <a16:creationId xmlns:a16="http://schemas.microsoft.com/office/drawing/2014/main" id="{39238FE0-A50B-632F-8BD7-40D764EFDF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55" y="5908677"/>
                  <a:ext cx="33362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262626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880" name="모서리가 둥근 직사각형 3">
                <a:extLst>
                  <a:ext uri="{FF2B5EF4-FFF2-40B4-BE49-F238E27FC236}">
                    <a16:creationId xmlns:a16="http://schemas.microsoft.com/office/drawing/2014/main" id="{F171D2D5-17BD-E16D-2CBE-B91177E02D30}"/>
                  </a:ext>
                </a:extLst>
              </p:cNvPr>
              <p:cNvSpPr/>
              <p:nvPr/>
            </p:nvSpPr>
            <p:spPr>
              <a:xfrm>
                <a:off x="758172" y="5799644"/>
                <a:ext cx="758847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도메인 정보</a:t>
                </a:r>
              </a:p>
            </p:txBody>
          </p:sp>
          <p:sp>
            <p:nvSpPr>
              <p:cNvPr id="881" name="모서리가 둥근 직사각형 3">
                <a:extLst>
                  <a:ext uri="{FF2B5EF4-FFF2-40B4-BE49-F238E27FC236}">
                    <a16:creationId xmlns:a16="http://schemas.microsoft.com/office/drawing/2014/main" id="{FE1F05B7-ED74-C6A1-735D-2A7B7C094693}"/>
                  </a:ext>
                </a:extLst>
              </p:cNvPr>
              <p:cNvSpPr/>
              <p:nvPr/>
            </p:nvSpPr>
            <p:spPr>
              <a:xfrm>
                <a:off x="2863130" y="5599924"/>
                <a:ext cx="834732" cy="221715"/>
              </a:xfrm>
              <a:prstGeom prst="roundRect">
                <a:avLst>
                  <a:gd name="adj" fmla="val 28317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Vector DB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grpSp>
            <p:nvGrpSpPr>
              <p:cNvPr id="882" name="그룹 881">
                <a:extLst>
                  <a:ext uri="{FF2B5EF4-FFF2-40B4-BE49-F238E27FC236}">
                    <a16:creationId xmlns:a16="http://schemas.microsoft.com/office/drawing/2014/main" id="{B6032FE1-C955-5451-6F92-A5865ABA76D1}"/>
                  </a:ext>
                </a:extLst>
              </p:cNvPr>
              <p:cNvGrpSpPr/>
              <p:nvPr/>
            </p:nvGrpSpPr>
            <p:grpSpPr>
              <a:xfrm>
                <a:off x="566515" y="5113856"/>
                <a:ext cx="5177007" cy="1214400"/>
                <a:chOff x="365777" y="3828852"/>
                <a:chExt cx="3712543" cy="1113456"/>
              </a:xfrm>
            </p:grpSpPr>
            <p:sp>
              <p:nvSpPr>
                <p:cNvPr id="891" name="직사각형 890">
                  <a:extLst>
                    <a:ext uri="{FF2B5EF4-FFF2-40B4-BE49-F238E27FC236}">
                      <a16:creationId xmlns:a16="http://schemas.microsoft.com/office/drawing/2014/main" id="{93839673-D8C4-7E33-AABE-F75B4B53997E}"/>
                    </a:ext>
                  </a:extLst>
                </p:cNvPr>
                <p:cNvSpPr/>
                <p:nvPr/>
              </p:nvSpPr>
              <p:spPr>
                <a:xfrm>
                  <a:off x="365777" y="3828852"/>
                  <a:ext cx="3712543" cy="1109486"/>
                </a:xfrm>
                <a:prstGeom prst="rect">
                  <a:avLst/>
                </a:prstGeom>
                <a:noFill/>
                <a:ln w="25400" cap="flat" cmpd="sng" algn="ctr">
                  <a:solidFill>
                    <a:srgbClr val="00AEE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36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B"/>
                    <a:ea typeface="Rix고딕 B"/>
                    <a:cs typeface="+mn-cs"/>
                  </a:endParaRPr>
                </a:p>
              </p:txBody>
            </p:sp>
            <p:sp>
              <p:nvSpPr>
                <p:cNvPr id="892" name="TextBox 891">
                  <a:extLst>
                    <a:ext uri="{FF2B5EF4-FFF2-40B4-BE49-F238E27FC236}">
                      <a16:creationId xmlns:a16="http://schemas.microsoft.com/office/drawing/2014/main" id="{9CACC075-008D-3D8E-2FA6-1D0959D10703}"/>
                    </a:ext>
                  </a:extLst>
                </p:cNvPr>
                <p:cNvSpPr txBox="1"/>
                <p:nvPr/>
              </p:nvSpPr>
              <p:spPr>
                <a:xfrm>
                  <a:off x="372616" y="4794156"/>
                  <a:ext cx="1029221" cy="148152"/>
                </a:xfrm>
                <a:prstGeom prst="rect">
                  <a:avLst/>
                </a:prstGeom>
                <a:solidFill>
                  <a:srgbClr val="00AEEF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ctr" defTabSz="91414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RAG(</a:t>
                  </a:r>
                  <a:r>
                    <a:rPr kumimoji="0" lang="ko-KR" altLang="en-US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검색증강생성</a:t>
                  </a: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rPr>
                    <a:t>)</a:t>
                  </a:r>
                  <a:endPara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</p:grpSp>
          <p:sp>
            <p:nvSpPr>
              <p:cNvPr id="883" name="직사각형 882">
                <a:extLst>
                  <a:ext uri="{FF2B5EF4-FFF2-40B4-BE49-F238E27FC236}">
                    <a16:creationId xmlns:a16="http://schemas.microsoft.com/office/drawing/2014/main" id="{72FA660E-1DE7-D259-3103-A3F7D211B81C}"/>
                  </a:ext>
                </a:extLst>
              </p:cNvPr>
              <p:cNvSpPr/>
              <p:nvPr/>
            </p:nvSpPr>
            <p:spPr>
              <a:xfrm>
                <a:off x="3151162" y="5000997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884" name="자유형: 도형 883">
                <a:extLst>
                  <a:ext uri="{FF2B5EF4-FFF2-40B4-BE49-F238E27FC236}">
                    <a16:creationId xmlns:a16="http://schemas.microsoft.com/office/drawing/2014/main" id="{8AA2B9BD-A6EF-079F-5C26-4C321B1B76A5}"/>
                  </a:ext>
                </a:extLst>
              </p:cNvPr>
              <p:cNvSpPr/>
              <p:nvPr/>
            </p:nvSpPr>
            <p:spPr>
              <a:xfrm>
                <a:off x="2215300" y="4600282"/>
                <a:ext cx="1065326" cy="1489544"/>
              </a:xfrm>
              <a:custGeom>
                <a:avLst/>
                <a:gdLst>
                  <a:gd name="connsiteX0" fmla="*/ 1036948 w 1055802"/>
                  <a:gd name="connsiteY0" fmla="*/ 0 h 1536569"/>
                  <a:gd name="connsiteX1" fmla="*/ 1036948 w 1055802"/>
                  <a:gd name="connsiteY1" fmla="*/ 669304 h 1536569"/>
                  <a:gd name="connsiteX2" fmla="*/ 0 w 1055802"/>
                  <a:gd name="connsiteY2" fmla="*/ 669304 h 1536569"/>
                  <a:gd name="connsiteX3" fmla="*/ 0 w 1055802"/>
                  <a:gd name="connsiteY3" fmla="*/ 1536569 h 1536569"/>
                  <a:gd name="connsiteX4" fmla="*/ 1055802 w 1055802"/>
                  <a:gd name="connsiteY4" fmla="*/ 1536569 h 1536569"/>
                  <a:gd name="connsiteX5" fmla="*/ 1055802 w 1055802"/>
                  <a:gd name="connsiteY5" fmla="*/ 1319753 h 1536569"/>
                  <a:gd name="connsiteX0" fmla="*/ 1036948 w 1055802"/>
                  <a:gd name="connsiteY0" fmla="*/ 0 h 1536569"/>
                  <a:gd name="connsiteX1" fmla="*/ 1036948 w 1055802"/>
                  <a:gd name="connsiteY1" fmla="*/ 669304 h 1536569"/>
                  <a:gd name="connsiteX2" fmla="*/ 0 w 1055802"/>
                  <a:gd name="connsiteY2" fmla="*/ 669304 h 1536569"/>
                  <a:gd name="connsiteX3" fmla="*/ 0 w 1055802"/>
                  <a:gd name="connsiteY3" fmla="*/ 1536569 h 1536569"/>
                  <a:gd name="connsiteX4" fmla="*/ 1055802 w 1055802"/>
                  <a:gd name="connsiteY4" fmla="*/ 1536569 h 1536569"/>
                  <a:gd name="connsiteX5" fmla="*/ 1055802 w 1055802"/>
                  <a:gd name="connsiteY5" fmla="*/ 1397549 h 1536569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65228 w 1065228"/>
                  <a:gd name="connsiteY4" fmla="*/ 1536569 h 1607920"/>
                  <a:gd name="connsiteX5" fmla="*/ 1065228 w 1065228"/>
                  <a:gd name="connsiteY5" fmla="*/ 1397549 h 1607920"/>
                  <a:gd name="connsiteX0" fmla="*/ 1046374 w 1065228"/>
                  <a:gd name="connsiteY0" fmla="*/ 0 h 1618113"/>
                  <a:gd name="connsiteX1" fmla="*/ 1046374 w 1065228"/>
                  <a:gd name="connsiteY1" fmla="*/ 669304 h 1618113"/>
                  <a:gd name="connsiteX2" fmla="*/ 9426 w 1065228"/>
                  <a:gd name="connsiteY2" fmla="*/ 669304 h 1618113"/>
                  <a:gd name="connsiteX3" fmla="*/ 0 w 1065228"/>
                  <a:gd name="connsiteY3" fmla="*/ 1607920 h 1618113"/>
                  <a:gd name="connsiteX4" fmla="*/ 1065228 w 1065228"/>
                  <a:gd name="connsiteY4" fmla="*/ 1618113 h 1618113"/>
                  <a:gd name="connsiteX5" fmla="*/ 1065228 w 1065228"/>
                  <a:gd name="connsiteY5" fmla="*/ 1397549 h 1618113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65228 w 1065228"/>
                  <a:gd name="connsiteY4" fmla="*/ 1587535 h 1607920"/>
                  <a:gd name="connsiteX5" fmla="*/ 1065228 w 1065228"/>
                  <a:gd name="connsiteY5" fmla="*/ 1397549 h 1607920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55801 w 1065228"/>
                  <a:gd name="connsiteY4" fmla="*/ 1607920 h 1607920"/>
                  <a:gd name="connsiteX5" fmla="*/ 1065228 w 1065228"/>
                  <a:gd name="connsiteY5" fmla="*/ 1397549 h 1607920"/>
                  <a:gd name="connsiteX0" fmla="*/ 1046374 w 1074654"/>
                  <a:gd name="connsiteY0" fmla="*/ 0 h 1618113"/>
                  <a:gd name="connsiteX1" fmla="*/ 1046374 w 1074654"/>
                  <a:gd name="connsiteY1" fmla="*/ 669304 h 1618113"/>
                  <a:gd name="connsiteX2" fmla="*/ 9426 w 1074654"/>
                  <a:gd name="connsiteY2" fmla="*/ 669304 h 1618113"/>
                  <a:gd name="connsiteX3" fmla="*/ 0 w 1074654"/>
                  <a:gd name="connsiteY3" fmla="*/ 1607920 h 1618113"/>
                  <a:gd name="connsiteX4" fmla="*/ 1074654 w 1074654"/>
                  <a:gd name="connsiteY4" fmla="*/ 1618113 h 1618113"/>
                  <a:gd name="connsiteX5" fmla="*/ 1065228 w 1074654"/>
                  <a:gd name="connsiteY5" fmla="*/ 1397549 h 1618113"/>
                  <a:gd name="connsiteX0" fmla="*/ 1046374 w 1065228"/>
                  <a:gd name="connsiteY0" fmla="*/ 0 h 1607920"/>
                  <a:gd name="connsiteX1" fmla="*/ 1046374 w 1065228"/>
                  <a:gd name="connsiteY1" fmla="*/ 669304 h 1607920"/>
                  <a:gd name="connsiteX2" fmla="*/ 9426 w 1065228"/>
                  <a:gd name="connsiteY2" fmla="*/ 669304 h 1607920"/>
                  <a:gd name="connsiteX3" fmla="*/ 0 w 1065228"/>
                  <a:gd name="connsiteY3" fmla="*/ 1607920 h 1607920"/>
                  <a:gd name="connsiteX4" fmla="*/ 1055801 w 1065228"/>
                  <a:gd name="connsiteY4" fmla="*/ 1597727 h 1607920"/>
                  <a:gd name="connsiteX5" fmla="*/ 1065228 w 1065228"/>
                  <a:gd name="connsiteY5" fmla="*/ 1397549 h 1607920"/>
                  <a:gd name="connsiteX0" fmla="*/ 1046374 w 1079614"/>
                  <a:gd name="connsiteY0" fmla="*/ 0 h 1618325"/>
                  <a:gd name="connsiteX1" fmla="*/ 1046374 w 1079614"/>
                  <a:gd name="connsiteY1" fmla="*/ 669304 h 1618325"/>
                  <a:gd name="connsiteX2" fmla="*/ 9426 w 1079614"/>
                  <a:gd name="connsiteY2" fmla="*/ 669304 h 1618325"/>
                  <a:gd name="connsiteX3" fmla="*/ 0 w 1079614"/>
                  <a:gd name="connsiteY3" fmla="*/ 1607920 h 1618325"/>
                  <a:gd name="connsiteX4" fmla="*/ 1079614 w 1079614"/>
                  <a:gd name="connsiteY4" fmla="*/ 1618325 h 1618325"/>
                  <a:gd name="connsiteX5" fmla="*/ 1065228 w 1079614"/>
                  <a:gd name="connsiteY5" fmla="*/ 1397549 h 1618325"/>
                  <a:gd name="connsiteX0" fmla="*/ 1046374 w 1065326"/>
                  <a:gd name="connsiteY0" fmla="*/ 0 h 1608026"/>
                  <a:gd name="connsiteX1" fmla="*/ 1046374 w 1065326"/>
                  <a:gd name="connsiteY1" fmla="*/ 669304 h 1608026"/>
                  <a:gd name="connsiteX2" fmla="*/ 9426 w 1065326"/>
                  <a:gd name="connsiteY2" fmla="*/ 669304 h 1608026"/>
                  <a:gd name="connsiteX3" fmla="*/ 0 w 1065326"/>
                  <a:gd name="connsiteY3" fmla="*/ 1607920 h 1608026"/>
                  <a:gd name="connsiteX4" fmla="*/ 1065326 w 1065326"/>
                  <a:gd name="connsiteY4" fmla="*/ 1608026 h 1608026"/>
                  <a:gd name="connsiteX5" fmla="*/ 1065228 w 1065326"/>
                  <a:gd name="connsiteY5" fmla="*/ 1397549 h 1608026"/>
                  <a:gd name="connsiteX0" fmla="*/ 1046374 w 1065326"/>
                  <a:gd name="connsiteY0" fmla="*/ 0 h 1608026"/>
                  <a:gd name="connsiteX1" fmla="*/ 1046374 w 1065326"/>
                  <a:gd name="connsiteY1" fmla="*/ 669304 h 1608026"/>
                  <a:gd name="connsiteX2" fmla="*/ 9426 w 1065326"/>
                  <a:gd name="connsiteY2" fmla="*/ 669304 h 1608026"/>
                  <a:gd name="connsiteX3" fmla="*/ 0 w 1065326"/>
                  <a:gd name="connsiteY3" fmla="*/ 1607920 h 1608026"/>
                  <a:gd name="connsiteX4" fmla="*/ 1065326 w 1065326"/>
                  <a:gd name="connsiteY4" fmla="*/ 1608026 h 1608026"/>
                  <a:gd name="connsiteX5" fmla="*/ 1065228 w 1065326"/>
                  <a:gd name="connsiteY5" fmla="*/ 1457715 h 1608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5326" h="1608026">
                    <a:moveTo>
                      <a:pt x="1046374" y="0"/>
                    </a:moveTo>
                    <a:lnTo>
                      <a:pt x="1046374" y="669304"/>
                    </a:lnTo>
                    <a:lnTo>
                      <a:pt x="9426" y="669304"/>
                    </a:lnTo>
                    <a:lnTo>
                      <a:pt x="0" y="1607920"/>
                    </a:lnTo>
                    <a:lnTo>
                      <a:pt x="1065326" y="1608026"/>
                    </a:lnTo>
                    <a:cubicBezTo>
                      <a:pt x="1065293" y="1537867"/>
                      <a:pt x="1065261" y="1527874"/>
                      <a:pt x="1065228" y="1457715"/>
                    </a:cubicBezTo>
                  </a:path>
                </a:pathLst>
              </a:custGeom>
              <a:noFill/>
              <a:ln w="12700" cap="flat" cmpd="sng" algn="ctr">
                <a:solidFill>
                  <a:srgbClr val="00AEEF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885" name="모서리가 둥근 직사각형 3">
                <a:extLst>
                  <a:ext uri="{FF2B5EF4-FFF2-40B4-BE49-F238E27FC236}">
                    <a16:creationId xmlns:a16="http://schemas.microsoft.com/office/drawing/2014/main" id="{5168CC07-2FFA-E467-04DA-121128070F5B}"/>
                  </a:ext>
                </a:extLst>
              </p:cNvPr>
              <p:cNvSpPr/>
              <p:nvPr/>
            </p:nvSpPr>
            <p:spPr>
              <a:xfrm>
                <a:off x="1807392" y="5325321"/>
                <a:ext cx="834732" cy="599096"/>
              </a:xfrm>
              <a:prstGeom prst="roundRect">
                <a:avLst>
                  <a:gd name="adj" fmla="val 16873"/>
                </a:avLst>
              </a:prstGeom>
              <a:solidFill>
                <a:srgbClr val="FFFFFF"/>
              </a:solidFill>
              <a:ln w="25400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Embedding</a:t>
                </a:r>
              </a:p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Model</a:t>
                </a:r>
                <a:endParaRPr kumimoji="0" lang="ko-KR" altLang="en-US" sz="10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886" name="모서리가 둥근 직사각형 3">
                <a:extLst>
                  <a:ext uri="{FF2B5EF4-FFF2-40B4-BE49-F238E27FC236}">
                    <a16:creationId xmlns:a16="http://schemas.microsoft.com/office/drawing/2014/main" id="{12E4D245-4D8C-F67E-66AE-7D9FCB8543F4}"/>
                  </a:ext>
                </a:extLst>
              </p:cNvPr>
              <p:cNvSpPr/>
              <p:nvPr/>
            </p:nvSpPr>
            <p:spPr>
              <a:xfrm>
                <a:off x="2162072" y="6079084"/>
                <a:ext cx="2304320" cy="214347"/>
              </a:xfrm>
              <a:prstGeom prst="roundRect">
                <a:avLst>
                  <a:gd name="adj" fmla="val 16873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Sematic Search 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→ 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Response Ranking</a:t>
                </a:r>
                <a:endParaRPr kumimoji="0" lang="ko-KR" altLang="en-US" sz="9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887" name="직사각형 886">
                <a:extLst>
                  <a:ext uri="{FF2B5EF4-FFF2-40B4-BE49-F238E27FC236}">
                    <a16:creationId xmlns:a16="http://schemas.microsoft.com/office/drawing/2014/main" id="{B21CD5FD-09E3-21C5-2B97-A7ECA9EAE211}"/>
                  </a:ext>
                </a:extLst>
              </p:cNvPr>
              <p:cNvSpPr/>
              <p:nvPr/>
            </p:nvSpPr>
            <p:spPr>
              <a:xfrm>
                <a:off x="4849900" y="5000997"/>
                <a:ext cx="221439" cy="186743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888" name="자유형: 도형 887">
                <a:extLst>
                  <a:ext uri="{FF2B5EF4-FFF2-40B4-BE49-F238E27FC236}">
                    <a16:creationId xmlns:a16="http://schemas.microsoft.com/office/drawing/2014/main" id="{E89A2C91-2967-C685-36F7-3FD006EFBC40}"/>
                  </a:ext>
                </a:extLst>
              </p:cNvPr>
              <p:cNvSpPr/>
              <p:nvPr/>
            </p:nvSpPr>
            <p:spPr>
              <a:xfrm>
                <a:off x="3771900" y="4998720"/>
                <a:ext cx="1188720" cy="594360"/>
              </a:xfrm>
              <a:custGeom>
                <a:avLst/>
                <a:gdLst>
                  <a:gd name="connsiteX0" fmla="*/ 0 w 1188720"/>
                  <a:gd name="connsiteY0" fmla="*/ 594360 h 594360"/>
                  <a:gd name="connsiteX1" fmla="*/ 1188720 w 1188720"/>
                  <a:gd name="connsiteY1" fmla="*/ 594360 h 594360"/>
                  <a:gd name="connsiteX2" fmla="*/ 1188720 w 1188720"/>
                  <a:gd name="connsiteY2" fmla="*/ 0 h 594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720" h="594360">
                    <a:moveTo>
                      <a:pt x="0" y="594360"/>
                    </a:moveTo>
                    <a:lnTo>
                      <a:pt x="1188720" y="594360"/>
                    </a:lnTo>
                    <a:lnTo>
                      <a:pt x="1188720" y="0"/>
                    </a:lnTo>
                  </a:path>
                </a:pathLst>
              </a:custGeom>
              <a:noFill/>
              <a:ln w="12700" cap="flat" cmpd="sng" algn="ctr">
                <a:solidFill>
                  <a:srgbClr val="00AEEF"/>
                </a:solidFill>
                <a:prstDash val="solid"/>
                <a:tailEnd type="triangl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36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889" name="모서리가 둥근 직사각형 3">
                <a:extLst>
                  <a:ext uri="{FF2B5EF4-FFF2-40B4-BE49-F238E27FC236}">
                    <a16:creationId xmlns:a16="http://schemas.microsoft.com/office/drawing/2014/main" id="{A6F3A005-A0B4-9BE7-3071-9AA0169B892D}"/>
                  </a:ext>
                </a:extLst>
              </p:cNvPr>
              <p:cNvSpPr/>
              <p:nvPr/>
            </p:nvSpPr>
            <p:spPr>
              <a:xfrm>
                <a:off x="3883001" y="5245548"/>
                <a:ext cx="1785128" cy="181529"/>
              </a:xfrm>
              <a:prstGeom prst="roundRect">
                <a:avLst>
                  <a:gd name="adj" fmla="val 16873"/>
                </a:avLst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14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solidFill>
                        <a:srgbClr val="262626"/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User Prompt &amp; Top Response</a:t>
                </a:r>
                <a:endParaRPr kumimoji="0" lang="ko-KR" altLang="en-US" sz="900" b="0" i="0" u="none" strike="noStrike" kern="0" cap="none" spc="0" normalizeH="0" baseline="0" noProof="0" dirty="0">
                  <a:ln>
                    <a:solidFill>
                      <a:srgbClr val="262626"/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pic>
            <p:nvPicPr>
              <p:cNvPr id="890" name="그림 889" descr="문구용품, 메탈웨어, 압정이(가) 표시된 사진&#10;&#10;자동 생성된 설명">
                <a:extLst>
                  <a:ext uri="{FF2B5EF4-FFF2-40B4-BE49-F238E27FC236}">
                    <a16:creationId xmlns:a16="http://schemas.microsoft.com/office/drawing/2014/main" id="{49138EBA-AD35-8891-177C-4366C8E371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prstClr val="black"/>
                  <a:srgbClr val="EF570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8332465">
                <a:off x="442801" y="5880109"/>
                <a:ext cx="372912" cy="3729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6386604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09FF-6679-A1EE-8662-5F57C6F5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BCAEC-5B33-D17D-871C-0F866611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를 도입하는 </a:t>
            </a:r>
            <a:r>
              <a:rPr lang="en-US" altLang="ko-KR" dirty="0"/>
              <a:t>3</a:t>
            </a:r>
            <a:r>
              <a:rPr lang="ko-KR" altLang="en-US" dirty="0"/>
              <a:t>가지 방법</a:t>
            </a:r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F79CC453-3D62-A0B8-9AB8-534BDCCBE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RAG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는 비용 효율성과 현업 적용에 매우 유리한 방법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905548-D136-80CE-6219-BEC28A4A07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" t="18977" r="1152" b="2302"/>
          <a:stretch>
            <a:fillRect/>
          </a:stretch>
        </p:blipFill>
        <p:spPr>
          <a:xfrm>
            <a:off x="272479" y="1916830"/>
            <a:ext cx="9551919" cy="439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6271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3D886-E997-A6D1-1CD8-92019DCB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Agent</a:t>
            </a:r>
            <a:endParaRPr lang="ko-KR" altLang="en-US" dirty="0"/>
          </a:p>
        </p:txBody>
      </p:sp>
      <p:sp>
        <p:nvSpPr>
          <p:cNvPr id="3" name="직사각형 13">
            <a:extLst>
              <a:ext uri="{FF2B5EF4-FFF2-40B4-BE49-F238E27FC236}">
                <a16:creationId xmlns:a16="http://schemas.microsoft.com/office/drawing/2014/main" id="{5080E6A8-F941-D3A9-9DDB-D8B1BD70B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‘문제 해결을 위한 복합적인 의사결정과 </a:t>
            </a:r>
            <a:r>
              <a:rPr kumimoji="1" lang="ko-KR" altLang="en-US" sz="2000" b="0" dirty="0" err="1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실행’을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 자동화하는 프로세스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3C8A2E8B-BD3D-3878-7F2A-3AA9F5495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75" y="1923279"/>
            <a:ext cx="9551919" cy="440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72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5D84-7A74-3314-5528-0ED1E79B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C3AF7-7476-0A75-0594-889975FF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</a:t>
            </a:r>
            <a:r>
              <a:rPr lang="en-US" altLang="ko-KR" dirty="0"/>
              <a:t> AI </a:t>
            </a:r>
            <a:r>
              <a:rPr lang="ko-KR" altLang="en-US" dirty="0"/>
              <a:t>활용</a:t>
            </a:r>
            <a:r>
              <a:rPr lang="en-US" altLang="ko-KR" dirty="0"/>
              <a:t> </a:t>
            </a:r>
            <a:r>
              <a:rPr lang="ko-KR" altLang="en-US" dirty="0"/>
              <a:t>누구나</a:t>
            </a:r>
            <a:r>
              <a:rPr lang="en-US" altLang="ko-KR" dirty="0"/>
              <a:t> </a:t>
            </a:r>
            <a:r>
              <a:rPr lang="ko-KR" altLang="en-US" dirty="0"/>
              <a:t>가능하도록</a:t>
            </a:r>
          </a:p>
        </p:txBody>
      </p:sp>
      <p:sp>
        <p:nvSpPr>
          <p:cNvPr id="3" name="직사각형 13">
            <a:extLst>
              <a:ext uri="{FF2B5EF4-FFF2-40B4-BE49-F238E27FC236}">
                <a16:creationId xmlns:a16="http://schemas.microsoft.com/office/drawing/2014/main" id="{EC00D2B7-3959-CB19-DD43-902CDA8D4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LV2 VS LV3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우리의 목표는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?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AA22CD-5C99-8258-31E8-7CCBDBEE6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5"/>
          <a:stretch>
            <a:fillRect/>
          </a:stretch>
        </p:blipFill>
        <p:spPr>
          <a:xfrm>
            <a:off x="275510" y="1923278"/>
            <a:ext cx="9530959" cy="44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5609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50AE-7D07-95C6-08A3-F39869BE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24BEBB-F445-031E-BB92-2BEBC2A0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5" t="19264" r="4537" b="5306"/>
          <a:stretch>
            <a:fillRect/>
          </a:stretch>
        </p:blipFill>
        <p:spPr>
          <a:xfrm>
            <a:off x="272479" y="1935016"/>
            <a:ext cx="9533990" cy="4412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FA3894-974C-0213-0AF1-7B2F26F8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윤리적 </a:t>
            </a:r>
            <a:r>
              <a:rPr lang="en-US" altLang="ko-KR" dirty="0"/>
              <a:t>AI </a:t>
            </a:r>
            <a:r>
              <a:rPr lang="ko-KR" altLang="en-US" dirty="0"/>
              <a:t>프레임워크 표준화</a:t>
            </a:r>
          </a:p>
        </p:txBody>
      </p:sp>
      <p:sp>
        <p:nvSpPr>
          <p:cNvPr id="3" name="직사각형 13">
            <a:extLst>
              <a:ext uri="{FF2B5EF4-FFF2-40B4-BE49-F238E27FC236}">
                <a16:creationId xmlns:a16="http://schemas.microsoft.com/office/drawing/2014/main" id="{5CABC22F-8CE8-647D-176D-AD47308FD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AI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서비스의 윤리 기준을 사전에 설정하고 관리하는 체계 마련 필수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47933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7040D-F99C-F2DA-D364-7A06B23D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거버넌스 구축</a:t>
            </a:r>
          </a:p>
        </p:txBody>
      </p:sp>
      <p:sp>
        <p:nvSpPr>
          <p:cNvPr id="3" name="직사각형 13">
            <a:extLst>
              <a:ext uri="{FF2B5EF4-FFF2-40B4-BE49-F238E27FC236}">
                <a16:creationId xmlns:a16="http://schemas.microsoft.com/office/drawing/2014/main" id="{71DF5E1D-24BD-EA13-F221-2FE1F7820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AI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도입의 최종 단계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FE1497-3940-6EDC-0B0D-F59329E3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75" y="1923279"/>
            <a:ext cx="9551919" cy="4408578"/>
          </a:xfrm>
          <a:prstGeom prst="rect">
            <a:avLst/>
          </a:prstGeom>
        </p:spPr>
      </p:pic>
      <p:pic>
        <p:nvPicPr>
          <p:cNvPr id="8" name="그림 7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ADBA2A-46BA-A205-1131-B3B035E8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38" t="20209" r="4903" b="5292"/>
          <a:stretch>
            <a:fillRect/>
          </a:stretch>
        </p:blipFill>
        <p:spPr>
          <a:xfrm>
            <a:off x="264075" y="1935882"/>
            <a:ext cx="9551919" cy="43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0741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C6AC6-4F68-2916-B74F-BDA2E920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45DFF0C-5312-6B5E-0796-5E81C32EFE06}"/>
              </a:ext>
            </a:extLst>
          </p:cNvPr>
          <p:cNvGrpSpPr/>
          <p:nvPr/>
        </p:nvGrpSpPr>
        <p:grpSpPr>
          <a:xfrm>
            <a:off x="3263807" y="1155973"/>
            <a:ext cx="3371436" cy="1474262"/>
            <a:chOff x="3263807" y="1155973"/>
            <a:chExt cx="3371436" cy="14742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781B4B-DACA-12D8-B7C1-AA124804A073}"/>
                </a:ext>
              </a:extLst>
            </p:cNvPr>
            <p:cNvSpPr txBox="1"/>
            <p:nvPr/>
          </p:nvSpPr>
          <p:spPr>
            <a:xfrm>
              <a:off x="3263807" y="2060848"/>
              <a:ext cx="3371436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ko-KR" altLang="en-US" sz="3100" dirty="0"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생성형 </a:t>
              </a:r>
              <a:r>
                <a:rPr lang="en-US" altLang="ko-KR" sz="3100" dirty="0"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AI </a:t>
              </a:r>
              <a:r>
                <a:rPr lang="ko-KR" altLang="en-US" sz="3100" dirty="0">
                  <a:gradFill>
                    <a:gsLst>
                      <a:gs pos="54583">
                        <a:srgbClr val="143F90"/>
                      </a:gs>
                      <a:gs pos="47500">
                        <a:srgbClr val="143F90"/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적용 사례</a:t>
              </a:r>
              <a:endParaRPr kumimoji="0" lang="ko-KR" altLang="en-US" sz="31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73ED5-F138-CE6F-4D9C-04EEF3CB0EC3}"/>
                </a:ext>
              </a:extLst>
            </p:cNvPr>
            <p:cNvSpPr txBox="1"/>
            <p:nvPr/>
          </p:nvSpPr>
          <p:spPr>
            <a:xfrm>
              <a:off x="5083535" y="1155973"/>
              <a:ext cx="582212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100" dirty="0">
                  <a:ln>
                    <a:solidFill>
                      <a:srgbClr val="4897C9">
                        <a:lumMod val="60000"/>
                        <a:lumOff val="40000"/>
                        <a:alpha val="0"/>
                      </a:srgbClr>
                    </a:solidFill>
                  </a:ln>
                  <a:solidFill>
                    <a:srgbClr val="00B0F0"/>
                  </a:solidFill>
                  <a:latin typeface="HY울릉도M" panose="02030600000101010101" pitchFamily="18" charset="-127"/>
                  <a:ea typeface="HY울릉도M" panose="02030600000101010101" pitchFamily="18" charset="-127"/>
                </a:rPr>
                <a:t>２</a:t>
              </a:r>
              <a:endParaRPr kumimoji="0" lang="ko-KR" altLang="en-US" sz="3100" b="0" i="0" u="none" strike="noStrike" kern="1200" cap="none" spc="0" normalizeH="0" baseline="0" noProof="0" dirty="0">
                <a:ln>
                  <a:solidFill>
                    <a:srgbClr val="4897C9">
                      <a:lumMod val="60000"/>
                      <a:lumOff val="40000"/>
                      <a:alpha val="0"/>
                    </a:srgbClr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210329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A947A-31D6-EAB6-9FCA-6F16AA29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활용되는 가장 일반적인 생성형 </a:t>
            </a:r>
            <a:r>
              <a:rPr lang="en-US" altLang="ko-KR" dirty="0"/>
              <a:t>AI </a:t>
            </a:r>
            <a:r>
              <a:rPr lang="ko-KR" altLang="en-US" dirty="0"/>
              <a:t>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CE283B-EF78-F032-AEBE-7BE2767AD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38" y="1556792"/>
            <a:ext cx="7442525" cy="491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8920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F1959-48D2-641F-38BF-F8AFC657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VOC </a:t>
            </a:r>
            <a:r>
              <a:rPr lang="ko-KR" altLang="en-US" dirty="0"/>
              <a:t>분석의 진화</a:t>
            </a:r>
            <a:r>
              <a:rPr lang="en-US" altLang="ko-KR" dirty="0"/>
              <a:t>: </a:t>
            </a:r>
            <a:r>
              <a:rPr lang="ko-KR" altLang="en-US" dirty="0"/>
              <a:t>텍스트 마이닝에서 생성형 </a:t>
            </a:r>
            <a:r>
              <a:rPr lang="en-US" altLang="ko-KR" dirty="0"/>
              <a:t>AI</a:t>
            </a:r>
            <a:r>
              <a:rPr lang="ko-KR" altLang="en-US" dirty="0"/>
              <a:t>까지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9C5831-51F3-2C15-3047-00FAEE17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05" y="1916832"/>
            <a:ext cx="9507587" cy="4104456"/>
          </a:xfrm>
          <a:prstGeom prst="rect">
            <a:avLst/>
          </a:prstGeom>
        </p:spPr>
      </p:pic>
      <p:sp>
        <p:nvSpPr>
          <p:cNvPr id="3" name="직사각형 13">
            <a:extLst>
              <a:ext uri="{FF2B5EF4-FFF2-40B4-BE49-F238E27FC236}">
                <a16:creationId xmlns:a16="http://schemas.microsoft.com/office/drawing/2014/main" id="{BE6E943D-63B0-4EA2-E9D5-019E3FFA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NLP,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텍스트 마이닝의 시대가 저물고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09260772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4CFD2-DD05-BA85-3E5C-13FBB632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VOC </a:t>
            </a:r>
            <a:r>
              <a:rPr lang="ko-KR" altLang="en-US" dirty="0"/>
              <a:t>분석의 진화</a:t>
            </a:r>
            <a:r>
              <a:rPr lang="en-US" altLang="ko-KR" dirty="0"/>
              <a:t>: </a:t>
            </a:r>
            <a:r>
              <a:rPr lang="ko-KR" altLang="en-US" dirty="0"/>
              <a:t>텍스트 마이닝에서 생성형 </a:t>
            </a:r>
            <a:r>
              <a:rPr lang="en-US" altLang="ko-KR" dirty="0"/>
              <a:t>AI</a:t>
            </a:r>
            <a:r>
              <a:rPr lang="ko-KR" altLang="en-US" dirty="0"/>
              <a:t>까지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393286D7-53B3-43BA-234C-44769F7B2850}"/>
              </a:ext>
            </a:extLst>
          </p:cNvPr>
          <p:cNvSpPr>
            <a:spLocks noChangeAspect="1"/>
          </p:cNvSpPr>
          <p:nvPr/>
        </p:nvSpPr>
        <p:spPr>
          <a:xfrm>
            <a:off x="2648744" y="1412776"/>
            <a:ext cx="6552728" cy="4964792"/>
          </a:xfrm>
          <a:prstGeom prst="roundRect">
            <a:avLst>
              <a:gd name="adj" fmla="val 3054"/>
            </a:avLst>
          </a:prstGeom>
          <a:blipFill>
            <a:blip r:embed="rId3"/>
            <a:stretch>
              <a:fillRect t="-6247"/>
            </a:stretch>
          </a:blipFill>
        </p:spPr>
        <p:txBody>
          <a:bodyPr/>
          <a:lstStyle/>
          <a:p>
            <a:pPr latinLnBrk="0"/>
            <a:endParaRPr lang="ko-KR" altLang="en-US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46FC02C-0FEC-DBFA-1793-E8B7E9054120}"/>
              </a:ext>
            </a:extLst>
          </p:cNvPr>
          <p:cNvSpPr txBox="1"/>
          <p:nvPr/>
        </p:nvSpPr>
        <p:spPr>
          <a:xfrm>
            <a:off x="344488" y="1916832"/>
            <a:ext cx="1961060" cy="1184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latinLnBrk="0">
              <a:lnSpc>
                <a:spcPct val="150000"/>
              </a:lnSpc>
            </a:pPr>
            <a:r>
              <a:rPr lang="en-US" sz="2200" spc="-5" dirty="0">
                <a:gradFill>
                  <a:gsLst>
                    <a:gs pos="100000">
                      <a:srgbClr val="FEC000"/>
                    </a:gs>
                    <a:gs pos="2752">
                      <a:srgbClr val="00B0F0"/>
                    </a:gs>
                    <a:gs pos="33000">
                      <a:srgbClr val="5BF3FB"/>
                    </a:gs>
                  </a:gsLst>
                  <a:lin ang="0" scaled="0"/>
                </a:gradFill>
                <a:latin typeface="+mj-lt"/>
                <a:sym typeface="Gmarket Sans Bold"/>
              </a:rPr>
              <a:t>TO-BE : </a:t>
            </a:r>
          </a:p>
          <a:p>
            <a:pPr algn="r" latinLnBrk="0"/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생성형 </a:t>
            </a:r>
            <a:r>
              <a:rPr lang="en-US" altLang="ko-KR" sz="2200" b="1" dirty="0">
                <a:latin typeface="+mn-ea"/>
                <a:cs typeface="Gmarket Sans Bold"/>
                <a:sym typeface="Gmarket Sans Bold"/>
              </a:rPr>
              <a:t>AI </a:t>
            </a:r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기반</a:t>
            </a:r>
            <a:br>
              <a:rPr lang="en-US" altLang="ko-KR" sz="2200" b="1" dirty="0">
                <a:latin typeface="+mn-ea"/>
                <a:cs typeface="Gmarket Sans Bold"/>
                <a:sym typeface="Gmarket Sans Bold"/>
              </a:rPr>
            </a:br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컨텍스트 분석</a:t>
            </a:r>
            <a:endParaRPr lang="en-US" sz="2200" b="1" dirty="0">
              <a:latin typeface="+mn-ea"/>
              <a:cs typeface="Gmarket Sans Bold"/>
              <a:sym typeface="Gmarket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55959953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F820C-9807-A5D8-2033-44FDB09A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고객 분석의 진화</a:t>
            </a:r>
            <a:r>
              <a:rPr lang="en-US" altLang="ko-KR" dirty="0"/>
              <a:t>: </a:t>
            </a:r>
            <a:r>
              <a:rPr lang="ko-KR" altLang="en-US" dirty="0"/>
              <a:t>텍스트 마이닝에서 생성형 </a:t>
            </a:r>
            <a:r>
              <a:rPr lang="en-US" altLang="ko-KR" dirty="0"/>
              <a:t>AI</a:t>
            </a:r>
            <a:r>
              <a:rPr lang="ko-KR" altLang="en-US" dirty="0"/>
              <a:t>까지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D9DD74-BE8B-1A4F-CF6C-FCB2507B0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73" y="1412776"/>
            <a:ext cx="9005455" cy="3915659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CBE3F78F-4481-9593-9C3A-D8F08B4217D9}"/>
              </a:ext>
            </a:extLst>
          </p:cNvPr>
          <p:cNvSpPr txBox="1"/>
          <p:nvPr/>
        </p:nvSpPr>
        <p:spPr>
          <a:xfrm>
            <a:off x="200472" y="5517232"/>
            <a:ext cx="9417496" cy="6924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defPPr>
              <a:defRPr lang="en-US"/>
            </a:defPPr>
            <a:lvl1pPr indent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lvl="1"/>
            <a:r>
              <a:rPr lang="ko-KR" altLang="en-US" sz="1500" dirty="0">
                <a:sym typeface="Noto Sans KR"/>
              </a:rPr>
              <a:t>상의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블랙</a:t>
            </a:r>
            <a:r>
              <a:rPr lang="en-US" altLang="ko-KR" sz="1500" dirty="0">
                <a:sym typeface="Noto Sans KR"/>
              </a:rPr>
              <a:t>’, </a:t>
            </a:r>
            <a:r>
              <a:rPr lang="ko-KR" altLang="en-US" sz="1500" dirty="0">
                <a:sym typeface="Noto Sans KR"/>
              </a:rPr>
              <a:t>하의</a:t>
            </a:r>
            <a:r>
              <a:rPr lang="en-US" altLang="ko-KR" sz="1500" dirty="0">
                <a:sym typeface="Noto Sans KR"/>
              </a:rPr>
              <a:t> ‘</a:t>
            </a:r>
            <a:r>
              <a:rPr lang="ko-KR" altLang="en-US" sz="1500" dirty="0">
                <a:sym typeface="Noto Sans KR"/>
              </a:rPr>
              <a:t>그레이</a:t>
            </a:r>
            <a:r>
              <a:rPr lang="en-US" altLang="ko-KR" sz="1500" dirty="0">
                <a:sym typeface="Noto Sans KR"/>
              </a:rPr>
              <a:t>’, </a:t>
            </a:r>
            <a:r>
              <a:rPr lang="ko-KR" altLang="en-US" sz="1500" dirty="0">
                <a:sym typeface="Noto Sans KR"/>
              </a:rPr>
              <a:t>신발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블랙</a:t>
            </a:r>
            <a:r>
              <a:rPr lang="en-US" altLang="ko-KR" sz="1500" dirty="0">
                <a:sym typeface="Noto Sans KR"/>
              </a:rPr>
              <a:t>’ </a:t>
            </a:r>
            <a:r>
              <a:rPr lang="ko-KR" altLang="en-US" sz="1500" dirty="0">
                <a:sym typeface="Noto Sans KR"/>
              </a:rPr>
              <a:t>등 전체적으로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블랙</a:t>
            </a:r>
            <a:r>
              <a:rPr lang="en-US" altLang="ko-KR" sz="1500" dirty="0">
                <a:sym typeface="Noto Sans KR"/>
              </a:rPr>
              <a:t>’</a:t>
            </a:r>
            <a:r>
              <a:rPr lang="ko-KR" altLang="en-US" sz="1500" dirty="0">
                <a:sym typeface="Noto Sans KR"/>
              </a:rPr>
              <a:t>과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그레이</a:t>
            </a:r>
            <a:r>
              <a:rPr lang="en-US" altLang="ko-KR" sz="1500" dirty="0">
                <a:sym typeface="Noto Sans KR"/>
              </a:rPr>
              <a:t>’ </a:t>
            </a:r>
            <a:r>
              <a:rPr lang="ko-KR" altLang="en-US" sz="1500" dirty="0">
                <a:sym typeface="Noto Sans KR"/>
              </a:rPr>
              <a:t>색상을 선호함</a:t>
            </a:r>
            <a:endParaRPr lang="en-US" altLang="ko-KR" sz="1500" dirty="0">
              <a:sym typeface="Noto Sans KR"/>
            </a:endParaRPr>
          </a:p>
          <a:p>
            <a:pPr lvl="1"/>
            <a:r>
              <a:rPr lang="en-US" sz="1500" dirty="0">
                <a:sym typeface="Noto Sans KR"/>
              </a:rPr>
              <a:t>MD</a:t>
            </a:r>
            <a:r>
              <a:rPr lang="ko-KR" altLang="en-US" sz="1500" dirty="0">
                <a:sym typeface="Noto Sans KR"/>
              </a:rPr>
              <a:t>는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의류</a:t>
            </a:r>
            <a:r>
              <a:rPr lang="en-US" altLang="ko-KR" sz="1500" dirty="0">
                <a:sym typeface="Noto Sans KR"/>
              </a:rPr>
              <a:t>’</a:t>
            </a:r>
            <a:r>
              <a:rPr lang="ko-KR" altLang="en-US" sz="1500" dirty="0">
                <a:sym typeface="Noto Sans KR"/>
              </a:rPr>
              <a:t>와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슈즈</a:t>
            </a:r>
            <a:r>
              <a:rPr lang="en-US" altLang="ko-KR" sz="1500" dirty="0">
                <a:sym typeface="Noto Sans KR"/>
              </a:rPr>
              <a:t>’ </a:t>
            </a:r>
            <a:r>
              <a:rPr lang="ko-KR" altLang="en-US" sz="1500" dirty="0">
                <a:sym typeface="Noto Sans KR"/>
              </a:rPr>
              <a:t>브랜드는 매출 기준은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 err="1">
                <a:sym typeface="Noto Sans KR"/>
              </a:rPr>
              <a:t>까르띠에</a:t>
            </a:r>
            <a:r>
              <a:rPr lang="en-US" altLang="ko-KR" sz="1500" dirty="0">
                <a:sym typeface="Noto Sans KR"/>
              </a:rPr>
              <a:t>’ , </a:t>
            </a:r>
            <a:r>
              <a:rPr lang="ko-KR" altLang="en-US" sz="1500" dirty="0">
                <a:sym typeface="Noto Sans KR"/>
              </a:rPr>
              <a:t>구매횟수 기준은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준지</a:t>
            </a:r>
            <a:r>
              <a:rPr lang="en-US" altLang="ko-KR" sz="1500" dirty="0">
                <a:sym typeface="Noto Sans KR"/>
              </a:rPr>
              <a:t>’</a:t>
            </a:r>
            <a:r>
              <a:rPr lang="ko-KR" altLang="en-US" sz="1500" dirty="0">
                <a:sym typeface="Noto Sans KR"/>
              </a:rPr>
              <a:t>를 선호함</a:t>
            </a:r>
            <a:endParaRPr lang="en-US" altLang="ko-KR" sz="1500" dirty="0">
              <a:sym typeface="Noto Sans KR"/>
            </a:endParaRPr>
          </a:p>
          <a:p>
            <a:pPr lvl="1"/>
            <a:r>
              <a:rPr lang="ko-KR" altLang="en-US" sz="1500" dirty="0">
                <a:sym typeface="Noto Sans KR"/>
              </a:rPr>
              <a:t>의류는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구찌</a:t>
            </a:r>
            <a:r>
              <a:rPr lang="en-US" altLang="ko-KR" sz="1500" dirty="0">
                <a:sym typeface="Noto Sans KR"/>
              </a:rPr>
              <a:t>’, </a:t>
            </a:r>
            <a:r>
              <a:rPr lang="ko-KR" altLang="en-US" sz="1500" dirty="0">
                <a:sym typeface="Noto Sans KR"/>
              </a:rPr>
              <a:t>슈즈는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>
                <a:sym typeface="Noto Sans KR"/>
              </a:rPr>
              <a:t>아쉬</a:t>
            </a:r>
            <a:r>
              <a:rPr lang="en-US" altLang="ko-KR" sz="1500" dirty="0">
                <a:sym typeface="Noto Sans KR"/>
              </a:rPr>
              <a:t>’</a:t>
            </a:r>
            <a:r>
              <a:rPr lang="ko-KR" altLang="en-US" sz="1500" dirty="0">
                <a:sym typeface="Noto Sans KR"/>
              </a:rPr>
              <a:t>를 선호하며 </a:t>
            </a:r>
            <a:r>
              <a:rPr lang="ko-KR" altLang="en-US" sz="1500" dirty="0" err="1">
                <a:sym typeface="Noto Sans KR"/>
              </a:rPr>
              <a:t>주얼리는</a:t>
            </a:r>
            <a:r>
              <a:rPr lang="ko-KR" altLang="en-US" sz="1500" dirty="0">
                <a:sym typeface="Noto Sans KR"/>
              </a:rPr>
              <a:t> </a:t>
            </a:r>
            <a:r>
              <a:rPr lang="en-US" altLang="ko-KR" sz="1500" dirty="0">
                <a:sym typeface="Noto Sans KR"/>
              </a:rPr>
              <a:t>‘</a:t>
            </a:r>
            <a:r>
              <a:rPr lang="ko-KR" altLang="en-US" sz="1500" dirty="0" err="1">
                <a:sym typeface="Noto Sans KR"/>
              </a:rPr>
              <a:t>까르띠에</a:t>
            </a:r>
            <a:r>
              <a:rPr lang="en-US" altLang="ko-KR" sz="1500" dirty="0">
                <a:sym typeface="Noto Sans KR"/>
              </a:rPr>
              <a:t>’</a:t>
            </a:r>
            <a:r>
              <a:rPr lang="ko-KR" altLang="en-US" sz="1500" dirty="0">
                <a:sym typeface="Noto Sans KR"/>
              </a:rPr>
              <a:t>를 선호하는데 </a:t>
            </a:r>
            <a:r>
              <a:rPr lang="en-US" altLang="ko-KR" sz="1500" dirty="0">
                <a:sym typeface="Noto Sans KR"/>
              </a:rPr>
              <a:t>1</a:t>
            </a:r>
            <a:r>
              <a:rPr lang="ko-KR" altLang="en-US" sz="1500" dirty="0">
                <a:sym typeface="Noto Sans KR"/>
              </a:rPr>
              <a:t>회 행사에서 </a:t>
            </a:r>
            <a:r>
              <a:rPr lang="en-US" altLang="ko-KR" sz="1500" dirty="0">
                <a:sym typeface="Noto Sans KR"/>
              </a:rPr>
              <a:t>1</a:t>
            </a:r>
            <a:r>
              <a:rPr lang="ko-KR" altLang="en-US" sz="1500" dirty="0">
                <a:sym typeface="Noto Sans KR"/>
              </a:rPr>
              <a:t>억 </a:t>
            </a:r>
            <a:r>
              <a:rPr lang="en-US" altLang="ko-KR" sz="1500" dirty="0">
                <a:sym typeface="Noto Sans KR"/>
              </a:rPr>
              <a:t>4</a:t>
            </a:r>
            <a:r>
              <a:rPr lang="ko-KR" altLang="en-US" sz="1500" dirty="0">
                <a:sym typeface="Noto Sans KR"/>
              </a:rPr>
              <a:t>천만원을 구매함</a:t>
            </a:r>
            <a:endParaRPr lang="en-US" sz="1500" dirty="0"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7024434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5B77-318E-C6A4-43AD-A19EDFF5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DF27A-3A1D-CB02-58D6-48C47FD3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고객 분석의 진화</a:t>
            </a:r>
            <a:r>
              <a:rPr lang="en-US" altLang="ko-KR" dirty="0"/>
              <a:t>: </a:t>
            </a:r>
            <a:r>
              <a:rPr lang="ko-KR" altLang="en-US" dirty="0"/>
              <a:t>텍스트 마이닝에서 생성형 </a:t>
            </a:r>
            <a:r>
              <a:rPr lang="en-US" altLang="ko-KR" dirty="0"/>
              <a:t>AI</a:t>
            </a:r>
            <a:r>
              <a:rPr lang="ko-KR" altLang="en-US" dirty="0"/>
              <a:t>까지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BDD71F7-CBC3-164F-E180-05F59C4BE777}"/>
              </a:ext>
            </a:extLst>
          </p:cNvPr>
          <p:cNvGrpSpPr>
            <a:grpSpLocks noChangeAspect="1"/>
          </p:cNvGrpSpPr>
          <p:nvPr/>
        </p:nvGrpSpPr>
        <p:grpSpPr>
          <a:xfrm>
            <a:off x="2758596" y="1844825"/>
            <a:ext cx="6531806" cy="4320480"/>
            <a:chOff x="3228091" y="289754"/>
            <a:chExt cx="14694652" cy="8836191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851DD64-19A5-D162-8499-8DE54339F1C9}"/>
                </a:ext>
              </a:extLst>
            </p:cNvPr>
            <p:cNvSpPr/>
            <p:nvPr/>
          </p:nvSpPr>
          <p:spPr>
            <a:xfrm>
              <a:off x="3228091" y="289754"/>
              <a:ext cx="8618493" cy="6442324"/>
            </a:xfrm>
            <a:custGeom>
              <a:avLst/>
              <a:gdLst/>
              <a:ahLst/>
              <a:cxnLst/>
              <a:rect l="l" t="t" r="r" b="b"/>
              <a:pathLst>
                <a:path w="8618493" h="6442324">
                  <a:moveTo>
                    <a:pt x="0" y="0"/>
                  </a:moveTo>
                  <a:lnTo>
                    <a:pt x="8618494" y="0"/>
                  </a:lnTo>
                  <a:lnTo>
                    <a:pt x="8618494" y="6442324"/>
                  </a:lnTo>
                  <a:lnTo>
                    <a:pt x="0" y="6442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/>
            <a:lstStyle/>
            <a:p>
              <a:pPr latinLnBrk="0"/>
              <a:endParaRPr lang="ko-KR" altLang="en-US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1F83711-F676-A6A7-06E2-10123315F920}"/>
                </a:ext>
              </a:extLst>
            </p:cNvPr>
            <p:cNvSpPr/>
            <p:nvPr/>
          </p:nvSpPr>
          <p:spPr>
            <a:xfrm>
              <a:off x="8413779" y="2683622"/>
              <a:ext cx="9508965" cy="6442323"/>
            </a:xfrm>
            <a:custGeom>
              <a:avLst/>
              <a:gdLst/>
              <a:ahLst/>
              <a:cxnLst/>
              <a:rect l="l" t="t" r="r" b="b"/>
              <a:pathLst>
                <a:path w="9508965" h="6442324">
                  <a:moveTo>
                    <a:pt x="0" y="0"/>
                  </a:moveTo>
                  <a:lnTo>
                    <a:pt x="9508965" y="0"/>
                  </a:lnTo>
                  <a:lnTo>
                    <a:pt x="9508965" y="6442324"/>
                  </a:lnTo>
                  <a:lnTo>
                    <a:pt x="0" y="6442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/>
            <a:lstStyle/>
            <a:p>
              <a:pPr latinLnBrk="0"/>
              <a:endParaRPr lang="ko-KR" altLang="en-US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3849D1F0-BA03-BEA1-040C-8DA0FFB84E18}"/>
              </a:ext>
            </a:extLst>
          </p:cNvPr>
          <p:cNvSpPr txBox="1"/>
          <p:nvPr/>
        </p:nvSpPr>
        <p:spPr>
          <a:xfrm>
            <a:off x="615598" y="1965410"/>
            <a:ext cx="1961060" cy="1523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latinLnBrk="0">
              <a:lnSpc>
                <a:spcPct val="150000"/>
              </a:lnSpc>
            </a:pPr>
            <a:r>
              <a:rPr lang="en-US" sz="2200" spc="-5" dirty="0">
                <a:gradFill>
                  <a:gsLst>
                    <a:gs pos="100000">
                      <a:srgbClr val="FEC000"/>
                    </a:gs>
                    <a:gs pos="2752">
                      <a:srgbClr val="00B0F0"/>
                    </a:gs>
                    <a:gs pos="33000">
                      <a:srgbClr val="5BF3FB"/>
                    </a:gs>
                  </a:gsLst>
                  <a:lin ang="0" scaled="0"/>
                </a:gradFill>
                <a:latin typeface="+mj-lt"/>
                <a:ea typeface="G마켓 산스 TTF Bold" panose="02000000000000000000" pitchFamily="2" charset="-127"/>
                <a:sym typeface="Gmarket Sans Bold"/>
              </a:rPr>
              <a:t>TO-BE : </a:t>
            </a:r>
          </a:p>
          <a:p>
            <a:pPr algn="r" latinLnBrk="0"/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생성형 </a:t>
            </a:r>
            <a:r>
              <a:rPr lang="en-US" altLang="ko-KR" sz="2200" b="1" dirty="0">
                <a:latin typeface="+mn-ea"/>
                <a:cs typeface="Gmarket Sans Bold"/>
                <a:sym typeface="Gmarket Sans Bold"/>
              </a:rPr>
              <a:t>AI </a:t>
            </a:r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기반 고객 분석 </a:t>
            </a:r>
            <a:br>
              <a:rPr lang="ko-KR" altLang="en-US" sz="2200" b="1" dirty="0">
                <a:latin typeface="+mn-ea"/>
                <a:cs typeface="Gmarket Sans Bold"/>
                <a:sym typeface="Gmarket Sans Bold"/>
              </a:rPr>
            </a:br>
            <a:r>
              <a:rPr lang="ko-KR" altLang="en-US" sz="2200" b="1" dirty="0">
                <a:latin typeface="+mn-ea"/>
                <a:cs typeface="Gmarket Sans Bold"/>
                <a:sym typeface="Gmarket Sans Bold"/>
              </a:rPr>
              <a:t>리포트</a:t>
            </a:r>
            <a:endParaRPr lang="en-US" sz="2200" b="1" dirty="0">
              <a:latin typeface="+mn-ea"/>
              <a:cs typeface="Gmarket Sans Bold"/>
              <a:sym typeface="Gmarket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557761197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D29F8-6B3E-6FDC-C38B-F304673F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상용화에 따른 비즈니스 혁신 사례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664FEE-AE43-15CB-305D-125469832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916832"/>
            <a:ext cx="9370665" cy="4248472"/>
          </a:xfrm>
          <a:prstGeom prst="rect">
            <a:avLst/>
          </a:prstGeom>
        </p:spPr>
      </p:pic>
      <p:sp>
        <p:nvSpPr>
          <p:cNvPr id="3" name="직사각형 13">
            <a:extLst>
              <a:ext uri="{FF2B5EF4-FFF2-40B4-BE49-F238E27FC236}">
                <a16:creationId xmlns:a16="http://schemas.microsoft.com/office/drawing/2014/main" id="{1B3BED4D-B589-DA3A-9989-7DFB86D58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감성분석에서 요약으로의 진화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265616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330D8-ABC4-59D3-8E03-BA3ACC1D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</a:t>
            </a:r>
            <a:r>
              <a:rPr lang="ko-KR" altLang="en-US" dirty="0"/>
              <a:t>사 </a:t>
            </a:r>
            <a:r>
              <a:rPr lang="en-US" altLang="ko-KR" dirty="0"/>
              <a:t>AI </a:t>
            </a:r>
            <a:r>
              <a:rPr lang="ko-KR" altLang="en-US" dirty="0" err="1"/>
              <a:t>브랜치</a:t>
            </a:r>
            <a:r>
              <a:rPr lang="en-US" altLang="ko-KR" dirty="0"/>
              <a:t>: </a:t>
            </a:r>
            <a:r>
              <a:rPr lang="ko-KR" altLang="en-US" dirty="0"/>
              <a:t>고객 상담 자동화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70B577-6968-452B-C425-780C4D48B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3" y="1916831"/>
            <a:ext cx="9475474" cy="4150593"/>
          </a:xfrm>
          <a:prstGeom prst="rect">
            <a:avLst/>
          </a:prstGeom>
        </p:spPr>
      </p:pic>
      <p:sp>
        <p:nvSpPr>
          <p:cNvPr id="3" name="직사각형 13">
            <a:extLst>
              <a:ext uri="{FF2B5EF4-FFF2-40B4-BE49-F238E27FC236}">
                <a16:creationId xmlns:a16="http://schemas.microsoft.com/office/drawing/2014/main" id="{479C55CB-FC08-077E-8F87-825C22202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상담사가 개인 비서를 데리고 일해요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!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 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‘AI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실시간 상담 어시스턴트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46223342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F62FC-F0FA-B780-EF2C-6F98D36C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en-US" altLang="ko-KR" dirty="0"/>
              <a:t>S</a:t>
            </a:r>
            <a:r>
              <a:rPr lang="ko-KR" altLang="en-US" dirty="0"/>
              <a:t>사 </a:t>
            </a:r>
            <a:r>
              <a:rPr lang="en-US" altLang="ko-KR" dirty="0"/>
              <a:t>Global </a:t>
            </a:r>
            <a:r>
              <a:rPr lang="en-US" altLang="ko-KR" dirty="0" err="1"/>
              <a:t>ChatIQ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7C1C33-9195-9605-33F3-73D64156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0" y="1916832"/>
            <a:ext cx="9494628" cy="4360143"/>
          </a:xfrm>
          <a:prstGeom prst="rect">
            <a:avLst/>
          </a:prstGeom>
        </p:spPr>
      </p:pic>
      <p:sp>
        <p:nvSpPr>
          <p:cNvPr id="3" name="직사각형 13">
            <a:extLst>
              <a:ext uri="{FF2B5EF4-FFF2-40B4-BE49-F238E27FC236}">
                <a16:creationId xmlns:a16="http://schemas.microsoft.com/office/drawing/2014/main" id="{5B91A80A-C47D-1CCD-1031-1C6DC960A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Kensho(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견성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)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사물의 본질을 들여다 보다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87118375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CF4F6-AB26-8E3A-9665-ED725A1F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ko-KR" altLang="en-US" dirty="0"/>
              <a:t>사</a:t>
            </a:r>
            <a:r>
              <a:rPr lang="en-US" altLang="ko-KR" dirty="0"/>
              <a:t>: 40</a:t>
            </a:r>
            <a:r>
              <a:rPr lang="ko-KR" altLang="en-US" dirty="0"/>
              <a:t>여 개 업무 자동화</a:t>
            </a: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ECFE46-770E-6D34-065C-74423021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0" t="20277" r="2750" b="7354"/>
          <a:stretch>
            <a:fillRect/>
          </a:stretch>
        </p:blipFill>
        <p:spPr>
          <a:xfrm>
            <a:off x="272479" y="1988840"/>
            <a:ext cx="9528201" cy="4104456"/>
          </a:xfrm>
          <a:prstGeom prst="rect">
            <a:avLst/>
          </a:prstGeom>
        </p:spPr>
      </p:pic>
      <p:sp>
        <p:nvSpPr>
          <p:cNvPr id="6" name="직사각형 13">
            <a:extLst>
              <a:ext uri="{FF2B5EF4-FFF2-40B4-BE49-F238E27FC236}">
                <a16:creationId xmlns:a16="http://schemas.microsoft.com/office/drawing/2014/main" id="{2FE11B13-9A4E-E722-1B5B-74480220A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우리 직원들도 개인 비서를 데리고 일해요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!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 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‘AI 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비서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465728235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55D9-BDC2-5E47-3329-9BA12F4D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E4963-E9DA-F428-F2A1-F083A3C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</a:t>
            </a:r>
            <a:r>
              <a:rPr lang="ko-KR" altLang="en-US" dirty="0"/>
              <a:t>사</a:t>
            </a:r>
            <a:r>
              <a:rPr lang="en-US" altLang="ko-KR" dirty="0"/>
              <a:t>: </a:t>
            </a:r>
            <a:r>
              <a:rPr lang="ko-KR" altLang="en-US" dirty="0"/>
              <a:t>시스템 구성도 자동생성 </a:t>
            </a:r>
            <a:r>
              <a:rPr lang="en-US" altLang="ko-KR" dirty="0"/>
              <a:t>Agentic AI</a:t>
            </a:r>
            <a:endParaRPr lang="ko-KR" altLang="en-US" dirty="0"/>
          </a:p>
        </p:txBody>
      </p:sp>
      <p:sp>
        <p:nvSpPr>
          <p:cNvPr id="6" name="직사각형 13">
            <a:extLst>
              <a:ext uri="{FF2B5EF4-FFF2-40B4-BE49-F238E27FC236}">
                <a16:creationId xmlns:a16="http://schemas.microsoft.com/office/drawing/2014/main" id="{20FDA07C-11F4-DCCD-E564-8BC0EDF2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79" y="1431826"/>
            <a:ext cx="9003721" cy="32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algn="ctr" eaLnBrk="1" fontAlgn="base" latinLnBrk="0" hangingPunct="1">
              <a:lnSpc>
                <a:spcPct val="110000"/>
              </a:lnSpc>
              <a:spcAft>
                <a:spcPct val="0"/>
              </a:spcAft>
            </a:pP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IT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부서의 모든 시스템 구성을 </a:t>
            </a:r>
            <a:r>
              <a:rPr kumimoji="1" lang="en-US" altLang="ko-KR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AI</a:t>
            </a:r>
            <a:r>
              <a:rPr kumimoji="1" lang="ko-KR" altLang="en-US" sz="2000" b="0" dirty="0">
                <a:gradFill>
                  <a:gsLst>
                    <a:gs pos="4167">
                      <a:prstClr val="black">
                        <a:lumMod val="75000"/>
                        <a:lumOff val="25000"/>
                      </a:prstClr>
                    </a:gs>
                    <a:gs pos="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cs typeface="Arial" charset="0"/>
              </a:rPr>
              <a:t>로 표준화하고 자동화</a:t>
            </a:r>
            <a:endParaRPr kumimoji="1" lang="en-US" altLang="ko-KR" sz="2000" b="0" dirty="0">
              <a:gradFill>
                <a:gsLst>
                  <a:gs pos="4167">
                    <a:prstClr val="black">
                      <a:lumMod val="75000"/>
                      <a:lumOff val="25000"/>
                    </a:prstClr>
                  </a:gs>
                  <a:gs pos="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cs typeface="Arial" charset="0"/>
            </a:endParaRPr>
          </a:p>
        </p:txBody>
      </p:sp>
      <p:pic>
        <p:nvPicPr>
          <p:cNvPr id="4" name="그림 3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6A4BE5-D5C4-5526-5C0D-084D6613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1916832"/>
            <a:ext cx="12660751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602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54 2.22222E-6 L -0.34039 0.00023 " pathEditMode="relative" rAng="0" ptsTypes="AA">
                                      <p:cBhvr>
                                        <p:cTn id="6" dur="3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3F51-539B-A346-909D-9C7B98AE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28A5B-6880-CDD6-10E1-1D4DC811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사례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B2B1C0-FFE3-E882-9D4C-4824F9C4B02B}"/>
              </a:ext>
            </a:extLst>
          </p:cNvPr>
          <p:cNvGrpSpPr/>
          <p:nvPr/>
        </p:nvGrpSpPr>
        <p:grpSpPr>
          <a:xfrm>
            <a:off x="488504" y="1389916"/>
            <a:ext cx="4464496" cy="4992469"/>
            <a:chOff x="4224225" y="1085224"/>
            <a:chExt cx="5877346" cy="5297161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8DDA90F-501A-BB67-6313-86EEDBD415C7}"/>
                </a:ext>
              </a:extLst>
            </p:cNvPr>
            <p:cNvGrpSpPr/>
            <p:nvPr/>
          </p:nvGrpSpPr>
          <p:grpSpPr>
            <a:xfrm>
              <a:off x="4224225" y="1085224"/>
              <a:ext cx="5681775" cy="5297161"/>
              <a:chOff x="4129232" y="1085224"/>
              <a:chExt cx="6347589" cy="5297161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95D6E397-3A72-C490-4A2F-E5D7C112B454}"/>
                  </a:ext>
                </a:extLst>
              </p:cNvPr>
              <p:cNvSpPr/>
              <p:nvPr/>
            </p:nvSpPr>
            <p:spPr>
              <a:xfrm>
                <a:off x="4129232" y="1097939"/>
                <a:ext cx="168506" cy="5267775"/>
              </a:xfrm>
              <a:prstGeom prst="rect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60" name="왼쪽 대괄호 59">
                <a:extLst>
                  <a:ext uri="{FF2B5EF4-FFF2-40B4-BE49-F238E27FC236}">
                    <a16:creationId xmlns:a16="http://schemas.microsoft.com/office/drawing/2014/main" id="{BCBA0A46-A9E6-95F3-46FD-A3717B32654C}"/>
                  </a:ext>
                </a:extLst>
              </p:cNvPr>
              <p:cNvSpPr/>
              <p:nvPr/>
            </p:nvSpPr>
            <p:spPr>
              <a:xfrm>
                <a:off x="4226357" y="1085224"/>
                <a:ext cx="6250464" cy="5297161"/>
              </a:xfrm>
              <a:prstGeom prst="leftBracket">
                <a:avLst>
                  <a:gd name="adj" fmla="val 0"/>
                </a:avLst>
              </a:prstGeom>
              <a:solidFill>
                <a:sysClr val="window" lastClr="FFFFFF"/>
              </a:solidFill>
              <a:ln w="22225" cap="flat" cmpd="sng" algn="ctr">
                <a:solidFill>
                  <a:srgbClr val="263B6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3352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A343E48-8DCF-DF8E-A0C7-BA19B67878C9}"/>
                </a:ext>
              </a:extLst>
            </p:cNvPr>
            <p:cNvGrpSpPr/>
            <p:nvPr/>
          </p:nvGrpSpPr>
          <p:grpSpPr>
            <a:xfrm>
              <a:off x="4322739" y="2084342"/>
              <a:ext cx="5778832" cy="4298043"/>
              <a:chOff x="4408464" y="2150024"/>
              <a:chExt cx="5778832" cy="4252690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604DD32E-3883-2937-922D-A72DE73D90A8}"/>
                  </a:ext>
                </a:extLst>
              </p:cNvPr>
              <p:cNvGrpSpPr/>
              <p:nvPr/>
            </p:nvGrpSpPr>
            <p:grpSpPr>
              <a:xfrm>
                <a:off x="4408465" y="2150024"/>
                <a:ext cx="5594194" cy="1294845"/>
                <a:chOff x="4408465" y="2150024"/>
                <a:chExt cx="5594194" cy="1294845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0D5035AE-BDF4-9E6C-94A1-D2A48AF90309}"/>
                    </a:ext>
                  </a:extLst>
                </p:cNvPr>
                <p:cNvGrpSpPr/>
                <p:nvPr/>
              </p:nvGrpSpPr>
              <p:grpSpPr>
                <a:xfrm>
                  <a:off x="4408465" y="2150024"/>
                  <a:ext cx="5594194" cy="1294845"/>
                  <a:chOff x="4537082" y="2150024"/>
                  <a:chExt cx="5453738" cy="1294845"/>
                </a:xfrm>
              </p:grpSpPr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B66E3B4F-CB5D-7B7A-5470-297C0BDB3A21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5453738" cy="1086967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2E1AB40A-C313-CD8F-DB21-5E6402E4102D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111117" cy="129484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B1DBEEE-9353-20CE-3011-1683A53184FE}"/>
                    </a:ext>
                  </a:extLst>
                </p:cNvPr>
                <p:cNvGrpSpPr/>
                <p:nvPr/>
              </p:nvGrpSpPr>
              <p:grpSpPr>
                <a:xfrm>
                  <a:off x="4791074" y="2392696"/>
                  <a:ext cx="4800999" cy="514008"/>
                  <a:chOff x="682775" y="2889996"/>
                  <a:chExt cx="4800999" cy="609223"/>
                </a:xfrm>
              </p:grpSpPr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F4F9A855-F1F9-EB7C-6A6E-7227F4FA7C95}"/>
                      </a:ext>
                    </a:extLst>
                  </p:cNvPr>
                  <p:cNvSpPr/>
                  <p:nvPr/>
                </p:nvSpPr>
                <p:spPr>
                  <a:xfrm>
                    <a:off x="682775" y="2889997"/>
                    <a:ext cx="289136" cy="209207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01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55" name="직사각형 54">
                    <a:extLst>
                      <a:ext uri="{FF2B5EF4-FFF2-40B4-BE49-F238E27FC236}">
                        <a16:creationId xmlns:a16="http://schemas.microsoft.com/office/drawing/2014/main" id="{35B24001-B849-D9AE-F33D-95C92DB7D925}"/>
                      </a:ext>
                    </a:extLst>
                  </p:cNvPr>
                  <p:cNvSpPr/>
                  <p:nvPr/>
                </p:nvSpPr>
                <p:spPr>
                  <a:xfrm>
                    <a:off x="1053667" y="2889996"/>
                    <a:ext cx="3466655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광고 마케팅 </a:t>
                    </a: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Agent</a:t>
                    </a:r>
                    <a:endParaRPr kumimoji="1" lang="ko-KR" altLang="en-US" sz="1600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  <a:sym typeface="Arial"/>
                    </a:endParaRPr>
                  </a:p>
                </p:txBody>
              </p:sp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0D578B89-0E3B-3E19-85DC-8A524F9A10D3}"/>
                      </a:ext>
                    </a:extLst>
                  </p:cNvPr>
                  <p:cNvSpPr/>
                  <p:nvPr/>
                </p:nvSpPr>
                <p:spPr>
                  <a:xfrm>
                    <a:off x="1053668" y="3154547"/>
                    <a:ext cx="4430106" cy="344672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lvl="1" indent="-134938" defTabSz="995549" eaLnBrk="0" fontAlgn="base" hangingPunct="0"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마케팅 전략 수립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및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실행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에 필요한 다양한 기능 제공</a:t>
                    </a:r>
                    <a:endParaRPr kumimoji="1" lang="en-US" altLang="ko-KR" sz="120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51E9BA6-45EB-0D21-3174-CEC5AE8196CF}"/>
                  </a:ext>
                </a:extLst>
              </p:cNvPr>
              <p:cNvGrpSpPr/>
              <p:nvPr/>
            </p:nvGrpSpPr>
            <p:grpSpPr>
              <a:xfrm>
                <a:off x="4408464" y="3285868"/>
                <a:ext cx="5594195" cy="1343395"/>
                <a:chOff x="4408464" y="2215893"/>
                <a:chExt cx="5594195" cy="1343395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E69BDE38-A41D-1641-921B-E3F56B82F428}"/>
                    </a:ext>
                  </a:extLst>
                </p:cNvPr>
                <p:cNvGrpSpPr/>
                <p:nvPr/>
              </p:nvGrpSpPr>
              <p:grpSpPr>
                <a:xfrm>
                  <a:off x="4408464" y="2215893"/>
                  <a:ext cx="5594195" cy="1343395"/>
                  <a:chOff x="4537081" y="2215893"/>
                  <a:chExt cx="5453739" cy="1343395"/>
                </a:xfrm>
              </p:grpSpPr>
              <p:sp>
                <p:nvSpPr>
                  <p:cNvPr id="50" name="직사각형 49">
                    <a:extLst>
                      <a:ext uri="{FF2B5EF4-FFF2-40B4-BE49-F238E27FC236}">
                        <a16:creationId xmlns:a16="http://schemas.microsoft.com/office/drawing/2014/main" id="{733F569A-A72B-4003-A7DC-3765E23696C3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215893"/>
                    <a:ext cx="5453738" cy="134339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51" name="직사각형 50">
                    <a:extLst>
                      <a:ext uri="{FF2B5EF4-FFF2-40B4-BE49-F238E27FC236}">
                        <a16:creationId xmlns:a16="http://schemas.microsoft.com/office/drawing/2014/main" id="{A6DF4B48-8334-4528-51C4-36358BD7B20F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1" y="2414708"/>
                    <a:ext cx="111117" cy="1144580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907DDBB4-20D7-F31E-60AC-C08E3CE0B843}"/>
                    </a:ext>
                  </a:extLst>
                </p:cNvPr>
                <p:cNvGrpSpPr/>
                <p:nvPr/>
              </p:nvGrpSpPr>
              <p:grpSpPr>
                <a:xfrm>
                  <a:off x="4791074" y="2470001"/>
                  <a:ext cx="5109981" cy="982528"/>
                  <a:chOff x="682775" y="2981617"/>
                  <a:chExt cx="5109981" cy="1164530"/>
                </a:xfrm>
              </p:grpSpPr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DEF9D2CB-9D6C-7F7A-3B59-B0E2CC483B17}"/>
                      </a:ext>
                    </a:extLst>
                  </p:cNvPr>
                  <p:cNvSpPr/>
                  <p:nvPr/>
                </p:nvSpPr>
                <p:spPr>
                  <a:xfrm>
                    <a:off x="682775" y="2981620"/>
                    <a:ext cx="289136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02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48" name="직사각형 47">
                    <a:extLst>
                      <a:ext uri="{FF2B5EF4-FFF2-40B4-BE49-F238E27FC236}">
                        <a16:creationId xmlns:a16="http://schemas.microsoft.com/office/drawing/2014/main" id="{36C5BF04-5D80-F8CD-BBAF-1CA29AF3FA07}"/>
                      </a:ext>
                    </a:extLst>
                  </p:cNvPr>
                  <p:cNvSpPr/>
                  <p:nvPr/>
                </p:nvSpPr>
                <p:spPr>
                  <a:xfrm>
                    <a:off x="1053667" y="2981617"/>
                    <a:ext cx="3466655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kumimoji="1" lang="ko-KR" altLang="en-US" sz="1600" b="1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사내 업무 지원 </a:t>
                    </a:r>
                    <a:r>
                      <a:rPr kumimoji="1" lang="en-US" altLang="ko-KR" sz="1600" b="1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Agent</a:t>
                    </a:r>
                    <a:endParaRPr kumimoji="1" lang="ko-KR" altLang="en-US" sz="1600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49" name="직사각형 48">
                    <a:extLst>
                      <a:ext uri="{FF2B5EF4-FFF2-40B4-BE49-F238E27FC236}">
                        <a16:creationId xmlns:a16="http://schemas.microsoft.com/office/drawing/2014/main" id="{E02D9208-1A5B-CEBA-8650-B29FE9A38561}"/>
                      </a:ext>
                    </a:extLst>
                  </p:cNvPr>
                  <p:cNvSpPr/>
                  <p:nvPr/>
                </p:nvSpPr>
                <p:spPr>
                  <a:xfrm>
                    <a:off x="1053667" y="3246173"/>
                    <a:ext cx="4739089" cy="899974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lvl="1" indent="-134938" defTabSz="995549" eaLnBrk="0" fontAlgn="base" hangingPunct="0"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반복 업무의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자동화 전환 기능 제공</a:t>
                    </a:r>
                    <a:endParaRPr kumimoji="1" lang="en-US" altLang="ko-KR" sz="120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srgbClr val="D91334">
                          <a:lumMod val="50000"/>
                        </a:srgbClr>
                      </a:solidFill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lvl="1" indent="-134938" defTabSz="995549" eaLnBrk="0" fontAlgn="base" hangingPunct="0"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AI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기반 사내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지식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및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정보 검색</a:t>
                    </a: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,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요약</a:t>
                    </a: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,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질의 응답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기능 제공</a:t>
                    </a:r>
                  </a:p>
                </p:txBody>
              </p:sp>
            </p:grp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21695C5-6161-10F4-94C7-B4096D4CEF87}"/>
                  </a:ext>
                </a:extLst>
              </p:cNvPr>
              <p:cNvGrpSpPr/>
              <p:nvPr/>
            </p:nvGrpSpPr>
            <p:grpSpPr>
              <a:xfrm>
                <a:off x="4408464" y="4669078"/>
                <a:ext cx="5778832" cy="1733636"/>
                <a:chOff x="4408464" y="2529128"/>
                <a:chExt cx="5778832" cy="1733636"/>
              </a:xfrm>
            </p:grpSpPr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C6B0CA3E-F820-95D1-3B58-1D6D7BDA4B2E}"/>
                    </a:ext>
                  </a:extLst>
                </p:cNvPr>
                <p:cNvGrpSpPr/>
                <p:nvPr/>
              </p:nvGrpSpPr>
              <p:grpSpPr>
                <a:xfrm>
                  <a:off x="4408464" y="2529128"/>
                  <a:ext cx="5594195" cy="1733636"/>
                  <a:chOff x="4537081" y="2529128"/>
                  <a:chExt cx="5453739" cy="1733636"/>
                </a:xfrm>
              </p:grpSpPr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BA9A15EF-9E5F-6338-95F3-A44CD697C2BE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543359"/>
                    <a:ext cx="5453738" cy="171940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44" name="직사각형 43">
                    <a:extLst>
                      <a:ext uri="{FF2B5EF4-FFF2-40B4-BE49-F238E27FC236}">
                        <a16:creationId xmlns:a16="http://schemas.microsoft.com/office/drawing/2014/main" id="{8211A4AA-E612-67D0-9FF0-6E8729D46113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1" y="2529128"/>
                    <a:ext cx="111117" cy="1733636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A2EE481C-F256-8669-3AB8-A14932D367A6}"/>
                    </a:ext>
                  </a:extLst>
                </p:cNvPr>
                <p:cNvGrpSpPr/>
                <p:nvPr/>
              </p:nvGrpSpPr>
              <p:grpSpPr>
                <a:xfrm>
                  <a:off x="4791074" y="2881113"/>
                  <a:ext cx="5396222" cy="1022063"/>
                  <a:chOff x="682775" y="3468885"/>
                  <a:chExt cx="5396222" cy="1211387"/>
                </a:xfrm>
              </p:grpSpPr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023C3D7D-4113-128E-82CB-445FA591FDAD}"/>
                      </a:ext>
                    </a:extLst>
                  </p:cNvPr>
                  <p:cNvSpPr/>
                  <p:nvPr/>
                </p:nvSpPr>
                <p:spPr>
                  <a:xfrm>
                    <a:off x="682775" y="3468885"/>
                    <a:ext cx="289136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03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41" name="직사각형 40">
                    <a:extLst>
                      <a:ext uri="{FF2B5EF4-FFF2-40B4-BE49-F238E27FC236}">
                        <a16:creationId xmlns:a16="http://schemas.microsoft.com/office/drawing/2014/main" id="{FE1373A0-05D5-F2A7-25A2-78CC23EAD7A7}"/>
                      </a:ext>
                    </a:extLst>
                  </p:cNvPr>
                  <p:cNvSpPr/>
                  <p:nvPr/>
                </p:nvSpPr>
                <p:spPr>
                  <a:xfrm>
                    <a:off x="1053667" y="3468885"/>
                    <a:ext cx="3466655" cy="209204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defRPr/>
                    </a:pPr>
                    <a:r>
                      <a:rPr kumimoji="1" lang="en-US" altLang="ko-KR" sz="1600" b="1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Agent </a:t>
                    </a:r>
                    <a:r>
                      <a:rPr kumimoji="1" lang="ko-KR" altLang="en-US" sz="1600" b="1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관리 및 운영 체계 수립</a:t>
                    </a:r>
                    <a:endParaRPr kumimoji="1" lang="ko-KR" altLang="en-US" sz="1600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A3ACEF35-AB36-984E-FE64-5D38B68BF609}"/>
                      </a:ext>
                    </a:extLst>
                  </p:cNvPr>
                  <p:cNvSpPr/>
                  <p:nvPr/>
                </p:nvSpPr>
                <p:spPr>
                  <a:xfrm>
                    <a:off x="1053668" y="3780298"/>
                    <a:ext cx="5025329" cy="899974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algn="l" defTabSz="995549" rtl="0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데이터의 </a:t>
                    </a:r>
                    <a:r>
                      <a:rPr kumimoji="1" lang="ko-KR" altLang="en-US" sz="1200" dirty="0" err="1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최신성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 유지 및 모니터링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,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서비스 관리 등 </a:t>
                    </a:r>
                    <a:b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</a:b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운영 체계 수립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srgbClr val="D91334">
                          <a:lumMod val="50000"/>
                        </a:srgb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  <a:sym typeface="Arial"/>
                    </a:endParaRPr>
                  </a:p>
                  <a:p>
                    <a:pPr marL="134938" marR="0" lvl="1" indent="-134938" algn="l" defTabSz="995549" rtl="0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Agent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개발 및 운영까지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sym typeface="Arial"/>
                      </a:rPr>
                      <a:t>통합관리체계 수립 및 기술 지원</a:t>
                    </a:r>
                  </a:p>
                </p:txBody>
              </p:sp>
            </p:grpSp>
          </p:grpSp>
        </p:grp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253CA71-3FB3-6A05-F393-0E346F664CB6}"/>
              </a:ext>
            </a:extLst>
          </p:cNvPr>
          <p:cNvSpPr/>
          <p:nvPr/>
        </p:nvSpPr>
        <p:spPr>
          <a:xfrm rot="10800000" flipV="1">
            <a:off x="1272446" y="1844550"/>
            <a:ext cx="2513103" cy="26905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lvl="0" algn="r" defTabSz="914127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700"/>
              </a:spcAft>
              <a:buClrTx/>
              <a:defRPr/>
            </a:pPr>
            <a:r>
              <a:rPr kumimoji="1" lang="ko-KR" altLang="en-US" sz="2000" b="1" kern="120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광고기획사 적용 사례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78BC0F2-4694-40E6-9CCF-121EACCF76A9}"/>
              </a:ext>
            </a:extLst>
          </p:cNvPr>
          <p:cNvGrpSpPr/>
          <p:nvPr/>
        </p:nvGrpSpPr>
        <p:grpSpPr>
          <a:xfrm>
            <a:off x="4922105" y="1389916"/>
            <a:ext cx="4639407" cy="4976757"/>
            <a:chOff x="4224225" y="1085224"/>
            <a:chExt cx="5692709" cy="5297161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7D7B7D23-40AE-1AB4-8984-5CF12948EFEF}"/>
                </a:ext>
              </a:extLst>
            </p:cNvPr>
            <p:cNvGrpSpPr/>
            <p:nvPr/>
          </p:nvGrpSpPr>
          <p:grpSpPr>
            <a:xfrm>
              <a:off x="4224225" y="1085224"/>
              <a:ext cx="5681775" cy="5297161"/>
              <a:chOff x="4129232" y="1085224"/>
              <a:chExt cx="6347589" cy="5297161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76346E15-A5CD-CF8D-68B4-B654E0329401}"/>
                  </a:ext>
                </a:extLst>
              </p:cNvPr>
              <p:cNvSpPr/>
              <p:nvPr/>
            </p:nvSpPr>
            <p:spPr>
              <a:xfrm>
                <a:off x="4129232" y="1097939"/>
                <a:ext cx="168506" cy="5267775"/>
              </a:xfrm>
              <a:prstGeom prst="rect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97" name="왼쪽 대괄호 96">
                <a:extLst>
                  <a:ext uri="{FF2B5EF4-FFF2-40B4-BE49-F238E27FC236}">
                    <a16:creationId xmlns:a16="http://schemas.microsoft.com/office/drawing/2014/main" id="{6C3992CC-3969-BBF0-F1B1-0259777AC15B}"/>
                  </a:ext>
                </a:extLst>
              </p:cNvPr>
              <p:cNvSpPr/>
              <p:nvPr/>
            </p:nvSpPr>
            <p:spPr>
              <a:xfrm>
                <a:off x="4226357" y="1085224"/>
                <a:ext cx="6250464" cy="5297161"/>
              </a:xfrm>
              <a:prstGeom prst="leftBracket">
                <a:avLst>
                  <a:gd name="adj" fmla="val 0"/>
                </a:avLst>
              </a:prstGeom>
              <a:solidFill>
                <a:sysClr val="window" lastClr="FFFFFF"/>
              </a:solidFill>
              <a:ln w="22225" cap="flat" cmpd="sng" algn="ctr">
                <a:solidFill>
                  <a:srgbClr val="263B6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3352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7B4FA664-2D19-12C3-496E-865E03C99CAF}"/>
                </a:ext>
              </a:extLst>
            </p:cNvPr>
            <p:cNvGrpSpPr/>
            <p:nvPr/>
          </p:nvGrpSpPr>
          <p:grpSpPr>
            <a:xfrm>
              <a:off x="4322735" y="2084342"/>
              <a:ext cx="5594199" cy="4298043"/>
              <a:chOff x="4408460" y="2150024"/>
              <a:chExt cx="5594199" cy="4252690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8609B417-61AA-B40D-E1C3-A4BFDEC200AF}"/>
                  </a:ext>
                </a:extLst>
              </p:cNvPr>
              <p:cNvGrpSpPr/>
              <p:nvPr/>
            </p:nvGrpSpPr>
            <p:grpSpPr>
              <a:xfrm>
                <a:off x="4408465" y="2150024"/>
                <a:ext cx="5594194" cy="1294845"/>
                <a:chOff x="4408465" y="2150024"/>
                <a:chExt cx="5594194" cy="1294845"/>
              </a:xfrm>
            </p:grpSpPr>
            <p:grpSp>
              <p:nvGrpSpPr>
                <p:cNvPr id="89" name="그룹 88">
                  <a:extLst>
                    <a:ext uri="{FF2B5EF4-FFF2-40B4-BE49-F238E27FC236}">
                      <a16:creationId xmlns:a16="http://schemas.microsoft.com/office/drawing/2014/main" id="{0DFABDDE-77C2-AFEB-9DA1-BD13663599FB}"/>
                    </a:ext>
                  </a:extLst>
                </p:cNvPr>
                <p:cNvGrpSpPr/>
                <p:nvPr/>
              </p:nvGrpSpPr>
              <p:grpSpPr>
                <a:xfrm>
                  <a:off x="4408465" y="2150024"/>
                  <a:ext cx="5594194" cy="1294845"/>
                  <a:chOff x="4537082" y="2150024"/>
                  <a:chExt cx="5453738" cy="1294845"/>
                </a:xfrm>
              </p:grpSpPr>
              <p:sp>
                <p:nvSpPr>
                  <p:cNvPr id="94" name="직사각형 93">
                    <a:extLst>
                      <a:ext uri="{FF2B5EF4-FFF2-40B4-BE49-F238E27FC236}">
                        <a16:creationId xmlns:a16="http://schemas.microsoft.com/office/drawing/2014/main" id="{6348B845-3644-70FC-993F-6A656354B741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5453738" cy="129484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95" name="직사각형 94">
                    <a:extLst>
                      <a:ext uri="{FF2B5EF4-FFF2-40B4-BE49-F238E27FC236}">
                        <a16:creationId xmlns:a16="http://schemas.microsoft.com/office/drawing/2014/main" id="{284B056B-F9E8-C2F2-A479-630A59BB1E5D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111117" cy="129484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90" name="그룹 89">
                  <a:extLst>
                    <a:ext uri="{FF2B5EF4-FFF2-40B4-BE49-F238E27FC236}">
                      <a16:creationId xmlns:a16="http://schemas.microsoft.com/office/drawing/2014/main" id="{BD92265E-18A7-71B1-717C-AED1F8CFE6EB}"/>
                    </a:ext>
                  </a:extLst>
                </p:cNvPr>
                <p:cNvGrpSpPr/>
                <p:nvPr/>
              </p:nvGrpSpPr>
              <p:grpSpPr>
                <a:xfrm>
                  <a:off x="4791074" y="2276493"/>
                  <a:ext cx="5186600" cy="989854"/>
                  <a:chOff x="682775" y="2752259"/>
                  <a:chExt cx="5186600" cy="1173211"/>
                </a:xfrm>
              </p:grpSpPr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E5B466BB-B5D1-53BD-AFE0-9CEE380FE2EB}"/>
                      </a:ext>
                    </a:extLst>
                  </p:cNvPr>
                  <p:cNvSpPr/>
                  <p:nvPr/>
                </p:nvSpPr>
                <p:spPr>
                  <a:xfrm>
                    <a:off x="682775" y="2752263"/>
                    <a:ext cx="289136" cy="209208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01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D0A1252E-1E7D-6D59-D71D-F89119587D33}"/>
                      </a:ext>
                    </a:extLst>
                  </p:cNvPr>
                  <p:cNvSpPr/>
                  <p:nvPr/>
                </p:nvSpPr>
                <p:spPr>
                  <a:xfrm>
                    <a:off x="1053667" y="2752259"/>
                    <a:ext cx="3466655" cy="209209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AI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플랫폼 기반 </a:t>
                    </a:r>
                    <a:r>
                      <a:rPr kumimoji="1" lang="ko-KR" altLang="en-US" sz="1600" b="1" i="0" u="none" strike="noStrike" kern="0" cap="none" spc="0" normalizeH="0" baseline="0" noProof="0" dirty="0" err="1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챗봇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에이전트</a:t>
                    </a: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구축</a:t>
                    </a:r>
                  </a:p>
                </p:txBody>
              </p:sp>
              <p:sp>
                <p:nvSpPr>
                  <p:cNvPr id="93" name="직사각형 92">
                    <a:extLst>
                      <a:ext uri="{FF2B5EF4-FFF2-40B4-BE49-F238E27FC236}">
                        <a16:creationId xmlns:a16="http://schemas.microsoft.com/office/drawing/2014/main" id="{91E21052-2F7E-A688-E2F2-3C3D13103EB3}"/>
                      </a:ext>
                    </a:extLst>
                  </p:cNvPr>
                  <p:cNvSpPr/>
                  <p:nvPr/>
                </p:nvSpPr>
                <p:spPr>
                  <a:xfrm>
                    <a:off x="760052" y="2987029"/>
                    <a:ext cx="5109323" cy="938441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AI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솔루션 도입으로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에이전트의 답변 정확도 확보 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&amp;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구축기간 단축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srgbClr val="D91334">
                          <a:lumMod val="50000"/>
                        </a:srgb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쉬운 사용법으로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개발 및 운영 효율성 증대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srgbClr val="D91334">
                          <a:lumMod val="50000"/>
                        </a:srgb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On-Premise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환경으로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데이터 보안 강화 및 안정적인 운영 지원</a:t>
                    </a:r>
                  </a:p>
                </p:txBody>
              </p:sp>
            </p:grpSp>
          </p:grp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ABFC9A6-8499-3D41-9F82-F7F2250F0F83}"/>
                  </a:ext>
                </a:extLst>
              </p:cNvPr>
              <p:cNvGrpSpPr/>
              <p:nvPr/>
            </p:nvGrpSpPr>
            <p:grpSpPr>
              <a:xfrm>
                <a:off x="4408460" y="3502080"/>
                <a:ext cx="5594199" cy="1217894"/>
                <a:chOff x="4408460" y="2432105"/>
                <a:chExt cx="5594199" cy="1217894"/>
              </a:xfrm>
            </p:grpSpPr>
            <p:grpSp>
              <p:nvGrpSpPr>
                <p:cNvPr id="81" name="그룹 80">
                  <a:extLst>
                    <a:ext uri="{FF2B5EF4-FFF2-40B4-BE49-F238E27FC236}">
                      <a16:creationId xmlns:a16="http://schemas.microsoft.com/office/drawing/2014/main" id="{98447CFB-8B52-AA8C-8ED4-2B69AE7BEFB5}"/>
                    </a:ext>
                  </a:extLst>
                </p:cNvPr>
                <p:cNvGrpSpPr/>
                <p:nvPr/>
              </p:nvGrpSpPr>
              <p:grpSpPr>
                <a:xfrm>
                  <a:off x="4408460" y="2432105"/>
                  <a:ext cx="5594199" cy="1217894"/>
                  <a:chOff x="4537077" y="2432105"/>
                  <a:chExt cx="5453743" cy="1217894"/>
                </a:xfrm>
              </p:grpSpPr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61D437B1-412C-388E-39C7-5F57962D09A8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432106"/>
                    <a:ext cx="5453738" cy="1217893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5452683F-1602-4867-34B1-4282827D2B35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77" y="2432105"/>
                    <a:ext cx="111117" cy="1217893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82" name="그룹 81">
                  <a:extLst>
                    <a:ext uri="{FF2B5EF4-FFF2-40B4-BE49-F238E27FC236}">
                      <a16:creationId xmlns:a16="http://schemas.microsoft.com/office/drawing/2014/main" id="{C7203C2D-92D6-1461-F1B5-29DF5720B53C}"/>
                    </a:ext>
                  </a:extLst>
                </p:cNvPr>
                <p:cNvGrpSpPr/>
                <p:nvPr/>
              </p:nvGrpSpPr>
              <p:grpSpPr>
                <a:xfrm>
                  <a:off x="4556868" y="2561289"/>
                  <a:ext cx="5050572" cy="1015952"/>
                  <a:chOff x="448569" y="3089813"/>
                  <a:chExt cx="5050572" cy="1204143"/>
                </a:xfrm>
              </p:grpSpPr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DD16FB18-48D5-54A5-EE39-7815C1823B8E}"/>
                      </a:ext>
                    </a:extLst>
                  </p:cNvPr>
                  <p:cNvSpPr/>
                  <p:nvPr/>
                </p:nvSpPr>
                <p:spPr>
                  <a:xfrm>
                    <a:off x="682775" y="3089813"/>
                    <a:ext cx="289136" cy="209204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02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84" name="직사각형 83">
                    <a:extLst>
                      <a:ext uri="{FF2B5EF4-FFF2-40B4-BE49-F238E27FC236}">
                        <a16:creationId xmlns:a16="http://schemas.microsoft.com/office/drawing/2014/main" id="{D0907734-5F7A-4C03-7F36-82C9D5CEBBAE}"/>
                      </a:ext>
                    </a:extLst>
                  </p:cNvPr>
                  <p:cNvSpPr/>
                  <p:nvPr/>
                </p:nvSpPr>
                <p:spPr>
                  <a:xfrm>
                    <a:off x="1053667" y="3089824"/>
                    <a:ext cx="3466655" cy="209205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다국어 </a:t>
                    </a: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RFQ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요약 및 번역 </a:t>
                    </a:r>
                  </a:p>
                </p:txBody>
              </p:sp>
              <p:sp>
                <p:nvSpPr>
                  <p:cNvPr id="85" name="직사각형 84">
                    <a:extLst>
                      <a:ext uri="{FF2B5EF4-FFF2-40B4-BE49-F238E27FC236}">
                        <a16:creationId xmlns:a16="http://schemas.microsoft.com/office/drawing/2014/main" id="{86EBA317-6CA0-ED90-A8FE-7EF0A85CE0DB}"/>
                      </a:ext>
                    </a:extLst>
                  </p:cNvPr>
                  <p:cNvSpPr/>
                  <p:nvPr/>
                </p:nvSpPr>
                <p:spPr>
                  <a:xfrm>
                    <a:off x="760053" y="3324585"/>
                    <a:ext cx="4739088" cy="631643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RFQ</a:t>
                    </a:r>
                    <a:r>
                      <a:rPr kumimoji="1" lang="en-US" altLang="ko-KR" sz="1200" baseline="300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1)</a:t>
                    </a: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문서 요약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기능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및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관련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부서 배분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기능</a:t>
                    </a:r>
                    <a:endParaRPr kumimoji="1" lang="en-US" altLang="ko-KR" sz="120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신뢰성을 위해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검증 점수 및 감점 원인 제공</a:t>
                    </a:r>
                  </a:p>
                </p:txBody>
              </p:sp>
              <p:sp>
                <p:nvSpPr>
                  <p:cNvPr id="86" name="직사각형 85">
                    <a:extLst>
                      <a:ext uri="{FF2B5EF4-FFF2-40B4-BE49-F238E27FC236}">
                        <a16:creationId xmlns:a16="http://schemas.microsoft.com/office/drawing/2014/main" id="{5249F27D-6FCA-0E33-8575-5199BDEEDAFD}"/>
                      </a:ext>
                    </a:extLst>
                  </p:cNvPr>
                  <p:cNvSpPr/>
                  <p:nvPr/>
                </p:nvSpPr>
                <p:spPr>
                  <a:xfrm>
                    <a:off x="448569" y="3968738"/>
                    <a:ext cx="3560547" cy="325218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R="0" lvl="1" defTabSz="995549" eaLnBrk="0" fontAlgn="base" latinLnBrk="0" hangingPunct="0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ct val="0"/>
                      </a:spcAft>
                      <a:buClrTx/>
                      <a:buSzPct val="80000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0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주</a:t>
                    </a:r>
                    <a:r>
                      <a:rPr kumimoji="1" lang="en-US" altLang="ko-KR" sz="10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1) RFQ(Request for Quotation)</a:t>
                    </a:r>
                    <a:endParaRPr kumimoji="1" lang="ko-KR" altLang="en-US" sz="10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srgbClr val="D91334">
                          <a:lumMod val="50000"/>
                        </a:srgb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DB1E4EF3-E826-C262-6BB6-545FB475FC97}"/>
                  </a:ext>
                </a:extLst>
              </p:cNvPr>
              <p:cNvGrpSpPr/>
              <p:nvPr/>
            </p:nvGrpSpPr>
            <p:grpSpPr>
              <a:xfrm>
                <a:off x="4408462" y="4777183"/>
                <a:ext cx="5594197" cy="1625531"/>
                <a:chOff x="4408462" y="2637233"/>
                <a:chExt cx="5594197" cy="1625531"/>
              </a:xfrm>
            </p:grpSpPr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5E00C807-C4F3-5C1E-6A3E-6035384A9054}"/>
                    </a:ext>
                  </a:extLst>
                </p:cNvPr>
                <p:cNvGrpSpPr/>
                <p:nvPr/>
              </p:nvGrpSpPr>
              <p:grpSpPr>
                <a:xfrm>
                  <a:off x="4408462" y="2637233"/>
                  <a:ext cx="5594197" cy="1625531"/>
                  <a:chOff x="4537079" y="2637233"/>
                  <a:chExt cx="5453741" cy="1625531"/>
                </a:xfrm>
              </p:grpSpPr>
              <p:sp>
                <p:nvSpPr>
                  <p:cNvPr id="79" name="직사각형 78">
                    <a:extLst>
                      <a:ext uri="{FF2B5EF4-FFF2-40B4-BE49-F238E27FC236}">
                        <a16:creationId xmlns:a16="http://schemas.microsoft.com/office/drawing/2014/main" id="{5624780B-C32E-E5B0-2C2D-9892980AC5EB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637233"/>
                    <a:ext cx="5453738" cy="1625530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DDB20EE8-E985-E14D-1073-9E2A4E642F62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79" y="2637234"/>
                    <a:ext cx="111117" cy="1625530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</p:grpSp>
            <p:grpSp>
              <p:nvGrpSpPr>
                <p:cNvPr id="75" name="그룹 74">
                  <a:extLst>
                    <a:ext uri="{FF2B5EF4-FFF2-40B4-BE49-F238E27FC236}">
                      <a16:creationId xmlns:a16="http://schemas.microsoft.com/office/drawing/2014/main" id="{4F34863E-27D0-14B8-A786-EBB62FFFB428}"/>
                    </a:ext>
                  </a:extLst>
                </p:cNvPr>
                <p:cNvGrpSpPr/>
                <p:nvPr/>
              </p:nvGrpSpPr>
              <p:grpSpPr>
                <a:xfrm>
                  <a:off x="4791074" y="2753940"/>
                  <a:ext cx="5102607" cy="1288230"/>
                  <a:chOff x="682775" y="3318152"/>
                  <a:chExt cx="5102607" cy="1526858"/>
                </a:xfrm>
              </p:grpSpPr>
              <p:sp>
                <p:nvSpPr>
                  <p:cNvPr id="76" name="직사각형 75">
                    <a:extLst>
                      <a:ext uri="{FF2B5EF4-FFF2-40B4-BE49-F238E27FC236}">
                        <a16:creationId xmlns:a16="http://schemas.microsoft.com/office/drawing/2014/main" id="{20CF2A59-EF6E-8E03-972D-79E9AAC49689}"/>
                      </a:ext>
                    </a:extLst>
                  </p:cNvPr>
                  <p:cNvSpPr/>
                  <p:nvPr/>
                </p:nvSpPr>
                <p:spPr>
                  <a:xfrm>
                    <a:off x="682775" y="3318154"/>
                    <a:ext cx="289136" cy="209207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03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</p:txBody>
              </p:sp>
              <p:sp>
                <p:nvSpPr>
                  <p:cNvPr id="77" name="직사각형 76">
                    <a:extLst>
                      <a:ext uri="{FF2B5EF4-FFF2-40B4-BE49-F238E27FC236}">
                        <a16:creationId xmlns:a16="http://schemas.microsoft.com/office/drawing/2014/main" id="{58107E11-BF96-5B3B-22EF-593AC29011CB}"/>
                      </a:ext>
                    </a:extLst>
                  </p:cNvPr>
                  <p:cNvSpPr/>
                  <p:nvPr/>
                </p:nvSpPr>
                <p:spPr>
                  <a:xfrm>
                    <a:off x="1053667" y="3318152"/>
                    <a:ext cx="3466655" cy="209204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RFQ </a:t>
                    </a:r>
                    <a:r>
                      <a:rPr kumimoji="1" lang="ko-KR" altLang="en-US" sz="1600" b="1" i="0" u="none" strike="noStrike" kern="0" cap="none" spc="0" normalizeH="0" baseline="0" noProof="0" dirty="0" err="1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챗봇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에이전트 개발</a:t>
                    </a:r>
                  </a:p>
                </p:txBody>
              </p:sp>
              <p:sp>
                <p:nvSpPr>
                  <p:cNvPr id="78" name="직사각형 77">
                    <a:extLst>
                      <a:ext uri="{FF2B5EF4-FFF2-40B4-BE49-F238E27FC236}">
                        <a16:creationId xmlns:a16="http://schemas.microsoft.com/office/drawing/2014/main" id="{41DE3660-80D4-5184-419F-223E48AF1FFA}"/>
                      </a:ext>
                    </a:extLst>
                  </p:cNvPr>
                  <p:cNvSpPr/>
                  <p:nvPr/>
                </p:nvSpPr>
                <p:spPr>
                  <a:xfrm>
                    <a:off x="760052" y="3599770"/>
                    <a:ext cx="5025330" cy="1245240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기능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(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검색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,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비교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)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모듈화를 통한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확장 가능한 </a:t>
                    </a:r>
                    <a:r>
                      <a:rPr kumimoji="1" lang="ko-KR" altLang="en-US" sz="1200" b="0" i="0" u="none" strike="noStrike" kern="0" cap="none" spc="0" normalizeH="0" baseline="0" noProof="0" dirty="0" err="1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챗봇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개발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AI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기반 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RFQ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內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정보 검색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및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질의 응답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기능 제공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RFQ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버전 업데이트에 따른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변경사항을 비교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하는 기능 제공</a:t>
                    </a:r>
                    <a:endParaRPr kumimoji="1" lang="en-US" altLang="ko-KR" sz="1200" b="0" i="0" u="none" strike="noStrike" kern="0" cap="none" spc="0" normalizeH="0" baseline="0" noProof="0" dirty="0">
                      <a:ln>
                        <a:solidFill>
                          <a:sysClr val="window" lastClr="FFFFFF">
                            <a:lumMod val="85000"/>
                            <a:alpha val="0"/>
                          </a:sys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Rix고딕 M" panose="02020603020101020101" pitchFamily="18" charset="-127"/>
                      <a:ea typeface="Rix고딕 M" panose="02020603020101020101" pitchFamily="18" charset="-127"/>
                    </a:endParaRP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실시간 및 사후 검증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을 활용한 </a:t>
                    </a:r>
                    <a:r>
                      <a:rPr kumimoji="1" lang="ko-KR" altLang="en-US" sz="1200" b="0" i="0" u="none" strike="noStrike" kern="0" cap="none" spc="0" normalizeH="0" baseline="0" noProof="0" dirty="0" err="1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챗봇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</a:rPr>
                      <a:t> 성능 최적화</a:t>
                    </a:r>
                  </a:p>
                </p:txBody>
              </p:sp>
            </p:grpSp>
          </p:grpSp>
        </p:grp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30EE9A7-1712-1150-B7B1-242E47BA3C59}"/>
              </a:ext>
            </a:extLst>
          </p:cNvPr>
          <p:cNvSpPr/>
          <p:nvPr/>
        </p:nvSpPr>
        <p:spPr>
          <a:xfrm rot="10800000" flipV="1">
            <a:off x="5054690" y="1791281"/>
            <a:ext cx="3714733" cy="26905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lvl="0" algn="r" defTabSz="914127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700"/>
              </a:spcAft>
              <a:buClrTx/>
              <a:defRPr/>
            </a:pPr>
            <a:r>
              <a:rPr kumimoji="1" lang="ko-KR" altLang="en-US" sz="2000" b="1" kern="120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전기</a:t>
            </a:r>
            <a:r>
              <a:rPr kumimoji="1" lang="en-US" altLang="ko-KR" sz="2000" b="1" kern="120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kumimoji="1" lang="ko-KR" altLang="en-US" sz="2000" b="1" kern="120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전자 업계 </a:t>
            </a:r>
            <a:r>
              <a:rPr kumimoji="1" lang="ko-KR" altLang="en-US" sz="2000" b="1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적용</a:t>
            </a:r>
            <a:r>
              <a:rPr kumimoji="1" lang="ko-KR" altLang="en-US" sz="2000" b="1" kern="120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사례</a:t>
            </a:r>
          </a:p>
        </p:txBody>
      </p:sp>
    </p:spTree>
    <p:extLst>
      <p:ext uri="{BB962C8B-B14F-4D97-AF65-F5344CB8AC3E}">
        <p14:creationId xmlns:p14="http://schemas.microsoft.com/office/powerpoint/2010/main" val="3984446441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50620-38E7-C1EB-038A-909ADFE8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사례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ADE26B1-A357-50A4-CEBB-B43E6EAB0512}"/>
              </a:ext>
            </a:extLst>
          </p:cNvPr>
          <p:cNvGrpSpPr/>
          <p:nvPr/>
        </p:nvGrpSpPr>
        <p:grpSpPr>
          <a:xfrm>
            <a:off x="560513" y="1628775"/>
            <a:ext cx="4392488" cy="4752975"/>
            <a:chOff x="4224225" y="1085224"/>
            <a:chExt cx="5692709" cy="5297161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7CB9DB72-1EBA-D68A-7403-517D18004F22}"/>
                </a:ext>
              </a:extLst>
            </p:cNvPr>
            <p:cNvGrpSpPr/>
            <p:nvPr/>
          </p:nvGrpSpPr>
          <p:grpSpPr>
            <a:xfrm>
              <a:off x="4224225" y="1085224"/>
              <a:ext cx="5681775" cy="5297161"/>
              <a:chOff x="4129232" y="1085224"/>
              <a:chExt cx="6347589" cy="5297161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54314BE2-D78C-1AC2-A6A2-89E4D1C7A8E7}"/>
                  </a:ext>
                </a:extLst>
              </p:cNvPr>
              <p:cNvSpPr/>
              <p:nvPr/>
            </p:nvSpPr>
            <p:spPr>
              <a:xfrm>
                <a:off x="4129232" y="1097939"/>
                <a:ext cx="168506" cy="5267775"/>
              </a:xfrm>
              <a:prstGeom prst="rect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  <p:sp>
            <p:nvSpPr>
              <p:cNvPr id="133" name="왼쪽 대괄호 132">
                <a:extLst>
                  <a:ext uri="{FF2B5EF4-FFF2-40B4-BE49-F238E27FC236}">
                    <a16:creationId xmlns:a16="http://schemas.microsoft.com/office/drawing/2014/main" id="{2F359C91-D23D-6539-EDDC-135121415556}"/>
                  </a:ext>
                </a:extLst>
              </p:cNvPr>
              <p:cNvSpPr/>
              <p:nvPr/>
            </p:nvSpPr>
            <p:spPr>
              <a:xfrm>
                <a:off x="4226357" y="1085224"/>
                <a:ext cx="6250464" cy="5297161"/>
              </a:xfrm>
              <a:prstGeom prst="leftBracket">
                <a:avLst>
                  <a:gd name="adj" fmla="val 0"/>
                </a:avLst>
              </a:prstGeom>
              <a:solidFill>
                <a:sysClr val="window" lastClr="FFFFFF"/>
              </a:solidFill>
              <a:ln w="22225" cap="flat" cmpd="sng" algn="ctr">
                <a:solidFill>
                  <a:srgbClr val="263B6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3352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6A058138-23EE-7157-BA58-05A50CF30E04}"/>
                </a:ext>
              </a:extLst>
            </p:cNvPr>
            <p:cNvGrpSpPr/>
            <p:nvPr/>
          </p:nvGrpSpPr>
          <p:grpSpPr>
            <a:xfrm>
              <a:off x="4322737" y="2084342"/>
              <a:ext cx="5594197" cy="4281372"/>
              <a:chOff x="4408462" y="2150024"/>
              <a:chExt cx="5594197" cy="4236195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3F94E26A-ACD2-1DD1-4B73-05CBF96488CB}"/>
                  </a:ext>
                </a:extLst>
              </p:cNvPr>
              <p:cNvGrpSpPr/>
              <p:nvPr/>
            </p:nvGrpSpPr>
            <p:grpSpPr>
              <a:xfrm>
                <a:off x="4408465" y="2150024"/>
                <a:ext cx="5594194" cy="1389185"/>
                <a:chOff x="4408465" y="2150024"/>
                <a:chExt cx="5594194" cy="1389185"/>
              </a:xfrm>
            </p:grpSpPr>
            <p:grpSp>
              <p:nvGrpSpPr>
                <p:cNvPr id="125" name="그룹 124">
                  <a:extLst>
                    <a:ext uri="{FF2B5EF4-FFF2-40B4-BE49-F238E27FC236}">
                      <a16:creationId xmlns:a16="http://schemas.microsoft.com/office/drawing/2014/main" id="{BAA20B9D-D417-DFB2-48B5-72334C06318C}"/>
                    </a:ext>
                  </a:extLst>
                </p:cNvPr>
                <p:cNvGrpSpPr/>
                <p:nvPr/>
              </p:nvGrpSpPr>
              <p:grpSpPr>
                <a:xfrm>
                  <a:off x="4408465" y="2150024"/>
                  <a:ext cx="5594194" cy="1389185"/>
                  <a:chOff x="4537082" y="2150024"/>
                  <a:chExt cx="5453738" cy="1389185"/>
                </a:xfrm>
              </p:grpSpPr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CADAAB11-60DA-C298-962F-084AE6ED80C7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5453738" cy="138918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31" name="직사각형 130">
                    <a:extLst>
                      <a:ext uri="{FF2B5EF4-FFF2-40B4-BE49-F238E27FC236}">
                        <a16:creationId xmlns:a16="http://schemas.microsoft.com/office/drawing/2014/main" id="{A396B0B5-8537-5233-DBD4-ADCDC1A5EC93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150024"/>
                    <a:ext cx="111117" cy="138918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26" name="그룹 125">
                  <a:extLst>
                    <a:ext uri="{FF2B5EF4-FFF2-40B4-BE49-F238E27FC236}">
                      <a16:creationId xmlns:a16="http://schemas.microsoft.com/office/drawing/2014/main" id="{FBAD15D9-888F-0275-0F33-738C4548E3E6}"/>
                    </a:ext>
                  </a:extLst>
                </p:cNvPr>
                <p:cNvGrpSpPr/>
                <p:nvPr/>
              </p:nvGrpSpPr>
              <p:grpSpPr>
                <a:xfrm>
                  <a:off x="4791074" y="2403321"/>
                  <a:ext cx="4800999" cy="766775"/>
                  <a:chOff x="682775" y="2902591"/>
                  <a:chExt cx="4800999" cy="908813"/>
                </a:xfrm>
              </p:grpSpPr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4AE253E9-006A-4C03-14D2-466B50D415A2}"/>
                      </a:ext>
                    </a:extLst>
                  </p:cNvPr>
                  <p:cNvSpPr/>
                  <p:nvPr/>
                </p:nvSpPr>
                <p:spPr>
                  <a:xfrm>
                    <a:off x="682775" y="2902591"/>
                    <a:ext cx="289136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01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28" name="직사각형 127">
                    <a:extLst>
                      <a:ext uri="{FF2B5EF4-FFF2-40B4-BE49-F238E27FC236}">
                        <a16:creationId xmlns:a16="http://schemas.microsoft.com/office/drawing/2014/main" id="{55DA7558-A26B-619E-D0C0-7F9C94C0787F}"/>
                      </a:ext>
                    </a:extLst>
                  </p:cNvPr>
                  <p:cNvSpPr/>
                  <p:nvPr/>
                </p:nvSpPr>
                <p:spPr>
                  <a:xfrm>
                    <a:off x="1053667" y="2902591"/>
                    <a:ext cx="3466655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AI 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모델의 안정적인 운영 및 장애 대응</a:t>
                    </a:r>
                  </a:p>
                </p:txBody>
              </p:sp>
              <p:sp>
                <p:nvSpPr>
                  <p:cNvPr id="129" name="직사각형 128">
                    <a:extLst>
                      <a:ext uri="{FF2B5EF4-FFF2-40B4-BE49-F238E27FC236}">
                        <a16:creationId xmlns:a16="http://schemas.microsoft.com/office/drawing/2014/main" id="{A4BE403F-5646-9B13-E471-6C009080557E}"/>
                      </a:ext>
                    </a:extLst>
                  </p:cNvPr>
                  <p:cNvSpPr/>
                  <p:nvPr/>
                </p:nvSpPr>
                <p:spPr>
                  <a:xfrm>
                    <a:off x="1053668" y="3107571"/>
                    <a:ext cx="4430106" cy="703833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운영 전담인력을 통한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안정적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운영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모니터링</a:t>
                    </a: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다양한 실무자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요구사항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에 대한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체계적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반영</a:t>
                    </a:r>
                  </a:p>
                </p:txBody>
              </p:sp>
            </p:grp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2026528E-BE10-42F6-97AD-45C8C9710F62}"/>
                  </a:ext>
                </a:extLst>
              </p:cNvPr>
              <p:cNvGrpSpPr/>
              <p:nvPr/>
            </p:nvGrpSpPr>
            <p:grpSpPr>
              <a:xfrm>
                <a:off x="4408464" y="3566534"/>
                <a:ext cx="5594195" cy="1389185"/>
                <a:chOff x="4408464" y="2496559"/>
                <a:chExt cx="5594195" cy="1389185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DB9219B9-5941-F253-1FA0-EE7CE353E3E7}"/>
                    </a:ext>
                  </a:extLst>
                </p:cNvPr>
                <p:cNvGrpSpPr/>
                <p:nvPr/>
              </p:nvGrpSpPr>
              <p:grpSpPr>
                <a:xfrm>
                  <a:off x="4408464" y="2496559"/>
                  <a:ext cx="5594195" cy="1389185"/>
                  <a:chOff x="4537081" y="2496559"/>
                  <a:chExt cx="5453739" cy="1389185"/>
                </a:xfrm>
              </p:grpSpPr>
              <p:sp>
                <p:nvSpPr>
                  <p:cNvPr id="123" name="직사각형 122">
                    <a:extLst>
                      <a:ext uri="{FF2B5EF4-FFF2-40B4-BE49-F238E27FC236}">
                        <a16:creationId xmlns:a16="http://schemas.microsoft.com/office/drawing/2014/main" id="{4F368791-A00C-EF93-FE17-20508C9FA0CA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496559"/>
                    <a:ext cx="5453738" cy="138918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24" name="직사각형 123">
                    <a:extLst>
                      <a:ext uri="{FF2B5EF4-FFF2-40B4-BE49-F238E27FC236}">
                        <a16:creationId xmlns:a16="http://schemas.microsoft.com/office/drawing/2014/main" id="{176582C7-2375-E8A5-6383-7D35A76BFB77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1" y="2496559"/>
                    <a:ext cx="111117" cy="138918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19" name="그룹 118">
                  <a:extLst>
                    <a:ext uri="{FF2B5EF4-FFF2-40B4-BE49-F238E27FC236}">
                      <a16:creationId xmlns:a16="http://schemas.microsoft.com/office/drawing/2014/main" id="{B238E68B-A3EF-6033-B255-9A99E73BDDDC}"/>
                    </a:ext>
                  </a:extLst>
                </p:cNvPr>
                <p:cNvGrpSpPr/>
                <p:nvPr/>
              </p:nvGrpSpPr>
              <p:grpSpPr>
                <a:xfrm>
                  <a:off x="4791074" y="2684950"/>
                  <a:ext cx="5109981" cy="766773"/>
                  <a:chOff x="682775" y="3236375"/>
                  <a:chExt cx="5109981" cy="908807"/>
                </a:xfrm>
              </p:grpSpPr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766B5142-950A-182D-37F1-CB16D1269E8C}"/>
                      </a:ext>
                    </a:extLst>
                  </p:cNvPr>
                  <p:cNvSpPr/>
                  <p:nvPr/>
                </p:nvSpPr>
                <p:spPr>
                  <a:xfrm>
                    <a:off x="682775" y="3236375"/>
                    <a:ext cx="289136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02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21" name="직사각형 120">
                    <a:extLst>
                      <a:ext uri="{FF2B5EF4-FFF2-40B4-BE49-F238E27FC236}">
                        <a16:creationId xmlns:a16="http://schemas.microsoft.com/office/drawing/2014/main" id="{352DF508-B78C-4117-F298-310D438234A0}"/>
                      </a:ext>
                    </a:extLst>
                  </p:cNvPr>
                  <p:cNvSpPr/>
                  <p:nvPr/>
                </p:nvSpPr>
                <p:spPr>
                  <a:xfrm>
                    <a:off x="1053667" y="3236375"/>
                    <a:ext cx="3466655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AI 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모델 성능 변화에 따른 모델 개선 수행</a:t>
                    </a:r>
                  </a:p>
                </p:txBody>
              </p:sp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1AA5E27E-7AA4-638D-D3EF-F1F58D882967}"/>
                      </a:ext>
                    </a:extLst>
                  </p:cNvPr>
                  <p:cNvSpPr/>
                  <p:nvPr/>
                </p:nvSpPr>
                <p:spPr>
                  <a:xfrm>
                    <a:off x="1053668" y="3441352"/>
                    <a:ext cx="4739088" cy="703830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변화하는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데이터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에 따른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모델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성능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모니터링</a:t>
                    </a: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성능개선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을 위한 단계별 개선 업무 수행</a:t>
                    </a:r>
                  </a:p>
                </p:txBody>
              </p:sp>
            </p:grpSp>
          </p:grpSp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99C7CE5-1725-0D03-77BC-3EF464CE58DA}"/>
                  </a:ext>
                </a:extLst>
              </p:cNvPr>
              <p:cNvGrpSpPr/>
              <p:nvPr/>
            </p:nvGrpSpPr>
            <p:grpSpPr>
              <a:xfrm>
                <a:off x="4408462" y="4976371"/>
                <a:ext cx="5594197" cy="1409848"/>
                <a:chOff x="4408462" y="2836421"/>
                <a:chExt cx="5594197" cy="1409848"/>
              </a:xfrm>
            </p:grpSpPr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C03241C5-ECE9-2346-7DA5-1AB7C2EDA3C7}"/>
                    </a:ext>
                  </a:extLst>
                </p:cNvPr>
                <p:cNvGrpSpPr/>
                <p:nvPr/>
              </p:nvGrpSpPr>
              <p:grpSpPr>
                <a:xfrm>
                  <a:off x="4408462" y="2836421"/>
                  <a:ext cx="5594197" cy="1409848"/>
                  <a:chOff x="4537079" y="2836421"/>
                  <a:chExt cx="5453741" cy="1409848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76460A3F-C9BF-BE55-9278-34743E053DC5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82" y="2836424"/>
                    <a:ext cx="5453738" cy="140984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1E7ABD5A-C99B-9D3E-E60E-A4BAD0431D8A}"/>
                      </a:ext>
                    </a:extLst>
                  </p:cNvPr>
                  <p:cNvSpPr/>
                  <p:nvPr/>
                </p:nvSpPr>
                <p:spPr>
                  <a:xfrm flipH="1">
                    <a:off x="4537079" y="2836421"/>
                    <a:ext cx="111117" cy="1409845"/>
                  </a:xfrm>
                  <a:prstGeom prst="rect">
                    <a:avLst/>
                  </a:prstGeom>
                  <a:solidFill>
                    <a:srgbClr val="D91334">
                      <a:lumMod val="20000"/>
                      <a:lumOff val="80000"/>
                      <a:alpha val="5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12" name="그룹 111">
                  <a:extLst>
                    <a:ext uri="{FF2B5EF4-FFF2-40B4-BE49-F238E27FC236}">
                      <a16:creationId xmlns:a16="http://schemas.microsoft.com/office/drawing/2014/main" id="{B87FFAC8-F399-2A1D-D6C3-DE220F1D046E}"/>
                    </a:ext>
                  </a:extLst>
                </p:cNvPr>
                <p:cNvGrpSpPr/>
                <p:nvPr/>
              </p:nvGrpSpPr>
              <p:grpSpPr>
                <a:xfrm>
                  <a:off x="4791074" y="3024825"/>
                  <a:ext cx="4861117" cy="980638"/>
                  <a:chOff x="682775" y="3639219"/>
                  <a:chExt cx="4861117" cy="1162290"/>
                </a:xfrm>
              </p:grpSpPr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D4270E05-42CF-1217-E5A6-94C9C7A648AE}"/>
                      </a:ext>
                    </a:extLst>
                  </p:cNvPr>
                  <p:cNvSpPr/>
                  <p:nvPr/>
                </p:nvSpPr>
                <p:spPr>
                  <a:xfrm>
                    <a:off x="682775" y="3639220"/>
                    <a:ext cx="289136" cy="209206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srgbClr val="D91334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03</a:t>
                    </a:r>
                    <a:endParaRPr kumimoji="1" lang="ko-KR" altLang="en-US" b="1" i="0" u="none" strike="noStrike" kern="0" cap="none" spc="0" normalizeH="0" baseline="0" noProof="0" dirty="0">
                      <a:ln>
                        <a:solidFill>
                          <a:srgbClr val="00AEEF">
                            <a:alpha val="0"/>
                          </a:srgbClr>
                        </a:solidFill>
                      </a:ln>
                      <a:solidFill>
                        <a:srgbClr val="D91334"/>
                      </a:solidFill>
                      <a:effectLst/>
                      <a:uLnTx/>
                      <a:uFillTx/>
                      <a:latin typeface="NanumGothic" panose="020D0604000000000000" pitchFamily="34" charset="-127"/>
                      <a:ea typeface="NanumGothic" panose="020D0604000000000000" pitchFamily="34" charset="-127"/>
                      <a:cs typeface="+mn-cs"/>
                    </a:endParaRPr>
                  </a:p>
                </p:txBody>
              </p:sp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54BB6847-52B8-415A-01F8-3C8A8B0AF547}"/>
                      </a:ext>
                    </a:extLst>
                  </p:cNvPr>
                  <p:cNvSpPr/>
                  <p:nvPr/>
                </p:nvSpPr>
                <p:spPr>
                  <a:xfrm>
                    <a:off x="1053667" y="3639219"/>
                    <a:ext cx="3466655" cy="209205"/>
                  </a:xfrm>
                  <a:prstGeom prst="rect">
                    <a:avLst/>
                  </a:prstGeom>
                  <a:noFill/>
                  <a:ln w="6350" algn="ctr">
                    <a:noFill/>
                    <a:miter lim="800000"/>
                    <a:headEnd/>
                    <a:tailEnd/>
                  </a:ln>
                </p:spPr>
                <p:txBody>
                  <a:bodyPr wrap="none" lIns="0" rIns="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AI </a:t>
                    </a:r>
                    <a:r>
                      <a:rPr kumimoji="1" lang="ko-KR" altLang="en-US" sz="1600" b="1" i="0" u="none" strike="noStrike" kern="0" cap="none" spc="0" normalizeH="0" baseline="0" noProof="0" dirty="0">
                        <a:ln>
                          <a:solidFill>
                            <a:srgbClr val="00AEEF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모델 배포 및 운영 전환 체계 구축</a:t>
                    </a:r>
                  </a:p>
                </p:txBody>
              </p:sp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5BBF23E2-5237-D08E-532F-60A18348FCDF}"/>
                      </a:ext>
                    </a:extLst>
                  </p:cNvPr>
                  <p:cNvSpPr/>
                  <p:nvPr/>
                </p:nvSpPr>
                <p:spPr>
                  <a:xfrm>
                    <a:off x="1053667" y="3856187"/>
                    <a:ext cx="4490225" cy="945322"/>
                  </a:xfrm>
                  <a:prstGeom prst="rect">
                    <a:avLst/>
                  </a:prstGeom>
                </p:spPr>
                <p:txBody>
                  <a:bodyPr wrap="square" lIns="0" rIns="0">
                    <a:spAutoFit/>
                  </a:bodyPr>
                  <a:lstStyle/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신규 </a:t>
                    </a:r>
                    <a:r>
                      <a:rPr kumimoji="1" lang="en-US" altLang="ko-KR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AI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모델의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배포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및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운영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전환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 프로세스 수립</a:t>
                    </a:r>
                  </a:p>
                  <a:p>
                    <a:pPr marL="134938" marR="0" lvl="1" indent="-134938" defTabSz="995549" eaLnBrk="0" fontAlgn="base" latinLnBrk="0" hangingPunct="0"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>
                        <a:tab pos="6149583" algn="l"/>
                      </a:tabLst>
                      <a:defRPr/>
                    </a:pP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Dataiku </a:t>
                    </a:r>
                    <a:r>
                      <a:rPr kumimoji="1" lang="ko-KR" altLang="en-US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및 </a:t>
                    </a:r>
                    <a:r>
                      <a:rPr kumimoji="1" lang="en-US" altLang="ko-KR" sz="120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srgbClr val="D91334">
                            <a:lumMod val="50000"/>
                          </a:srgb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AWS </a:t>
                    </a:r>
                    <a:r>
                      <a:rPr kumimoji="1" lang="ko-KR" altLang="en-US" sz="1200" b="0" i="0" u="none" strike="noStrike" kern="0" cap="none" spc="0" normalizeH="0" baseline="0" noProof="0" dirty="0">
                        <a:ln>
                          <a:solidFill>
                            <a:sysClr val="window" lastClr="FFFFFF">
                              <a:lumMod val="85000"/>
                              <a:alpha val="0"/>
                            </a:sys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rPr>
                      <a:t>환경을 고려한 배포 및 운영 전환 지원</a:t>
                    </a:r>
                  </a:p>
                </p:txBody>
              </p:sp>
            </p:grpSp>
          </p:grpSp>
        </p:grp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B73D845-0573-7CC0-596E-91AC8E10E594}"/>
              </a:ext>
            </a:extLst>
          </p:cNvPr>
          <p:cNvGrpSpPr/>
          <p:nvPr/>
        </p:nvGrpSpPr>
        <p:grpSpPr>
          <a:xfrm rot="10800000">
            <a:off x="658384" y="2599117"/>
            <a:ext cx="4307999" cy="45719"/>
            <a:chOff x="1022936" y="2197132"/>
            <a:chExt cx="13647637" cy="87586"/>
          </a:xfrm>
        </p:grpSpPr>
        <p:sp>
          <p:nvSpPr>
            <p:cNvPr id="135" name="평행 사변형 134">
              <a:extLst>
                <a:ext uri="{FF2B5EF4-FFF2-40B4-BE49-F238E27FC236}">
                  <a16:creationId xmlns:a16="http://schemas.microsoft.com/office/drawing/2014/main" id="{F35C9756-F863-A623-CDD6-D13060573C97}"/>
                </a:ext>
              </a:extLst>
            </p:cNvPr>
            <p:cNvSpPr/>
            <p:nvPr/>
          </p:nvSpPr>
          <p:spPr>
            <a:xfrm>
              <a:off x="11393913" y="2197209"/>
              <a:ext cx="2756349" cy="87509"/>
            </a:xfrm>
            <a:prstGeom prst="parallelogram">
              <a:avLst>
                <a:gd name="adj" fmla="val 167466"/>
              </a:avLst>
            </a:prstGeom>
            <a:solidFill>
              <a:srgbClr val="8E0C2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304E2D29-C96A-4ABE-B376-9D679BD03FD4}"/>
                </a:ext>
              </a:extLst>
            </p:cNvPr>
            <p:cNvSpPr/>
            <p:nvPr/>
          </p:nvSpPr>
          <p:spPr>
            <a:xfrm>
              <a:off x="1022936" y="2197132"/>
              <a:ext cx="8945508" cy="87586"/>
            </a:xfrm>
            <a:prstGeom prst="rect">
              <a:avLst/>
            </a:prstGeom>
            <a:solidFill>
              <a:srgbClr val="D9133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  <p:sp>
          <p:nvSpPr>
            <p:cNvPr id="137" name="평행 사변형 136">
              <a:extLst>
                <a:ext uri="{FF2B5EF4-FFF2-40B4-BE49-F238E27FC236}">
                  <a16:creationId xmlns:a16="http://schemas.microsoft.com/office/drawing/2014/main" id="{C707C2A0-8DF4-486B-0519-021F9DD9FC9E}"/>
                </a:ext>
              </a:extLst>
            </p:cNvPr>
            <p:cNvSpPr/>
            <p:nvPr/>
          </p:nvSpPr>
          <p:spPr>
            <a:xfrm>
              <a:off x="7490905" y="2197206"/>
              <a:ext cx="2242801" cy="87510"/>
            </a:xfrm>
            <a:prstGeom prst="parallelogram">
              <a:avLst>
                <a:gd name="adj" fmla="val 155411"/>
              </a:avLst>
            </a:prstGeom>
            <a:solidFill>
              <a:srgbClr val="D91334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  <p:sp>
          <p:nvSpPr>
            <p:cNvPr id="138" name="평행 사변형 137">
              <a:extLst>
                <a:ext uri="{FF2B5EF4-FFF2-40B4-BE49-F238E27FC236}">
                  <a16:creationId xmlns:a16="http://schemas.microsoft.com/office/drawing/2014/main" id="{6613F77E-165E-E20A-A734-0C298E4BE219}"/>
                </a:ext>
              </a:extLst>
            </p:cNvPr>
            <p:cNvSpPr/>
            <p:nvPr/>
          </p:nvSpPr>
          <p:spPr>
            <a:xfrm>
              <a:off x="9510488" y="2197208"/>
              <a:ext cx="2756349" cy="87510"/>
            </a:xfrm>
            <a:prstGeom prst="parallelogram">
              <a:avLst>
                <a:gd name="adj" fmla="val 167466"/>
              </a:avLst>
            </a:prstGeom>
            <a:solidFill>
              <a:srgbClr val="8E0C22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9DD77DD6-40E8-20CC-F9FD-6D5ED83C5D3B}"/>
                </a:ext>
              </a:extLst>
            </p:cNvPr>
            <p:cNvSpPr/>
            <p:nvPr/>
          </p:nvSpPr>
          <p:spPr>
            <a:xfrm>
              <a:off x="13370703" y="2198032"/>
              <a:ext cx="1299870" cy="86683"/>
            </a:xfrm>
            <a:prstGeom prst="rect">
              <a:avLst/>
            </a:prstGeom>
            <a:solidFill>
              <a:srgbClr val="8E0C2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5142915C-D550-3561-B2D1-54A36067BC9D}"/>
              </a:ext>
            </a:extLst>
          </p:cNvPr>
          <p:cNvGrpSpPr/>
          <p:nvPr/>
        </p:nvGrpSpPr>
        <p:grpSpPr>
          <a:xfrm>
            <a:off x="1417143" y="1933468"/>
            <a:ext cx="2604209" cy="378982"/>
            <a:chOff x="4968819" y="1435001"/>
            <a:chExt cx="3375081" cy="422373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885B303B-B576-6BD6-3606-E68D074096F1}"/>
                </a:ext>
              </a:extLst>
            </p:cNvPr>
            <p:cNvGrpSpPr/>
            <p:nvPr/>
          </p:nvGrpSpPr>
          <p:grpSpPr>
            <a:xfrm>
              <a:off x="7312595" y="1435001"/>
              <a:ext cx="886051" cy="28800"/>
              <a:chOff x="7300689" y="1420713"/>
              <a:chExt cx="886051" cy="28800"/>
            </a:xfrm>
          </p:grpSpPr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2F3FF8C8-AE7B-9866-30C4-C7DF647AC61A}"/>
                  </a:ext>
                </a:extLst>
              </p:cNvPr>
              <p:cNvSpPr/>
              <p:nvPr/>
            </p:nvSpPr>
            <p:spPr>
              <a:xfrm>
                <a:off x="7300689" y="1420713"/>
                <a:ext cx="28800" cy="28800"/>
              </a:xfrm>
              <a:prstGeom prst="ellipse">
                <a:avLst/>
              </a:prstGeom>
              <a:solidFill>
                <a:srgbClr val="09244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6F0A49AF-D3D3-DF3A-A121-738FFE5DEF70}"/>
                  </a:ext>
                </a:extLst>
              </p:cNvPr>
              <p:cNvSpPr/>
              <p:nvPr/>
            </p:nvSpPr>
            <p:spPr>
              <a:xfrm>
                <a:off x="7586439" y="1420713"/>
                <a:ext cx="28800" cy="28800"/>
              </a:xfrm>
              <a:prstGeom prst="ellipse">
                <a:avLst/>
              </a:prstGeom>
              <a:solidFill>
                <a:srgbClr val="09244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899711A6-5B85-A2BE-30C9-F8E0096C25A8}"/>
                  </a:ext>
                </a:extLst>
              </p:cNvPr>
              <p:cNvSpPr/>
              <p:nvPr/>
            </p:nvSpPr>
            <p:spPr>
              <a:xfrm>
                <a:off x="7872189" y="1420713"/>
                <a:ext cx="28800" cy="28800"/>
              </a:xfrm>
              <a:prstGeom prst="ellipse">
                <a:avLst/>
              </a:prstGeom>
              <a:solidFill>
                <a:srgbClr val="D913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DBEC523A-A59A-FDDC-F1FB-51A06DB7655E}"/>
                  </a:ext>
                </a:extLst>
              </p:cNvPr>
              <p:cNvSpPr/>
              <p:nvPr/>
            </p:nvSpPr>
            <p:spPr>
              <a:xfrm>
                <a:off x="8157940" y="1420713"/>
                <a:ext cx="28800" cy="28800"/>
              </a:xfrm>
              <a:prstGeom prst="ellipse">
                <a:avLst/>
              </a:prstGeom>
              <a:solidFill>
                <a:srgbClr val="D913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endParaRPr>
              </a:p>
            </p:txBody>
          </p:sp>
        </p:grp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52B08101-0C4A-3FC0-F7C6-0DD2C29A55AC}"/>
                </a:ext>
              </a:extLst>
            </p:cNvPr>
            <p:cNvSpPr/>
            <p:nvPr/>
          </p:nvSpPr>
          <p:spPr>
            <a:xfrm rot="10800000" flipV="1">
              <a:off x="4968819" y="1588323"/>
              <a:ext cx="3375081" cy="269051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r" defTabSz="914127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400" b="1" kern="1200" dirty="0">
                  <a:ln>
                    <a:solidFill>
                      <a:srgbClr val="2483B3">
                        <a:alpha val="0"/>
                      </a:srgbClr>
                    </a:solidFill>
                  </a:ln>
                  <a:gradFill>
                    <a:gsLst>
                      <a:gs pos="50000">
                        <a:srgbClr val="D91334"/>
                      </a:gs>
                      <a:gs pos="49000">
                        <a:srgbClr val="09244E"/>
                      </a:gs>
                    </a:gsLst>
                    <a:lin ang="2700000" scaled="0"/>
                  </a:gradFill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AI </a:t>
              </a:r>
              <a:r>
                <a:rPr kumimoji="1" lang="ko-KR" altLang="en-US" sz="2400" b="1" dirty="0">
                  <a:ln>
                    <a:solidFill>
                      <a:srgbClr val="2483B3">
                        <a:alpha val="0"/>
                      </a:srgbClr>
                    </a:solidFill>
                  </a:ln>
                  <a:gradFill>
                    <a:gsLst>
                      <a:gs pos="50000">
                        <a:srgbClr val="D91334"/>
                      </a:gs>
                      <a:gs pos="49000">
                        <a:srgbClr val="09244E"/>
                      </a:gs>
                    </a:gsLst>
                    <a:lin ang="2700000" scaled="0"/>
                  </a:gradFill>
                  <a:latin typeface="NanumGothic" panose="020D0604000000000000" pitchFamily="34" charset="-127"/>
                  <a:ea typeface="NanumGothic" panose="020D0604000000000000" pitchFamily="34" charset="-127"/>
                </a:rPr>
                <a:t>모델 운영 사례</a:t>
              </a:r>
              <a:endParaRPr kumimoji="1" lang="ko-KR" altLang="en-US" sz="2400" b="1" i="0" u="none" strike="noStrike" kern="1200" cap="none" spc="0" normalizeH="0" baseline="0" noProof="0" dirty="0">
                <a:ln>
                  <a:solidFill>
                    <a:srgbClr val="2483B3">
                      <a:alpha val="0"/>
                    </a:srgbClr>
                  </a:solidFill>
                </a:ln>
                <a:gradFill>
                  <a:gsLst>
                    <a:gs pos="50000">
                      <a:srgbClr val="D91334"/>
                    </a:gs>
                    <a:gs pos="49000">
                      <a:srgbClr val="09244E"/>
                    </a:gs>
                  </a:gsLst>
                  <a:lin ang="2700000" scaled="0"/>
                </a:gra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2092461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4740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데이타솔루션 강의교재 템플릿">
  <a:themeElements>
    <a:clrScheme name="20181213 정부설명회">
      <a:dk1>
        <a:sysClr val="windowText" lastClr="000000"/>
      </a:dk1>
      <a:lt1>
        <a:sysClr val="window" lastClr="FFFFFF"/>
      </a:lt1>
      <a:dk2>
        <a:srgbClr val="4897C9"/>
      </a:dk2>
      <a:lt2>
        <a:srgbClr val="184478"/>
      </a:lt2>
      <a:accent1>
        <a:srgbClr val="FAE87E"/>
      </a:accent1>
      <a:accent2>
        <a:srgbClr val="0E69AA"/>
      </a:accent2>
      <a:accent3>
        <a:srgbClr val="7F7F7F"/>
      </a:accent3>
      <a:accent4>
        <a:srgbClr val="5F83BD"/>
      </a:accent4>
      <a:accent5>
        <a:srgbClr val="EF413D"/>
      </a:accent5>
      <a:accent6>
        <a:srgbClr val="28985B"/>
      </a:accent6>
      <a:hlink>
        <a:srgbClr val="0000FF"/>
      </a:hlink>
      <a:folHlink>
        <a:srgbClr val="800080"/>
      </a:folHlink>
    </a:clrScheme>
    <a:fontScheme name="발표장표">
      <a:majorFont>
        <a:latin typeface="Rix고딕 EB"/>
        <a:ea typeface="Rix고딕 EB"/>
        <a:cs typeface=""/>
      </a:majorFont>
      <a:minorFont>
        <a:latin typeface="Rix고딕 B"/>
        <a:ea typeface="Rix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ee6bc1-0cc9-4e46-8ad1-06966e0af576" xsi:nil="true"/>
    <lcf76f155ced4ddcb4097134ff3c332f xmlns="382c30e0-7576-4e95-a177-a5c3bb3c843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66AEC0CE2B0649A4DC52DFA1A6E776" ma:contentTypeVersion="14" ma:contentTypeDescription="새 문서를 만듭니다." ma:contentTypeScope="" ma:versionID="d5fadfcdb36d6a12fa0ac89bc39230ff">
  <xsd:schema xmlns:xsd="http://www.w3.org/2001/XMLSchema" xmlns:xs="http://www.w3.org/2001/XMLSchema" xmlns:p="http://schemas.microsoft.com/office/2006/metadata/properties" xmlns:ns2="382c30e0-7576-4e95-a177-a5c3bb3c843c" xmlns:ns3="93ee6bc1-0cc9-4e46-8ad1-06966e0af576" targetNamespace="http://schemas.microsoft.com/office/2006/metadata/properties" ma:root="true" ma:fieldsID="b8de1353a943f69c8e297ce92e8a3196" ns2:_="" ns3:_="">
    <xsd:import namespace="382c30e0-7576-4e95-a177-a5c3bb3c843c"/>
    <xsd:import namespace="93ee6bc1-0cc9-4e46-8ad1-06966e0af5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c30e0-7576-4e95-a177-a5c3bb3c8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90dc74e-6eb3-46f1-ade9-58df10c7b2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e6bc1-0cc9-4e46-8ad1-06966e0af5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04ae34-c886-4f54-b29a-e1595417945d}" ma:internalName="TaxCatchAll" ma:showField="CatchAllData" ma:web="93ee6bc1-0cc9-4e46-8ad1-06966e0af5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4C5C12-22C2-4156-8DBF-9416C0AACF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AE5983-843E-423C-B9A2-6399C5543A5A}">
  <ds:schemaRefs>
    <ds:schemaRef ds:uri="http://schemas.microsoft.com/office/2006/metadata/properties"/>
    <ds:schemaRef ds:uri="http://schemas.microsoft.com/office/infopath/2007/PartnerControls"/>
    <ds:schemaRef ds:uri="93ee6bc1-0cc9-4e46-8ad1-06966e0af576"/>
    <ds:schemaRef ds:uri="382c30e0-7576-4e95-a177-a5c3bb3c843c"/>
  </ds:schemaRefs>
</ds:datastoreItem>
</file>

<file path=customXml/itemProps3.xml><?xml version="1.0" encoding="utf-8"?>
<ds:datastoreItem xmlns:ds="http://schemas.openxmlformats.org/officeDocument/2006/customXml" ds:itemID="{640F7F35-3864-432A-98A4-C32663DA27F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14355</TotalTime>
  <Words>2042</Words>
  <Application>Microsoft Office PowerPoint</Application>
  <PresentationFormat>A4 용지(210x297mm)</PresentationFormat>
  <Paragraphs>328</Paragraphs>
  <Slides>29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2" baseType="lpstr">
      <vt:lpstr>Rix고딕 B</vt:lpstr>
      <vt:lpstr>Arial</vt:lpstr>
      <vt:lpstr>Rix고딕 M</vt:lpstr>
      <vt:lpstr>Rix고딕 L</vt:lpstr>
      <vt:lpstr>Rix고딕 EB</vt:lpstr>
      <vt:lpstr>Noto Sans KR</vt:lpstr>
      <vt:lpstr>HY울릉도M</vt:lpstr>
      <vt:lpstr>NanumGothic</vt:lpstr>
      <vt:lpstr>Calibri</vt:lpstr>
      <vt:lpstr>IBM Plex Sans KR</vt:lpstr>
      <vt:lpstr>G마켓 산스 TTF Bold</vt:lpstr>
      <vt:lpstr>HY울릉도B</vt:lpstr>
      <vt:lpstr>데이타솔루션 강의교재 템플릿</vt:lpstr>
      <vt:lpstr>PowerPoint 프레젠테이션</vt:lpstr>
      <vt:lpstr>PowerPoint 프레젠테이션</vt:lpstr>
      <vt:lpstr>PowerPoint 프레젠테이션</vt:lpstr>
      <vt:lpstr>IT 기술 발전과 위대한 변곡점</vt:lpstr>
      <vt:lpstr>디지털 비즈니스 트렌드 전망</vt:lpstr>
      <vt:lpstr>향후 3년간 AI 도입과 영향력 전망</vt:lpstr>
      <vt:lpstr>Chat GPT의 출현</vt:lpstr>
      <vt:lpstr>LLM은 어떻게 만들어진 모델인가?</vt:lpstr>
      <vt:lpstr>생성형 AI(Generative AI)는 어떻게 작동하는가?</vt:lpstr>
      <vt:lpstr>생성형 AI를 그대로 사용하는가?</vt:lpstr>
      <vt:lpstr>생성형 AI를 도입하는 3가지 방법</vt:lpstr>
      <vt:lpstr>AI Agent</vt:lpstr>
      <vt:lpstr>생성형 AI 활용 누구나 가능하도록</vt:lpstr>
      <vt:lpstr>윤리적 AI 프레임워크 표준화</vt:lpstr>
      <vt:lpstr>AI 거버넌스 구축</vt:lpstr>
      <vt:lpstr>PowerPoint 프레젠테이션</vt:lpstr>
      <vt:lpstr>현재 활용되는 가장 일반적인 생성형 AI 기능</vt:lpstr>
      <vt:lpstr>VOC 분석의 진화: 텍스트 마이닝에서 생성형 AI까지</vt:lpstr>
      <vt:lpstr>VOC 분석의 진화: 텍스트 마이닝에서 생성형 AI까지</vt:lpstr>
      <vt:lpstr>고객 분석의 진화: 텍스트 마이닝에서 생성형 AI까지</vt:lpstr>
      <vt:lpstr>고객 분석의 진화: 텍스트 마이닝에서 생성형 AI까지</vt:lpstr>
      <vt:lpstr>생성형 AI 상용화에 따른 비즈니스 혁신 사례</vt:lpstr>
      <vt:lpstr>K사 AI 브랜치: 고객 상담 자동화</vt:lpstr>
      <vt:lpstr>S사 Global ChatIQ</vt:lpstr>
      <vt:lpstr>S사: 40여 개 업무 자동화</vt:lpstr>
      <vt:lpstr>A사: 시스템 구성도 자동생성 Agentic AI</vt:lpstr>
      <vt:lpstr>기타 사례</vt:lpstr>
      <vt:lpstr>기타 사례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DS-17-D9-016</dc:creator>
  <cp:lastModifiedBy>정수임</cp:lastModifiedBy>
  <cp:revision>1004</cp:revision>
  <cp:lastPrinted>2019-01-30T07:32:52Z</cp:lastPrinted>
  <dcterms:created xsi:type="dcterms:W3CDTF">2013-11-05T14:26:13Z</dcterms:created>
  <dcterms:modified xsi:type="dcterms:W3CDTF">2026-06-18T08:00:33Z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0x0101001D66AEC0CE2B0649A4DC52DFA1A6E776</vt:lpwstr>
  </property>
  <property fmtid="{D5CDD505-2E9C-101B-9397-08002B2CF9AE}" pid="3" name="MediaServiceImageTags">
    <vt:lpwstr/>
  </property>
</Properties>
</file>